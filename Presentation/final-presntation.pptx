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897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0897b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4db6ac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ffb300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94.57</c:v>
                </c:pt>
                <c:pt idx="1">
                  <c:v>96.12</c:v>
                </c:pt>
                <c:pt idx="2">
                  <c:v>92.89</c:v>
                </c:pt>
              </c:numCache>
            </c:numRef>
          </c:val>
        </c:ser>
        <c:gapWidth val="150"/>
        <c:overlap val="0"/>
        <c:axId val="51899689"/>
        <c:axId val="52940494"/>
      </c:barChart>
      <c:catAx>
        <c:axId val="5189968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90a4ae"/>
                </a:solidFill>
                <a:latin typeface="Arial"/>
              </a:defRPr>
            </a:pPr>
          </a:p>
        </c:txPr>
        <c:crossAx val="52940494"/>
        <c:crosses val="autoZero"/>
        <c:auto val="1"/>
        <c:lblAlgn val="ctr"/>
        <c:lblOffset val="100"/>
        <c:noMultiLvlLbl val="0"/>
      </c:catAx>
      <c:valAx>
        <c:axId val="52940494"/>
        <c:scaling>
          <c:orientation val="minMax"/>
          <c:max val="100"/>
        </c:scaling>
        <c:delete val="0"/>
        <c:axPos val="l"/>
        <c:majorGridlines>
          <c:spPr>
            <a:ln w="6480">
              <a:solidFill>
                <a:srgbClr val="1e3a5f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90a4ae"/>
                </a:solidFill>
                <a:latin typeface="Arial"/>
              </a:defRPr>
            </a:pPr>
          </a:p>
        </c:txPr>
        <c:crossAx val="5189968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12a45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17C590C-5403-44BD-8466-23F23CC3AD5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6AF0E8-A127-443A-AD0B-D5FCDEF784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6797F3-4C2B-43E7-A0A7-0042BC57AE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93E4F1-A320-4EDE-827E-43763E22E8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838C49-AB4A-4925-AD31-80EB5DCDB3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F102DE-FC93-42B3-8E20-B736C58362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69FF87-B9D3-490C-91C9-60BE3101A0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C49D4-131F-4115-9D20-3B1BD23E79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CA4B54-8113-48BD-AF18-EE94CEB9AF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4.png"/><Relationship Id="rId8" Type="http://schemas.openxmlformats.org/officeDocument/2006/relationships/image" Target="../media/image14.png"/><Relationship Id="rId9" Type="http://schemas.openxmlformats.org/officeDocument/2006/relationships/image" Target="../media/image14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Relationship Id="rId9" Type="http://schemas.openxmlformats.org/officeDocument/2006/relationships/image" Target="../media/image14.png"/><Relationship Id="rId10" Type="http://schemas.openxmlformats.org/officeDocument/2006/relationships/image" Target="../media/image14.png"/><Relationship Id="rId11" Type="http://schemas.openxmlformats.org/officeDocument/2006/relationships/image" Target="../media/image14.png"/><Relationship Id="rId12" Type="http://schemas.openxmlformats.org/officeDocument/2006/relationships/image" Target="../media/image14.png"/><Relationship Id="rId13" Type="http://schemas.openxmlformats.org/officeDocument/2006/relationships/image" Target="../media/image16.png"/><Relationship Id="rId14" Type="http://schemas.openxmlformats.org/officeDocument/2006/relationships/image" Target="../media/image14.png"/><Relationship Id="rId15" Type="http://schemas.openxmlformats.org/officeDocument/2006/relationships/image" Target="../media/image14.png"/><Relationship Id="rId16" Type="http://schemas.openxmlformats.org/officeDocument/2006/relationships/image" Target="../media/image14.png"/><Relationship Id="rId17" Type="http://schemas.openxmlformats.org/officeDocument/2006/relationships/image" Target="../media/image14.png"/><Relationship Id="rId18" Type="http://schemas.openxmlformats.org/officeDocument/2006/relationships/image" Target="../media/image14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image" Target="../media/image14.png"/><Relationship Id="rId8" Type="http://schemas.openxmlformats.org/officeDocument/2006/relationships/image" Target="../media/image14.png"/><Relationship Id="rId9" Type="http://schemas.openxmlformats.org/officeDocument/2006/relationships/image" Target="../media/image14.png"/><Relationship Id="rId10" Type="http://schemas.openxmlformats.org/officeDocument/2006/relationships/image" Target="../media/image14.png"/><Relationship Id="rId11" Type="http://schemas.openxmlformats.org/officeDocument/2006/relationships/image" Target="../media/image14.png"/><Relationship Id="rId12" Type="http://schemas.openxmlformats.org/officeDocument/2006/relationships/image" Target="../media/image14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132320" y="-1097280"/>
            <a:ext cx="3474360" cy="3474360"/>
          </a:xfrm>
          <a:prstGeom prst="ellipse">
            <a:avLst/>
          </a:prstGeom>
          <a:solidFill>
            <a:srgbClr val="00897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680960" y="-548640"/>
            <a:ext cx="2377080" cy="2377080"/>
          </a:xfrm>
          <a:prstGeom prst="ellipse">
            <a:avLst/>
          </a:prstGeom>
          <a:solidFill>
            <a:srgbClr val="00897b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0089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20040" y="54864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98" strike="noStrike">
                <a:solidFill>
                  <a:srgbClr val="4db6ac"/>
                </a:solidFill>
                <a:latin typeface="Calibri"/>
              </a:rPr>
              <a:t>MEDICAL AI · DIGITAL HEALTH · ALGERIA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20040" y="1005840"/>
            <a:ext cx="8412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Georgia"/>
                <a:ea typeface="Georgia"/>
              </a:rPr>
              <a:t>Animiea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20040" y="22402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4db6ac"/>
                </a:solidFill>
                <a:latin typeface="Calibri"/>
                <a:ea typeface="Calibri"/>
              </a:rPr>
              <a:t>End-to-End AI Solution for Non-Invasive Anemia Detection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20040" y="2971800"/>
            <a:ext cx="1645560" cy="4536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20040" y="32004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0a4ae"/>
                </a:solidFill>
                <a:latin typeface="Calibri"/>
              </a:rPr>
              <a:t>Dr. Abderrahmane Khiat  ·  Animiea Startup  ·  2025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7589520" y="2011680"/>
            <a:ext cx="1188360" cy="118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THE PROBLEM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320040" y="1143000"/>
            <a:ext cx="265140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320040" y="1143000"/>
            <a:ext cx="2651400" cy="16416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1371600" y="14173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411480" y="20574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a2342"/>
                </a:solidFill>
                <a:latin typeface="Georgia"/>
                <a:ea typeface="Georgia"/>
              </a:rPr>
              <a:t>1.6B+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411480" y="26060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People affected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by anemia worldwide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3246120" y="1143000"/>
            <a:ext cx="265140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3246120" y="1143000"/>
            <a:ext cx="2651400" cy="16416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Image 1" descr="preencoded.png"/>
          <p:cNvPicPr/>
          <p:nvPr/>
        </p:nvPicPr>
        <p:blipFill>
          <a:blip r:embed="rId2"/>
          <a:stretch/>
        </p:blipFill>
        <p:spPr>
          <a:xfrm>
            <a:off x="4297680" y="14173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1" name="Text 9"/>
          <p:cNvSpPr/>
          <p:nvPr/>
        </p:nvSpPr>
        <p:spPr>
          <a:xfrm>
            <a:off x="3337560" y="20574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a2342"/>
                </a:solidFill>
                <a:latin typeface="Georgia"/>
                <a:ea typeface="Georgia"/>
              </a:rPr>
              <a:t>Costly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3337560" y="26060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Invasive blood tests: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expensive &amp; unscalable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6172200" y="1143000"/>
            <a:ext cx="265140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172200" y="1143000"/>
            <a:ext cx="2651400" cy="16416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Image 2" descr="preencoded.png"/>
          <p:cNvPicPr/>
          <p:nvPr/>
        </p:nvPicPr>
        <p:blipFill>
          <a:blip r:embed="rId3"/>
          <a:stretch/>
        </p:blipFill>
        <p:spPr>
          <a:xfrm>
            <a:off x="7223760" y="14173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6263640" y="20574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a2342"/>
                </a:solidFill>
                <a:latin typeface="Georgia"/>
                <a:ea typeface="Georgia"/>
              </a:rPr>
              <a:t>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6263640" y="26060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Continuous monitoring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solutions for mothers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320040" y="397764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897b"/>
                </a:solidFill>
                <a:latin typeface="Calibri"/>
              </a:rPr>
              <a:t>🇩🇿  </a:t>
            </a:r>
            <a:r>
              <a:rPr b="0" i="1" lang="en-US" sz="1100" spc="-1" strike="noStrike">
                <a:solidFill>
                  <a:srgbClr val="00897b"/>
                </a:solidFill>
                <a:latin typeface="Calibri"/>
              </a:rPr>
              <a:t>In Algeria, thousands of severe maternal anemia cases require annual clinical intervention (WHO / Statista, 2021)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32004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OUR INNOVATION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320040" y="914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db6ac"/>
                </a:solidFill>
                <a:latin typeface="Calibri"/>
              </a:rPr>
              <a:t>AI-powered • Non-invasive • Personalized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255960" y="1417320"/>
            <a:ext cx="1919880" cy="310860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255960" y="1417320"/>
            <a:ext cx="1919880" cy="1094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329040" y="15544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00"/>
                </a:solidFill>
                <a:latin typeface="Georgia"/>
                <a:ea typeface="Georgia"/>
              </a:rPr>
              <a:t>01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329040" y="21031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Capture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329040" y="256032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Smartphone camera photographs the palpebral conjunctiva (inner lower eyelid).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2194560" y="2926080"/>
            <a:ext cx="219240" cy="727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2432160" y="1417320"/>
            <a:ext cx="1919880" cy="310860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2432160" y="1417320"/>
            <a:ext cx="1919880" cy="1094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2505600" y="15544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00"/>
                </a:solidFill>
                <a:latin typeface="Georgia"/>
                <a:ea typeface="Georgia"/>
              </a:rPr>
              <a:t>02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2505600" y="21031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Segment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2505600" y="256032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U-Net AI model isolates the Region of Interest (ROI) with precision.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4370760" y="2926080"/>
            <a:ext cx="219240" cy="727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4608720" y="1417320"/>
            <a:ext cx="1919880" cy="310860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4608720" y="1417320"/>
            <a:ext cx="1919880" cy="1094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4681800" y="15544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00"/>
                </a:solidFill>
                <a:latin typeface="Georgia"/>
                <a:ea typeface="Georgia"/>
              </a:rPr>
              <a:t>03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4681800" y="21031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Classify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4681800" y="256032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MobileNet / ResNet / DenseNet evaluates pallor severity &amp; hemoglobin levels.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6546960" y="2926080"/>
            <a:ext cx="219240" cy="727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6784920" y="1417320"/>
            <a:ext cx="1919880" cy="310860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6784920" y="1417320"/>
            <a:ext cx="1919880" cy="1094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6858000" y="155448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b300"/>
                </a:solidFill>
                <a:latin typeface="Georgia"/>
                <a:ea typeface="Georgia"/>
              </a:rPr>
              <a:t>04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6858000" y="21031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Recommend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6858000" y="256032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Personalized medical advice &amp; continuous tracking delivered instantly.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57200" y="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CLINICAL &amp; TECHNICAL BASIS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320040" y="1097280"/>
            <a:ext cx="402300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320040" y="1097280"/>
            <a:ext cx="4023000" cy="16416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0" descr="preencoded.png"/>
          <p:cNvPicPr/>
          <p:nvPr/>
        </p:nvPicPr>
        <p:blipFill>
          <a:blip r:embed="rId1"/>
          <a:stretch/>
        </p:blipFill>
        <p:spPr>
          <a:xfrm>
            <a:off x="502920" y="13716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1005840" y="13532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a2342"/>
                </a:solidFill>
                <a:latin typeface="Georgia"/>
                <a:ea typeface="Georgia"/>
              </a:rPr>
              <a:t>Clinical Hypothesis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502920" y="1920240"/>
            <a:ext cx="3657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Conjunctival pallor — the paleness of the inner lower eyelid — is a well-established optical biomarker correlated with hemoglobin deficiency.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55a64"/>
                </a:solidFill>
                <a:latin typeface="Calibri"/>
              </a:rPr>
              <a:t>By imaging this region with a standard smartphone camera, our AI can non-invasively estimate anemia severity without drawing blood.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4663440" y="1097280"/>
            <a:ext cx="416016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4663440" y="1097280"/>
            <a:ext cx="4160160" cy="16416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Image 1" descr="preencoded.png"/>
          <p:cNvPicPr/>
          <p:nvPr/>
        </p:nvPicPr>
        <p:blipFill>
          <a:blip r:embed="rId2"/>
          <a:stretch/>
        </p:blipFill>
        <p:spPr>
          <a:xfrm>
            <a:off x="4846320" y="13716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76" name="Text 9"/>
          <p:cNvSpPr/>
          <p:nvPr/>
        </p:nvSpPr>
        <p:spPr>
          <a:xfrm>
            <a:off x="5349240" y="135324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897b"/>
                </a:solidFill>
                <a:latin typeface="Georgia"/>
                <a:ea typeface="Georgia"/>
              </a:rPr>
              <a:t>Deep Learning Stack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4846320" y="1920240"/>
            <a:ext cx="255600" cy="25560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5212080" y="192024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U-Net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6537960" y="192024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Precise conjunctiva segmentation (ROI)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4846320" y="2578680"/>
            <a:ext cx="255600" cy="25560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5212080" y="25786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ResNet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6537960" y="25786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Deep residual classification of pallor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6"/>
          <p:cNvSpPr/>
          <p:nvPr/>
        </p:nvSpPr>
        <p:spPr>
          <a:xfrm>
            <a:off x="4846320" y="3237120"/>
            <a:ext cx="255600" cy="25560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5212080" y="323712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DenseNet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6537960" y="32371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Densely connected pallor severity scoring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9"/>
          <p:cNvSpPr/>
          <p:nvPr/>
        </p:nvSpPr>
        <p:spPr>
          <a:xfrm>
            <a:off x="4846320" y="3895200"/>
            <a:ext cx="255600" cy="25560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5212080" y="389520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MobileNet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6537960" y="38952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Lightweight inference on low-end phones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2"/>
          <p:cNvSpPr/>
          <p:nvPr/>
        </p:nvSpPr>
        <p:spPr>
          <a:xfrm>
            <a:off x="4846320" y="45262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897b"/>
                </a:solidFill>
                <a:latin typeface="Calibri"/>
              </a:rPr>
              <a:t>Trained on diverse cohorts from India &amp; Italy — demographic-bias-free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320040" y="2743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RESULTS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320040" y="868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db6ac"/>
                </a:solidFill>
                <a:latin typeface="Calibri"/>
              </a:rPr>
              <a:t>Classification networks achieved diagnostic parity with clinical trials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255960" y="1371600"/>
            <a:ext cx="1938240" cy="18284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255960" y="1371600"/>
            <a:ext cx="1938240" cy="10944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301680" y="155448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b300"/>
                </a:solidFill>
                <a:latin typeface="Georgia"/>
                <a:ea typeface="Georgia"/>
              </a:rPr>
              <a:t>94.57%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301680" y="24231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0a4ae"/>
                </a:solidFill>
                <a:latin typeface="Calibri"/>
              </a:rPr>
              <a:t>Accuracy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7"/>
          <p:cNvSpPr/>
          <p:nvPr/>
        </p:nvSpPr>
        <p:spPr>
          <a:xfrm>
            <a:off x="2432160" y="1371600"/>
            <a:ext cx="1938240" cy="18284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>
            <a:off x="2432160" y="1371600"/>
            <a:ext cx="1938240" cy="10944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2477880" y="155448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b300"/>
                </a:solidFill>
                <a:latin typeface="Georgia"/>
                <a:ea typeface="Georgia"/>
              </a:rPr>
              <a:t>96.12%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2477880" y="24231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0a4ae"/>
                </a:solidFill>
                <a:latin typeface="Calibri"/>
              </a:rPr>
              <a:t>Precision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4608720" y="1371600"/>
            <a:ext cx="1938240" cy="18284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4608720" y="1371600"/>
            <a:ext cx="1938240" cy="10944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4654440" y="155448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b300"/>
                </a:solidFill>
                <a:latin typeface="Georgia"/>
                <a:ea typeface="Georgia"/>
              </a:rPr>
              <a:t>92.89%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4654440" y="24231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0a4ae"/>
                </a:solidFill>
                <a:latin typeface="Calibri"/>
              </a:rPr>
              <a:t>Recall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6784920" y="1371600"/>
            <a:ext cx="1938240" cy="18284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6784920" y="1371600"/>
            <a:ext cx="1938240" cy="10944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7"/>
          <p:cNvSpPr/>
          <p:nvPr/>
        </p:nvSpPr>
        <p:spPr>
          <a:xfrm>
            <a:off x="6830640" y="155448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b300"/>
                </a:solidFill>
                <a:latin typeface="Georgia"/>
                <a:ea typeface="Georgia"/>
              </a:rPr>
              <a:t>0.1162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6830640" y="24231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0a4ae"/>
                </a:solidFill>
                <a:latin typeface="Calibri"/>
              </a:rPr>
              <a:t>Loss Convergence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9" name="Chart 0"/>
          <p:cNvGraphicFramePr/>
          <p:nvPr/>
        </p:nvGraphicFramePr>
        <p:xfrm>
          <a:off x="320040" y="3337560"/>
          <a:ext cx="8503560" cy="1462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0" name="Text 19"/>
          <p:cNvSpPr/>
          <p:nvPr/>
        </p:nvSpPr>
        <p:spPr>
          <a:xfrm>
            <a:off x="32004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0a4ae"/>
                </a:solidFill>
                <a:latin typeface="Calibri"/>
              </a:rPr>
              <a:t>* U-Net segmentation: best validation loss 0.5709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57200" y="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WHY ANIMIEA IS BETTER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320040" y="1005840"/>
            <a:ext cx="3200040" cy="456840"/>
          </a:xfrm>
          <a:prstGeom prst="rect">
            <a:avLst/>
          </a:prstGeom>
          <a:solidFill>
            <a:srgbClr val="455a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320040" y="10058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Traditional Method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5"/>
          <p:cNvSpPr/>
          <p:nvPr/>
        </p:nvSpPr>
        <p:spPr>
          <a:xfrm>
            <a:off x="5623560" y="1005840"/>
            <a:ext cx="3200040" cy="4568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5623560" y="10058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Animiea AI System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7"/>
          <p:cNvSpPr/>
          <p:nvPr/>
        </p:nvSpPr>
        <p:spPr>
          <a:xfrm>
            <a:off x="320040" y="1600200"/>
            <a:ext cx="3200040" cy="658080"/>
          </a:xfrm>
          <a:prstGeom prst="rect">
            <a:avLst/>
          </a:prstGeom>
          <a:solidFill>
            <a:srgbClr val="ecef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411480" y="1600200"/>
            <a:ext cx="3017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Invasive – requires blood draw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9"/>
          <p:cNvSpPr/>
          <p:nvPr/>
        </p:nvSpPr>
        <p:spPr>
          <a:xfrm>
            <a:off x="4206240" y="1764720"/>
            <a:ext cx="712800" cy="328680"/>
          </a:xfrm>
          <a:prstGeom prst="ellipse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4206240" y="176472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5623560" y="1600200"/>
            <a:ext cx="3200040" cy="658080"/>
          </a:xfrm>
          <a:prstGeom prst="rect">
            <a:avLst/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5715000" y="17830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24" name="Text 12"/>
          <p:cNvSpPr/>
          <p:nvPr/>
        </p:nvSpPr>
        <p:spPr>
          <a:xfrm>
            <a:off x="6080760" y="1600200"/>
            <a:ext cx="2651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897b"/>
                </a:solidFill>
                <a:latin typeface="Calibri"/>
              </a:rPr>
              <a:t>Non-invasive optical scan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320040" y="2350080"/>
            <a:ext cx="3200040" cy="65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411480" y="2350080"/>
            <a:ext cx="3017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High cost + slow lab processing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4206240" y="2514600"/>
            <a:ext cx="712800" cy="328680"/>
          </a:xfrm>
          <a:prstGeom prst="ellipse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4206240" y="251460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5623560" y="2350080"/>
            <a:ext cx="3200040" cy="658080"/>
          </a:xfrm>
          <a:prstGeom prst="rect">
            <a:avLst/>
          </a:prstGeom>
          <a:solidFill>
            <a:srgbClr val="f1ff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Image 1" descr="preencoded.png"/>
          <p:cNvPicPr/>
          <p:nvPr/>
        </p:nvPicPr>
        <p:blipFill>
          <a:blip r:embed="rId2"/>
          <a:stretch/>
        </p:blipFill>
        <p:spPr>
          <a:xfrm>
            <a:off x="5715000" y="25329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31" name="Text 18"/>
          <p:cNvSpPr/>
          <p:nvPr/>
        </p:nvSpPr>
        <p:spPr>
          <a:xfrm>
            <a:off x="6080760" y="2350080"/>
            <a:ext cx="2651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897b"/>
                </a:solidFill>
                <a:latin typeface="Calibri"/>
              </a:rPr>
              <a:t>Low cost, instant results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9"/>
          <p:cNvSpPr/>
          <p:nvPr/>
        </p:nvSpPr>
        <p:spPr>
          <a:xfrm>
            <a:off x="320040" y="3099960"/>
            <a:ext cx="3200040" cy="658080"/>
          </a:xfrm>
          <a:prstGeom prst="rect">
            <a:avLst/>
          </a:prstGeom>
          <a:solidFill>
            <a:srgbClr val="ecef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411480" y="3099960"/>
            <a:ext cx="3017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One-off episodic test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4206240" y="3264480"/>
            <a:ext cx="712800" cy="328680"/>
          </a:xfrm>
          <a:prstGeom prst="ellipse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4206240" y="326448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3"/>
          <p:cNvSpPr/>
          <p:nvPr/>
        </p:nvSpPr>
        <p:spPr>
          <a:xfrm>
            <a:off x="5623560" y="3099960"/>
            <a:ext cx="3200040" cy="658080"/>
          </a:xfrm>
          <a:prstGeom prst="rect">
            <a:avLst/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Image 2" descr="preencoded.png"/>
          <p:cNvPicPr/>
          <p:nvPr/>
        </p:nvPicPr>
        <p:blipFill>
          <a:blip r:embed="rId3"/>
          <a:stretch/>
        </p:blipFill>
        <p:spPr>
          <a:xfrm>
            <a:off x="5715000" y="32828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38" name="Text 24"/>
          <p:cNvSpPr/>
          <p:nvPr/>
        </p:nvSpPr>
        <p:spPr>
          <a:xfrm>
            <a:off x="6080760" y="3099960"/>
            <a:ext cx="2651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897b"/>
                </a:solidFill>
                <a:latin typeface="Calibri"/>
              </a:rPr>
              <a:t>Continuous patient monitoring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5"/>
          <p:cNvSpPr/>
          <p:nvPr/>
        </p:nvSpPr>
        <p:spPr>
          <a:xfrm>
            <a:off x="320040" y="3849480"/>
            <a:ext cx="3200040" cy="65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6"/>
          <p:cNvSpPr/>
          <p:nvPr/>
        </p:nvSpPr>
        <p:spPr>
          <a:xfrm>
            <a:off x="411480" y="3849480"/>
            <a:ext cx="3017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Unscalable in remote areas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7"/>
          <p:cNvSpPr/>
          <p:nvPr/>
        </p:nvSpPr>
        <p:spPr>
          <a:xfrm>
            <a:off x="4206240" y="4014360"/>
            <a:ext cx="712800" cy="328680"/>
          </a:xfrm>
          <a:prstGeom prst="ellipse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8"/>
          <p:cNvSpPr/>
          <p:nvPr/>
        </p:nvSpPr>
        <p:spPr>
          <a:xfrm>
            <a:off x="4206240" y="401436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9"/>
          <p:cNvSpPr/>
          <p:nvPr/>
        </p:nvSpPr>
        <p:spPr>
          <a:xfrm>
            <a:off x="5623560" y="3849480"/>
            <a:ext cx="3200040" cy="658080"/>
          </a:xfrm>
          <a:prstGeom prst="rect">
            <a:avLst/>
          </a:prstGeom>
          <a:solidFill>
            <a:srgbClr val="f1ff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3" descr="preencoded.png"/>
          <p:cNvPicPr/>
          <p:nvPr/>
        </p:nvPicPr>
        <p:blipFill>
          <a:blip r:embed="rId4"/>
          <a:stretch/>
        </p:blipFill>
        <p:spPr>
          <a:xfrm>
            <a:off x="5715000" y="40323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45" name="Text 30"/>
          <p:cNvSpPr/>
          <p:nvPr/>
        </p:nvSpPr>
        <p:spPr>
          <a:xfrm>
            <a:off x="6080760" y="3849480"/>
            <a:ext cx="2651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897b"/>
                </a:solidFill>
                <a:latin typeface="Calibri"/>
              </a:rPr>
              <a:t>Highly scalable software solution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320040" y="2743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SCALABILITY PLAN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274320" y="1371600"/>
            <a:ext cx="456840" cy="456840"/>
          </a:xfrm>
          <a:prstGeom prst="ellipse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457200" y="1828800"/>
            <a:ext cx="72720" cy="868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914400" y="1097280"/>
            <a:ext cx="7909200" cy="11426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914400" y="1097280"/>
            <a:ext cx="109440" cy="114264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097280" y="11430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00897b"/>
                </a:solidFill>
                <a:latin typeface="Calibri"/>
              </a:rPr>
              <a:t>Phase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1097280" y="144468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Hospital Pilot – Algeria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1097280" y="180144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Pilot deployment in Algerian maternity &amp; hematology departments. Clinical integration and real-world validation.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274320" y="2670120"/>
            <a:ext cx="456840" cy="456840"/>
          </a:xfrm>
          <a:prstGeom prst="ellipse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457200" y="3127320"/>
            <a:ext cx="72720" cy="868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914400" y="2395800"/>
            <a:ext cx="7909200" cy="11426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914400" y="2395800"/>
            <a:ext cx="109440" cy="114264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1097280" y="244152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ffb300"/>
                </a:solidFill>
                <a:latin typeface="Calibri"/>
              </a:rPr>
              <a:t>Phase 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1097280" y="274320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Cross-Device Testing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1097280" y="309996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Flutter App tested on varying low-end smartphones. MobileNet ensures low-latency inference across all devices.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16"/>
          <p:cNvSpPr/>
          <p:nvPr/>
        </p:nvSpPr>
        <p:spPr>
          <a:xfrm>
            <a:off x="274320" y="3968640"/>
            <a:ext cx="456840" cy="456840"/>
          </a:xfrm>
          <a:prstGeom prst="ellipse">
            <a:avLst/>
          </a:prstGeom>
          <a:solidFill>
            <a:srgbClr val="ef5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7"/>
          <p:cNvSpPr/>
          <p:nvPr/>
        </p:nvSpPr>
        <p:spPr>
          <a:xfrm>
            <a:off x="914400" y="3694320"/>
            <a:ext cx="7909200" cy="1142640"/>
          </a:xfrm>
          <a:prstGeom prst="rect">
            <a:avLst/>
          </a:prstGeom>
          <a:solidFill>
            <a:srgbClr val="112a45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18"/>
          <p:cNvSpPr/>
          <p:nvPr/>
        </p:nvSpPr>
        <p:spPr>
          <a:xfrm>
            <a:off x="914400" y="3694320"/>
            <a:ext cx="109440" cy="1142640"/>
          </a:xfrm>
          <a:prstGeom prst="rect">
            <a:avLst/>
          </a:prstGeom>
          <a:solidFill>
            <a:srgbClr val="ef5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1097280" y="374004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ef5350"/>
                </a:solidFill>
                <a:latin typeface="Calibri"/>
              </a:rPr>
              <a:t>Phase 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0"/>
          <p:cNvSpPr/>
          <p:nvPr/>
        </p:nvSpPr>
        <p:spPr>
          <a:xfrm>
            <a:off x="1097280" y="404172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Regional Expansion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1097280" y="439812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0a4ae"/>
                </a:solidFill>
                <a:latin typeface="Calibri"/>
              </a:rPr>
              <a:t>Expanding to underserved regions across MENA &amp; Sub-Saharan Africa using our demographic-bias-free model.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5303160" cy="514332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0"/>
            <a:ext cx="5303160" cy="109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502920" y="731520"/>
            <a:ext cx="4297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AnemiaLens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502920" y="160020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2c39a"/>
                </a:solidFill>
                <a:latin typeface="Calibri"/>
                <a:ea typeface="Calibri"/>
              </a:rPr>
              <a:t>Non-Invasive Anemia Detection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502920" y="201168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0c4d8"/>
                </a:solidFill>
                <a:latin typeface="Calibri"/>
                <a:ea typeface="Calibri"/>
              </a:rPr>
              <a:t>Powered by Artificial Intelligence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502920" y="2606040"/>
            <a:ext cx="1645560" cy="40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502920" y="27889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bbad0"/>
                </a:solidFill>
                <a:latin typeface="Calibri"/>
                <a:ea typeface="Calibri"/>
              </a:rPr>
              <a:t>Business Model &amp; Investment Deck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502920" y="31089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a90"/>
                </a:solidFill>
                <a:latin typeface="Calibri"/>
                <a:ea typeface="Calibri"/>
              </a:rPr>
              <a:t>Algeria ·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5577840" y="1188720"/>
            <a:ext cx="1554120" cy="114264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5577840" y="1188720"/>
            <a:ext cx="1554120" cy="63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5577840" y="12985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1.6B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5669280" y="184716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People with anemia globally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2"/>
          <p:cNvSpPr/>
          <p:nvPr/>
        </p:nvSpPr>
        <p:spPr>
          <a:xfrm>
            <a:off x="7269480" y="1188720"/>
            <a:ext cx="1554120" cy="114264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7269480" y="1188720"/>
            <a:ext cx="1554120" cy="63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7269480" y="12985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35%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7360920" y="184716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Children affected in Algeria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16"/>
          <p:cNvSpPr/>
          <p:nvPr/>
        </p:nvSpPr>
        <p:spPr>
          <a:xfrm>
            <a:off x="5577840" y="2560320"/>
            <a:ext cx="1554120" cy="114264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5577840" y="2560320"/>
            <a:ext cx="1554120" cy="63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5577840" y="26701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&lt;30s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5669280" y="321876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Time to result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20"/>
          <p:cNvSpPr/>
          <p:nvPr/>
        </p:nvSpPr>
        <p:spPr>
          <a:xfrm>
            <a:off x="7269480" y="2560320"/>
            <a:ext cx="1554120" cy="114264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21"/>
          <p:cNvSpPr/>
          <p:nvPr/>
        </p:nvSpPr>
        <p:spPr>
          <a:xfrm>
            <a:off x="7269480" y="2560320"/>
            <a:ext cx="1554120" cy="63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7269480" y="26701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85%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7360920" y="321876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Cost reduction vs CBC lab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THE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457200" y="822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b2e4e"/>
                </a:solidFill>
                <a:latin typeface="Calibri"/>
                <a:ea typeface="Calibri"/>
              </a:rPr>
              <a:t>Anemia: Algeria's Silent Epidemic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320040" y="1508760"/>
            <a:ext cx="2559960" cy="301716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4"/>
          <p:cNvSpPr/>
          <p:nvPr/>
        </p:nvSpPr>
        <p:spPr>
          <a:xfrm>
            <a:off x="320040" y="1508760"/>
            <a:ext cx="2559960" cy="5436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1188720" y="1737360"/>
            <a:ext cx="822600" cy="82260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8" name="Image 0" descr="preencoded.png"/>
          <p:cNvPicPr/>
          <p:nvPr/>
        </p:nvPicPr>
        <p:blipFill>
          <a:blip r:embed="rId1"/>
          <a:stretch/>
        </p:blipFill>
        <p:spPr>
          <a:xfrm>
            <a:off x="1280160" y="178308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199" name="Text 6"/>
          <p:cNvSpPr/>
          <p:nvPr/>
        </p:nvSpPr>
        <p:spPr>
          <a:xfrm>
            <a:off x="457200" y="2743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2e4e"/>
                </a:solidFill>
                <a:latin typeface="Calibri"/>
                <a:ea typeface="Calibri"/>
              </a:rPr>
              <a:t>25–30% of women affected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457200" y="3182040"/>
            <a:ext cx="2285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7080"/>
                </a:solidFill>
                <a:latin typeface="Calibri"/>
                <a:ea typeface="Calibri"/>
              </a:rPr>
              <a:t>Women of reproductive age and children under 5 bear the highest burden. Most cases are never detected due to access barriers.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8"/>
          <p:cNvSpPr/>
          <p:nvPr/>
        </p:nvSpPr>
        <p:spPr>
          <a:xfrm>
            <a:off x="3154680" y="1508760"/>
            <a:ext cx="2559960" cy="301716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3154680" y="1508760"/>
            <a:ext cx="2559960" cy="543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4023360" y="1737360"/>
            <a:ext cx="822600" cy="8226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Image 1" descr="preencoded.png"/>
          <p:cNvPicPr/>
          <p:nvPr/>
        </p:nvPicPr>
        <p:blipFill>
          <a:blip r:embed="rId2"/>
          <a:stretch/>
        </p:blipFill>
        <p:spPr>
          <a:xfrm>
            <a:off x="4114800" y="178308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205" name="Text 11"/>
          <p:cNvSpPr/>
          <p:nvPr/>
        </p:nvSpPr>
        <p:spPr>
          <a:xfrm>
            <a:off x="3291840" y="2743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2e4e"/>
                </a:solidFill>
                <a:latin typeface="Calibri"/>
                <a:ea typeface="Calibri"/>
              </a:rPr>
              <a:t>Lab infrastructure gap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3291840" y="3182040"/>
            <a:ext cx="2285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7080"/>
                </a:solidFill>
                <a:latin typeface="Calibri"/>
                <a:ea typeface="Calibri"/>
              </a:rPr>
              <a:t>Traditional CBC tests require labs, technicians, and needles. In the Sud and Hautes Plaines, labs are scarce or non-existent.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3"/>
          <p:cNvSpPr/>
          <p:nvPr/>
        </p:nvSpPr>
        <p:spPr>
          <a:xfrm>
            <a:off x="5989320" y="1508760"/>
            <a:ext cx="2559960" cy="301716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5989320" y="1508760"/>
            <a:ext cx="25599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6858000" y="1737360"/>
            <a:ext cx="822600" cy="82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0" name="Image 2" descr="preencoded.png"/>
          <p:cNvPicPr/>
          <p:nvPr/>
        </p:nvPicPr>
        <p:blipFill>
          <a:blip r:embed="rId3"/>
          <a:stretch/>
        </p:blipFill>
        <p:spPr>
          <a:xfrm>
            <a:off x="6949440" y="178308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211" name="Text 16"/>
          <p:cNvSpPr/>
          <p:nvPr/>
        </p:nvSpPr>
        <p:spPr>
          <a:xfrm>
            <a:off x="6126480" y="27432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2e4e"/>
                </a:solidFill>
                <a:latin typeface="Calibri"/>
                <a:ea typeface="Calibri"/>
              </a:rPr>
              <a:t>4–24 hours wait 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6126480" y="3182040"/>
            <a:ext cx="2285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7080"/>
                </a:solidFill>
                <a:latin typeface="Calibri"/>
                <a:ea typeface="Calibri"/>
              </a:rPr>
              <a:t>Results take hours to days. Patients in rural areas make a second trip — many never return for follow-up treatment.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71e2e"/>
          </a:solidFill>
          <a:ln w="12700">
            <a:solidFill>
              <a:srgbClr val="07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OUR SOLUTION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457200" y="804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Instant Anemia Screening — No Lab Required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320040" y="1554480"/>
            <a:ext cx="1508400" cy="1554120"/>
          </a:xfrm>
          <a:prstGeom prst="rect">
            <a:avLst/>
          </a:prstGeom>
          <a:solidFill>
            <a:srgbClr val="0d4a6e"/>
          </a:solidFill>
          <a:ln w="12700">
            <a:solidFill>
              <a:srgbClr val="0d4a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7" name="Image 0" descr="preencoded.png"/>
          <p:cNvPicPr/>
          <p:nvPr/>
        </p:nvPicPr>
        <p:blipFill>
          <a:blip r:embed="rId1"/>
          <a:stretch/>
        </p:blipFill>
        <p:spPr>
          <a:xfrm>
            <a:off x="84132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218" name="Text 4"/>
          <p:cNvSpPr/>
          <p:nvPr/>
        </p:nvSpPr>
        <p:spPr>
          <a:xfrm>
            <a:off x="36576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Patient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36576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No needle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1828800" y="2221920"/>
            <a:ext cx="20988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7"/>
          <p:cNvSpPr/>
          <p:nvPr/>
        </p:nvSpPr>
        <p:spPr>
          <a:xfrm>
            <a:off x="2039040" y="1554480"/>
            <a:ext cx="1508400" cy="1554120"/>
          </a:xfrm>
          <a:prstGeom prst="rect">
            <a:avLst/>
          </a:prstGeom>
          <a:solidFill>
            <a:srgbClr val="0a5f80"/>
          </a:solidFill>
          <a:ln w="12700">
            <a:solidFill>
              <a:srgbClr val="0a5f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2" name="Image 1" descr="preencoded.png"/>
          <p:cNvPicPr/>
          <p:nvPr/>
        </p:nvPicPr>
        <p:blipFill>
          <a:blip r:embed="rId2"/>
          <a:stretch/>
        </p:blipFill>
        <p:spPr>
          <a:xfrm>
            <a:off x="256032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223" name="Text 8"/>
          <p:cNvSpPr/>
          <p:nvPr/>
        </p:nvSpPr>
        <p:spPr>
          <a:xfrm>
            <a:off x="208476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Capture Image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208476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Conjunctiva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3547800" y="2221920"/>
            <a:ext cx="20988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3758040" y="1554480"/>
            <a:ext cx="1508400" cy="1554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7" name="Image 2" descr="preencoded.png"/>
          <p:cNvPicPr/>
          <p:nvPr/>
        </p:nvPicPr>
        <p:blipFill>
          <a:blip r:embed="rId3"/>
          <a:stretch/>
        </p:blipFill>
        <p:spPr>
          <a:xfrm>
            <a:off x="427932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228" name="Text 12"/>
          <p:cNvSpPr/>
          <p:nvPr/>
        </p:nvSpPr>
        <p:spPr>
          <a:xfrm>
            <a:off x="380376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AI Analysis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380376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&lt; 30 seconds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14"/>
          <p:cNvSpPr/>
          <p:nvPr/>
        </p:nvSpPr>
        <p:spPr>
          <a:xfrm>
            <a:off x="5266800" y="2221920"/>
            <a:ext cx="20988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5477400" y="1554480"/>
            <a:ext cx="1508400" cy="1554120"/>
          </a:xfrm>
          <a:prstGeom prst="rect">
            <a:avLst/>
          </a:prstGeom>
          <a:solidFill>
            <a:srgbClr val="02a880"/>
          </a:solidFill>
          <a:ln w="12700">
            <a:solidFill>
              <a:srgbClr val="02a8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2" name="Image 3" descr="preencoded.png"/>
          <p:cNvPicPr/>
          <p:nvPr/>
        </p:nvPicPr>
        <p:blipFill>
          <a:blip r:embed="rId4"/>
          <a:stretch/>
        </p:blipFill>
        <p:spPr>
          <a:xfrm>
            <a:off x="599832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233" name="Text 16"/>
          <p:cNvSpPr/>
          <p:nvPr/>
        </p:nvSpPr>
        <p:spPr>
          <a:xfrm>
            <a:off x="552312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Result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7"/>
          <p:cNvSpPr/>
          <p:nvPr/>
        </p:nvSpPr>
        <p:spPr>
          <a:xfrm>
            <a:off x="552312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Positive / Negative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8"/>
          <p:cNvSpPr/>
          <p:nvPr/>
        </p:nvSpPr>
        <p:spPr>
          <a:xfrm>
            <a:off x="6986160" y="2221920"/>
            <a:ext cx="209880" cy="5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19"/>
          <p:cNvSpPr/>
          <p:nvPr/>
        </p:nvSpPr>
        <p:spPr>
          <a:xfrm>
            <a:off x="7196400" y="1554480"/>
            <a:ext cx="1508400" cy="1554120"/>
          </a:xfrm>
          <a:prstGeom prst="rect">
            <a:avLst/>
          </a:prstGeom>
          <a:solidFill>
            <a:srgbClr val="019a6a"/>
          </a:solidFill>
          <a:ln w="12700">
            <a:solidFill>
              <a:srgbClr val="019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Image 4" descr="preencoded.png"/>
          <p:cNvPicPr/>
          <p:nvPr/>
        </p:nvPicPr>
        <p:blipFill>
          <a:blip r:embed="rId5"/>
          <a:stretch/>
        </p:blipFill>
        <p:spPr>
          <a:xfrm>
            <a:off x="7717680" y="166428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238" name="Text 20"/>
          <p:cNvSpPr/>
          <p:nvPr/>
        </p:nvSpPr>
        <p:spPr>
          <a:xfrm>
            <a:off x="7242120" y="21945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Doctor Acts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21"/>
          <p:cNvSpPr/>
          <p:nvPr/>
        </p:nvSpPr>
        <p:spPr>
          <a:xfrm>
            <a:off x="7242120" y="25056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d8ec"/>
                </a:solidFill>
                <a:latin typeface="Calibri"/>
                <a:ea typeface="Calibri"/>
              </a:rPr>
              <a:t>Confirm or treat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0" name="Image 5" descr="preencoded.png"/>
          <p:cNvPicPr/>
          <p:nvPr/>
        </p:nvPicPr>
        <p:blipFill>
          <a:blip r:embed="rId6"/>
          <a:stretch/>
        </p:blipFill>
        <p:spPr>
          <a:xfrm>
            <a:off x="320040" y="3566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1" name="Text 22"/>
          <p:cNvSpPr/>
          <p:nvPr/>
        </p:nvSpPr>
        <p:spPr>
          <a:xfrm>
            <a:off x="612720" y="3547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0d8ec"/>
                </a:solidFill>
                <a:latin typeface="Calibri"/>
                <a:ea typeface="Calibri"/>
              </a:rPr>
              <a:t>Non-invasive — no blood draw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2" name="Image 6" descr="preencoded.png"/>
          <p:cNvPicPr/>
          <p:nvPr/>
        </p:nvPicPr>
        <p:blipFill>
          <a:blip r:embed="rId7"/>
          <a:stretch/>
        </p:blipFill>
        <p:spPr>
          <a:xfrm>
            <a:off x="2468880" y="3566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3" name="Text 23"/>
          <p:cNvSpPr/>
          <p:nvPr/>
        </p:nvSpPr>
        <p:spPr>
          <a:xfrm>
            <a:off x="2761560" y="3547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0d8ec"/>
                </a:solidFill>
                <a:latin typeface="Calibri"/>
                <a:ea typeface="Calibri"/>
              </a:rPr>
              <a:t>Results in under 30 seconds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4" name="Image 7" descr="preencoded.png"/>
          <p:cNvPicPr/>
          <p:nvPr/>
        </p:nvPicPr>
        <p:blipFill>
          <a:blip r:embed="rId8"/>
          <a:stretch/>
        </p:blipFill>
        <p:spPr>
          <a:xfrm>
            <a:off x="4617720" y="3566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5" name="Text 24"/>
          <p:cNvSpPr/>
          <p:nvPr/>
        </p:nvSpPr>
        <p:spPr>
          <a:xfrm>
            <a:off x="4910400" y="3547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0d8ec"/>
                </a:solidFill>
                <a:latin typeface="Calibri"/>
                <a:ea typeface="Calibri"/>
              </a:rPr>
              <a:t>Works on any smartphone or tablet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6" name="Image 8" descr="preencoded.png"/>
          <p:cNvPicPr/>
          <p:nvPr/>
        </p:nvPicPr>
        <p:blipFill>
          <a:blip r:embed="rId9"/>
          <a:stretch/>
        </p:blipFill>
        <p:spPr>
          <a:xfrm>
            <a:off x="6766560" y="35661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7" name="Text 25"/>
          <p:cNvSpPr/>
          <p:nvPr/>
        </p:nvSpPr>
        <p:spPr>
          <a:xfrm>
            <a:off x="7059240" y="3547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0d8ec"/>
                </a:solidFill>
                <a:latin typeface="Calibri"/>
                <a:ea typeface="Calibri"/>
              </a:rPr>
              <a:t>Deployable in zero-lab environments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VALUE PROPOSITION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Who benefits — and how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274320" y="1371600"/>
            <a:ext cx="2697120" cy="35200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274320" y="1371600"/>
            <a:ext cx="2697120" cy="658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3" name="Image 0" descr="preencoded.png"/>
          <p:cNvPicPr/>
          <p:nvPr/>
        </p:nvPicPr>
        <p:blipFill>
          <a:blip r:embed="rId1"/>
          <a:stretch/>
        </p:blipFill>
        <p:spPr>
          <a:xfrm>
            <a:off x="402480" y="14904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54" name="Text 5"/>
          <p:cNvSpPr/>
          <p:nvPr/>
        </p:nvSpPr>
        <p:spPr>
          <a:xfrm>
            <a:off x="822960" y="1481400"/>
            <a:ext cx="2057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Hospitals &amp; Clinics (B2B Core)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Image 1" descr="preencoded.png"/>
          <p:cNvPicPr/>
          <p:nvPr/>
        </p:nvPicPr>
        <p:blipFill>
          <a:blip r:embed="rId2"/>
          <a:stretch/>
        </p:blipFill>
        <p:spPr>
          <a:xfrm>
            <a:off x="420480" y="21762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56" name="Text 6"/>
          <p:cNvSpPr/>
          <p:nvPr/>
        </p:nvSpPr>
        <p:spPr>
          <a:xfrm>
            <a:off x="658440" y="213984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Increase patient throughput — scan more in less time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7" name="Image 2" descr="preencoded.png"/>
          <p:cNvPicPr/>
          <p:nvPr/>
        </p:nvPicPr>
        <p:blipFill>
          <a:blip r:embed="rId3"/>
          <a:stretch/>
        </p:blipFill>
        <p:spPr>
          <a:xfrm>
            <a:off x="420480" y="26791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58" name="Text 7"/>
          <p:cNvSpPr/>
          <p:nvPr/>
        </p:nvSpPr>
        <p:spPr>
          <a:xfrm>
            <a:off x="658440" y="264276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Instant triage layer before expensive CBC lab work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Image 3" descr="preencoded.png"/>
          <p:cNvPicPr/>
          <p:nvPr/>
        </p:nvPicPr>
        <p:blipFill>
          <a:blip r:embed="rId4"/>
          <a:stretch/>
        </p:blipFill>
        <p:spPr>
          <a:xfrm>
            <a:off x="420480" y="31820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60" name="Text 8"/>
          <p:cNvSpPr/>
          <p:nvPr/>
        </p:nvSpPr>
        <p:spPr>
          <a:xfrm>
            <a:off x="658440" y="314568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Reduce reagents, technician time &amp; equipment wear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1" name="Image 4" descr="preencoded.png"/>
          <p:cNvPicPr/>
          <p:nvPr/>
        </p:nvPicPr>
        <p:blipFill>
          <a:blip r:embed="rId5"/>
          <a:stretch/>
        </p:blipFill>
        <p:spPr>
          <a:xfrm>
            <a:off x="420480" y="368496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62" name="Text 9"/>
          <p:cNvSpPr/>
          <p:nvPr/>
        </p:nvSpPr>
        <p:spPr>
          <a:xfrm>
            <a:off x="658440" y="364860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Competitive edge: 'AI-powered' branding attracts patients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3" name="Image 5" descr="preencoded.png"/>
          <p:cNvPicPr/>
          <p:nvPr/>
        </p:nvPicPr>
        <p:blipFill>
          <a:blip r:embed="rId6"/>
          <a:stretch/>
        </p:blipFill>
        <p:spPr>
          <a:xfrm>
            <a:off x="420480" y="41878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64" name="Text 10"/>
          <p:cNvSpPr/>
          <p:nvPr/>
        </p:nvSpPr>
        <p:spPr>
          <a:xfrm>
            <a:off x="658440" y="415152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CHU/EHS: comply with MoH digitalization mandates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1"/>
          <p:cNvSpPr/>
          <p:nvPr/>
        </p:nvSpPr>
        <p:spPr>
          <a:xfrm>
            <a:off x="3200400" y="1371600"/>
            <a:ext cx="2697120" cy="35200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3200400" y="1371600"/>
            <a:ext cx="2697120" cy="6580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7" name="Image 6" descr="preencoded.png"/>
          <p:cNvPicPr/>
          <p:nvPr/>
        </p:nvPicPr>
        <p:blipFill>
          <a:blip r:embed="rId7"/>
          <a:stretch/>
        </p:blipFill>
        <p:spPr>
          <a:xfrm>
            <a:off x="3328560" y="14904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68" name="Text 13"/>
          <p:cNvSpPr/>
          <p:nvPr/>
        </p:nvSpPr>
        <p:spPr>
          <a:xfrm>
            <a:off x="3749040" y="1481400"/>
            <a:ext cx="2057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Patients (End-User Value)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Image 7" descr="preencoded.png"/>
          <p:cNvPicPr/>
          <p:nvPr/>
        </p:nvPicPr>
        <p:blipFill>
          <a:blip r:embed="rId8"/>
          <a:stretch/>
        </p:blipFill>
        <p:spPr>
          <a:xfrm>
            <a:off x="3346560" y="21762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70" name="Text 14"/>
          <p:cNvSpPr/>
          <p:nvPr/>
        </p:nvSpPr>
        <p:spPr>
          <a:xfrm>
            <a:off x="3584520" y="213984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Zero pain — no needles, no blood draw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" name="Image 8" descr="preencoded.png"/>
          <p:cNvPicPr/>
          <p:nvPr/>
        </p:nvPicPr>
        <p:blipFill>
          <a:blip r:embed="rId9"/>
          <a:stretch/>
        </p:blipFill>
        <p:spPr>
          <a:xfrm>
            <a:off x="3346560" y="26791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72" name="Text 15"/>
          <p:cNvSpPr/>
          <p:nvPr/>
        </p:nvSpPr>
        <p:spPr>
          <a:xfrm>
            <a:off x="3584520" y="264276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Result in under 30 seconds, not hours or days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3" name="Image 9" descr="preencoded.png"/>
          <p:cNvPicPr/>
          <p:nvPr/>
        </p:nvPicPr>
        <p:blipFill>
          <a:blip r:embed="rId10"/>
          <a:stretch/>
        </p:blipFill>
        <p:spPr>
          <a:xfrm>
            <a:off x="3346560" y="31820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74" name="Text 16"/>
          <p:cNvSpPr/>
          <p:nvPr/>
        </p:nvSpPr>
        <p:spPr>
          <a:xfrm>
            <a:off x="3584520" y="314568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Cost 100–200 DZD vs 800–1 500 DZD for lab CBC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Image 10" descr="preencoded.png"/>
          <p:cNvPicPr/>
          <p:nvPr/>
        </p:nvPicPr>
        <p:blipFill>
          <a:blip r:embed="rId11"/>
          <a:stretch/>
        </p:blipFill>
        <p:spPr>
          <a:xfrm>
            <a:off x="3346560" y="368496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76" name="Text 17"/>
          <p:cNvSpPr/>
          <p:nvPr/>
        </p:nvSpPr>
        <p:spPr>
          <a:xfrm>
            <a:off x="3584520" y="364860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Accessible in rural areas with no lab infrastructure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7" name="Image 11" descr="preencoded.png"/>
          <p:cNvPicPr/>
          <p:nvPr/>
        </p:nvPicPr>
        <p:blipFill>
          <a:blip r:embed="rId12"/>
          <a:stretch/>
        </p:blipFill>
        <p:spPr>
          <a:xfrm>
            <a:off x="3346560" y="41878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78" name="Text 18"/>
          <p:cNvSpPr/>
          <p:nvPr/>
        </p:nvSpPr>
        <p:spPr>
          <a:xfrm>
            <a:off x="3584520" y="415152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No appointment or lab visit required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9"/>
          <p:cNvSpPr/>
          <p:nvPr/>
        </p:nvSpPr>
        <p:spPr>
          <a:xfrm>
            <a:off x="6126480" y="1371600"/>
            <a:ext cx="2697120" cy="35200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6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0"/>
          <p:cNvSpPr/>
          <p:nvPr/>
        </p:nvSpPr>
        <p:spPr>
          <a:xfrm>
            <a:off x="6126480" y="1371600"/>
            <a:ext cx="2697120" cy="658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1" name="Image 12" descr="preencoded.png"/>
          <p:cNvPicPr/>
          <p:nvPr/>
        </p:nvPicPr>
        <p:blipFill>
          <a:blip r:embed="rId13"/>
          <a:stretch/>
        </p:blipFill>
        <p:spPr>
          <a:xfrm>
            <a:off x="6254640" y="14904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82" name="Text 21"/>
          <p:cNvSpPr/>
          <p:nvPr/>
        </p:nvSpPr>
        <p:spPr>
          <a:xfrm>
            <a:off x="6675120" y="1481400"/>
            <a:ext cx="2057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State &amp; Ministry of Health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" name="Image 13" descr="preencoded.png"/>
          <p:cNvPicPr/>
          <p:nvPr/>
        </p:nvPicPr>
        <p:blipFill>
          <a:blip r:embed="rId14"/>
          <a:stretch/>
        </p:blipFill>
        <p:spPr>
          <a:xfrm>
            <a:off x="6272640" y="21762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84" name="Text 22"/>
          <p:cNvSpPr/>
          <p:nvPr/>
        </p:nvSpPr>
        <p:spPr>
          <a:xfrm>
            <a:off x="6510600" y="213984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Scalable mass screening for Sud &amp; Hautes Plaines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Image 14" descr="preencoded.png"/>
          <p:cNvPicPr/>
          <p:nvPr/>
        </p:nvPicPr>
        <p:blipFill>
          <a:blip r:embed="rId15"/>
          <a:stretch/>
        </p:blipFill>
        <p:spPr>
          <a:xfrm>
            <a:off x="6272640" y="26791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86" name="Text 23"/>
          <p:cNvSpPr/>
          <p:nvPr/>
        </p:nvSpPr>
        <p:spPr>
          <a:xfrm>
            <a:off x="6510600" y="264276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Aligns with Plan Santé Numérique 2023–2027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7" name="Image 15" descr="preencoded.png"/>
          <p:cNvPicPr/>
          <p:nvPr/>
        </p:nvPicPr>
        <p:blipFill>
          <a:blip r:embed="rId16"/>
          <a:stretch/>
        </p:blipFill>
        <p:spPr>
          <a:xfrm>
            <a:off x="6272640" y="31820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88" name="Text 24"/>
          <p:cNvSpPr/>
          <p:nvPr/>
        </p:nvSpPr>
        <p:spPr>
          <a:xfrm>
            <a:off x="6510600" y="314568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Reduces pressure on public lab capacity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Image 16" descr="preencoded.png"/>
          <p:cNvPicPr/>
          <p:nvPr/>
        </p:nvPicPr>
        <p:blipFill>
          <a:blip r:embed="rId17"/>
          <a:stretch/>
        </p:blipFill>
        <p:spPr>
          <a:xfrm>
            <a:off x="6272640" y="368496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90" name="Text 25"/>
          <p:cNvSpPr/>
          <p:nvPr/>
        </p:nvSpPr>
        <p:spPr>
          <a:xfrm>
            <a:off x="6510600" y="364860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Population anemia data for national health policy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1" name="Image 17" descr="preencoded.png"/>
          <p:cNvPicPr/>
          <p:nvPr/>
        </p:nvPicPr>
        <p:blipFill>
          <a:blip r:embed="rId18"/>
          <a:stretch/>
        </p:blipFill>
        <p:spPr>
          <a:xfrm>
            <a:off x="6272640" y="41878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92" name="Text 26"/>
          <p:cNvSpPr/>
          <p:nvPr/>
        </p:nvSpPr>
        <p:spPr>
          <a:xfrm>
            <a:off x="6510600" y="4151520"/>
            <a:ext cx="221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CNAS cost reduction on untreated anemia cases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MARKET ANALYSIS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b2e4e"/>
                </a:solidFill>
                <a:latin typeface="Calibri"/>
                <a:ea typeface="Calibri"/>
              </a:rPr>
              <a:t>Algeria's Anemia Market — A Massive Untapped Opportunity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3"/>
          <p:cNvSpPr/>
          <p:nvPr/>
        </p:nvSpPr>
        <p:spPr>
          <a:xfrm>
            <a:off x="274320" y="1325880"/>
            <a:ext cx="1919880" cy="10054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4"/>
          <p:cNvSpPr/>
          <p:nvPr/>
        </p:nvSpPr>
        <p:spPr>
          <a:xfrm>
            <a:off x="274320" y="137160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~27%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5"/>
          <p:cNvSpPr/>
          <p:nvPr/>
        </p:nvSpPr>
        <p:spPr>
          <a:xfrm>
            <a:off x="329040" y="1883520"/>
            <a:ext cx="181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Women of reproductive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age with anemia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6"/>
          <p:cNvSpPr/>
          <p:nvPr/>
        </p:nvSpPr>
        <p:spPr>
          <a:xfrm>
            <a:off x="2423160" y="1325880"/>
            <a:ext cx="1919880" cy="10054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7"/>
          <p:cNvSpPr/>
          <p:nvPr/>
        </p:nvSpPr>
        <p:spPr>
          <a:xfrm>
            <a:off x="2423160" y="137160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35%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2477880" y="1883520"/>
            <a:ext cx="181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Children under 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affected (UNICEF)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9"/>
          <p:cNvSpPr/>
          <p:nvPr/>
        </p:nvSpPr>
        <p:spPr>
          <a:xfrm>
            <a:off x="4572000" y="1325880"/>
            <a:ext cx="1919880" cy="10054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4572000" y="137160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2 800+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1"/>
          <p:cNvSpPr/>
          <p:nvPr/>
        </p:nvSpPr>
        <p:spPr>
          <a:xfrm>
            <a:off x="4626720" y="1883520"/>
            <a:ext cx="181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Public health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facilities in Algeria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2"/>
          <p:cNvSpPr/>
          <p:nvPr/>
        </p:nvSpPr>
        <p:spPr>
          <a:xfrm>
            <a:off x="6720840" y="1325880"/>
            <a:ext cx="1919880" cy="100548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6720840" y="137160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1 200+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4"/>
          <p:cNvSpPr/>
          <p:nvPr/>
        </p:nvSpPr>
        <p:spPr>
          <a:xfrm>
            <a:off x="6775560" y="1883520"/>
            <a:ext cx="181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Private clinics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0c8d8"/>
                </a:solidFill>
                <a:latin typeface="Calibri"/>
                <a:ea typeface="Calibri"/>
              </a:rPr>
              <a:t>(+12%/year)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5"/>
          <p:cNvSpPr/>
          <p:nvPr/>
        </p:nvSpPr>
        <p:spPr>
          <a:xfrm>
            <a:off x="320040" y="25146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e4e"/>
                </a:solidFill>
                <a:latin typeface="Calibri"/>
                <a:ea typeface="Calibri"/>
              </a:rPr>
              <a:t>Market Sizing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6"/>
          <p:cNvSpPr/>
          <p:nvPr/>
        </p:nvSpPr>
        <p:spPr>
          <a:xfrm>
            <a:off x="320040" y="2926080"/>
            <a:ext cx="639720" cy="4568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17"/>
          <p:cNvSpPr/>
          <p:nvPr/>
        </p:nvSpPr>
        <p:spPr>
          <a:xfrm>
            <a:off x="320040" y="292608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8"/>
          <p:cNvSpPr/>
          <p:nvPr/>
        </p:nvSpPr>
        <p:spPr>
          <a:xfrm>
            <a:off x="1051560" y="29718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60M screenings/year — All health facilities in Algeria needing CBC/anemia work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9"/>
          <p:cNvSpPr/>
          <p:nvPr/>
        </p:nvSpPr>
        <p:spPr>
          <a:xfrm>
            <a:off x="320040" y="3520440"/>
            <a:ext cx="639720" cy="456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0"/>
          <p:cNvSpPr/>
          <p:nvPr/>
        </p:nvSpPr>
        <p:spPr>
          <a:xfrm>
            <a:off x="320040" y="352044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21"/>
          <p:cNvSpPr/>
          <p:nvPr/>
        </p:nvSpPr>
        <p:spPr>
          <a:xfrm>
            <a:off x="1051560" y="356616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18M screenings/year — Facilities with smartphone/digital access (~4 000 sites)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2"/>
          <p:cNvSpPr/>
          <p:nvPr/>
        </p:nvSpPr>
        <p:spPr>
          <a:xfrm>
            <a:off x="320040" y="4114800"/>
            <a:ext cx="639720" cy="456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3"/>
          <p:cNvSpPr/>
          <p:nvPr/>
        </p:nvSpPr>
        <p:spPr>
          <a:xfrm>
            <a:off x="320040" y="41148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SOM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24"/>
          <p:cNvSpPr/>
          <p:nvPr/>
        </p:nvSpPr>
        <p:spPr>
          <a:xfrm>
            <a:off x="1051560" y="416052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100M DZD Year 1 — 50 pilot sites × 500 000 scans @ 200 DZD/scan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25"/>
          <p:cNvSpPr/>
          <p:nvPr/>
        </p:nvSpPr>
        <p:spPr>
          <a:xfrm>
            <a:off x="4846320" y="25146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e4e"/>
                </a:solidFill>
                <a:latin typeface="Calibri"/>
                <a:ea typeface="Calibri"/>
              </a:rPr>
              <a:t>B2B Target Segments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6"/>
          <p:cNvSpPr/>
          <p:nvPr/>
        </p:nvSpPr>
        <p:spPr>
          <a:xfrm>
            <a:off x="4846320" y="2926080"/>
            <a:ext cx="4023000" cy="5940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7"/>
          <p:cNvSpPr/>
          <p:nvPr/>
        </p:nvSpPr>
        <p:spPr>
          <a:xfrm>
            <a:off x="4846320" y="2926080"/>
            <a:ext cx="63720" cy="59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8"/>
          <p:cNvSpPr/>
          <p:nvPr/>
        </p:nvSpPr>
        <p:spPr>
          <a:xfrm>
            <a:off x="4992480" y="296280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Private Clinics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29"/>
          <p:cNvSpPr/>
          <p:nvPr/>
        </p:nvSpPr>
        <p:spPr>
          <a:xfrm>
            <a:off x="4992480" y="32004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Gynaecology &amp; Paediatrics — highest anemia risk groups. Premium pricing justified.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30"/>
          <p:cNvSpPr/>
          <p:nvPr/>
        </p:nvSpPr>
        <p:spPr>
          <a:xfrm>
            <a:off x="4846320" y="3611880"/>
            <a:ext cx="4023000" cy="5940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31"/>
          <p:cNvSpPr/>
          <p:nvPr/>
        </p:nvSpPr>
        <p:spPr>
          <a:xfrm>
            <a:off x="4846320" y="3611880"/>
            <a:ext cx="63720" cy="5940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32"/>
          <p:cNvSpPr/>
          <p:nvPr/>
        </p:nvSpPr>
        <p:spPr>
          <a:xfrm>
            <a:off x="4992480" y="364860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Public Hospitals CHU/EPH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33"/>
          <p:cNvSpPr/>
          <p:nvPr/>
        </p:nvSpPr>
        <p:spPr>
          <a:xfrm>
            <a:off x="4992480" y="38862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Triage efficiency. Ministry of Health priority. High volume.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34"/>
          <p:cNvSpPr/>
          <p:nvPr/>
        </p:nvSpPr>
        <p:spPr>
          <a:xfrm>
            <a:off x="4846320" y="4297680"/>
            <a:ext cx="4023000" cy="5940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35"/>
          <p:cNvSpPr/>
          <p:nvPr/>
        </p:nvSpPr>
        <p:spPr>
          <a:xfrm>
            <a:off x="4846320" y="4297680"/>
            <a:ext cx="63720" cy="5940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36"/>
          <p:cNvSpPr/>
          <p:nvPr/>
        </p:nvSpPr>
        <p:spPr>
          <a:xfrm>
            <a:off x="4992480" y="433440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Pharmacies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37"/>
          <p:cNvSpPr/>
          <p:nvPr/>
        </p:nvSpPr>
        <p:spPr>
          <a:xfrm>
            <a:off x="4992480" y="45720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Transform into 'mini-diagnostic hubs'. Huge reach — 12 000+ pharmacies in Algeria.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COST COMPARISON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The Economic Disruptor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3"/>
          <p:cNvSpPr/>
          <p:nvPr/>
        </p:nvSpPr>
        <p:spPr>
          <a:xfrm>
            <a:off x="457200" y="1325880"/>
            <a:ext cx="2194200" cy="3837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4"/>
          <p:cNvSpPr/>
          <p:nvPr/>
        </p:nvSpPr>
        <p:spPr>
          <a:xfrm>
            <a:off x="457200" y="13258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Feature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5"/>
          <p:cNvSpPr/>
          <p:nvPr/>
        </p:nvSpPr>
        <p:spPr>
          <a:xfrm>
            <a:off x="2834640" y="1325880"/>
            <a:ext cx="2194200" cy="38376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6"/>
          <p:cNvSpPr/>
          <p:nvPr/>
        </p:nvSpPr>
        <p:spPr>
          <a:xfrm>
            <a:off x="2834640" y="13258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Traditional Lab CBC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7"/>
          <p:cNvSpPr/>
          <p:nvPr/>
        </p:nvSpPr>
        <p:spPr>
          <a:xfrm>
            <a:off x="5257800" y="1325880"/>
            <a:ext cx="2194200" cy="383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8"/>
          <p:cNvSpPr/>
          <p:nvPr/>
        </p:nvSpPr>
        <p:spPr>
          <a:xfrm>
            <a:off x="5257800" y="13258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AnemiaAI Solution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9"/>
          <p:cNvSpPr/>
          <p:nvPr/>
        </p:nvSpPr>
        <p:spPr>
          <a:xfrm>
            <a:off x="457200" y="171900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0"/>
          <p:cNvSpPr/>
          <p:nvPr/>
        </p:nvSpPr>
        <p:spPr>
          <a:xfrm>
            <a:off x="548640" y="17373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Cost to patient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1"/>
          <p:cNvSpPr/>
          <p:nvPr/>
        </p:nvSpPr>
        <p:spPr>
          <a:xfrm>
            <a:off x="2834640" y="171900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12"/>
          <p:cNvSpPr/>
          <p:nvPr/>
        </p:nvSpPr>
        <p:spPr>
          <a:xfrm>
            <a:off x="2926080" y="17373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800 – 1 500 DZD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3"/>
          <p:cNvSpPr/>
          <p:nvPr/>
        </p:nvSpPr>
        <p:spPr>
          <a:xfrm>
            <a:off x="5257800" y="171900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4"/>
          <p:cNvSpPr/>
          <p:nvPr/>
        </p:nvSpPr>
        <p:spPr>
          <a:xfrm>
            <a:off x="5349240" y="17373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100 – 200 DZD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5"/>
          <p:cNvSpPr/>
          <p:nvPr/>
        </p:nvSpPr>
        <p:spPr>
          <a:xfrm>
            <a:off x="457200" y="221292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6"/>
          <p:cNvSpPr/>
          <p:nvPr/>
        </p:nvSpPr>
        <p:spPr>
          <a:xfrm>
            <a:off x="548640" y="22312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Time to result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7"/>
          <p:cNvSpPr/>
          <p:nvPr/>
        </p:nvSpPr>
        <p:spPr>
          <a:xfrm>
            <a:off x="2834640" y="221292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18"/>
          <p:cNvSpPr/>
          <p:nvPr/>
        </p:nvSpPr>
        <p:spPr>
          <a:xfrm>
            <a:off x="2926080" y="22312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4 – 24 hours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9"/>
          <p:cNvSpPr/>
          <p:nvPr/>
        </p:nvSpPr>
        <p:spPr>
          <a:xfrm>
            <a:off x="5257800" y="221292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0"/>
          <p:cNvSpPr/>
          <p:nvPr/>
        </p:nvSpPr>
        <p:spPr>
          <a:xfrm>
            <a:off x="5349240" y="22312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&lt; 30 seconds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1"/>
          <p:cNvSpPr/>
          <p:nvPr/>
        </p:nvSpPr>
        <p:spPr>
          <a:xfrm>
            <a:off x="457200" y="270648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22"/>
          <p:cNvSpPr/>
          <p:nvPr/>
        </p:nvSpPr>
        <p:spPr>
          <a:xfrm>
            <a:off x="548640" y="2724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Equipment needed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3"/>
          <p:cNvSpPr/>
          <p:nvPr/>
        </p:nvSpPr>
        <p:spPr>
          <a:xfrm>
            <a:off x="2834640" y="270648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24"/>
          <p:cNvSpPr/>
          <p:nvPr/>
        </p:nvSpPr>
        <p:spPr>
          <a:xfrm>
            <a:off x="2926080" y="2724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Hematology analyzer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($10 000+)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25"/>
          <p:cNvSpPr/>
          <p:nvPr/>
        </p:nvSpPr>
        <p:spPr>
          <a:xfrm>
            <a:off x="5257800" y="270648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26"/>
          <p:cNvSpPr/>
          <p:nvPr/>
        </p:nvSpPr>
        <p:spPr>
          <a:xfrm>
            <a:off x="5349240" y="2724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Smartphone / tablet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7"/>
          <p:cNvSpPr/>
          <p:nvPr/>
        </p:nvSpPr>
        <p:spPr>
          <a:xfrm>
            <a:off x="457200" y="320040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28"/>
          <p:cNvSpPr/>
          <p:nvPr/>
        </p:nvSpPr>
        <p:spPr>
          <a:xfrm>
            <a:off x="548640" y="32187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Consumables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29"/>
          <p:cNvSpPr/>
          <p:nvPr/>
        </p:nvSpPr>
        <p:spPr>
          <a:xfrm>
            <a:off x="2834640" y="320040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30"/>
          <p:cNvSpPr/>
          <p:nvPr/>
        </p:nvSpPr>
        <p:spPr>
          <a:xfrm>
            <a:off x="2926080" y="32187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Reagents, needles,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tubes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31"/>
          <p:cNvSpPr/>
          <p:nvPr/>
        </p:nvSpPr>
        <p:spPr>
          <a:xfrm>
            <a:off x="5257800" y="320040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32"/>
          <p:cNvSpPr/>
          <p:nvPr/>
        </p:nvSpPr>
        <p:spPr>
          <a:xfrm>
            <a:off x="5349240" y="32187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None (software only)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33"/>
          <p:cNvSpPr/>
          <p:nvPr/>
        </p:nvSpPr>
        <p:spPr>
          <a:xfrm>
            <a:off x="457200" y="369432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34"/>
          <p:cNvSpPr/>
          <p:nvPr/>
        </p:nvSpPr>
        <p:spPr>
          <a:xfrm>
            <a:off x="548640" y="37123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Trained technician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35"/>
          <p:cNvSpPr/>
          <p:nvPr/>
        </p:nvSpPr>
        <p:spPr>
          <a:xfrm>
            <a:off x="2834640" y="369432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36"/>
          <p:cNvSpPr/>
          <p:nvPr/>
        </p:nvSpPr>
        <p:spPr>
          <a:xfrm>
            <a:off x="2926080" y="37123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Required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37"/>
          <p:cNvSpPr/>
          <p:nvPr/>
        </p:nvSpPr>
        <p:spPr>
          <a:xfrm>
            <a:off x="5257800" y="3694320"/>
            <a:ext cx="2194200" cy="475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38"/>
          <p:cNvSpPr/>
          <p:nvPr/>
        </p:nvSpPr>
        <p:spPr>
          <a:xfrm>
            <a:off x="5349240" y="37123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Not required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9"/>
          <p:cNvSpPr/>
          <p:nvPr/>
        </p:nvSpPr>
        <p:spPr>
          <a:xfrm>
            <a:off x="457200" y="418788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40"/>
          <p:cNvSpPr/>
          <p:nvPr/>
        </p:nvSpPr>
        <p:spPr>
          <a:xfrm>
            <a:off x="548640" y="42062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Rural deployment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41"/>
          <p:cNvSpPr/>
          <p:nvPr/>
        </p:nvSpPr>
        <p:spPr>
          <a:xfrm>
            <a:off x="2834640" y="418788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42"/>
          <p:cNvSpPr/>
          <p:nvPr/>
        </p:nvSpPr>
        <p:spPr>
          <a:xfrm>
            <a:off x="2926080" y="42062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4b3a"/>
                </a:solidFill>
                <a:latin typeface="Calibri"/>
                <a:ea typeface="Calibri"/>
              </a:rPr>
              <a:t>Not feasible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43"/>
          <p:cNvSpPr/>
          <p:nvPr/>
        </p:nvSpPr>
        <p:spPr>
          <a:xfrm>
            <a:off x="5257800" y="4187880"/>
            <a:ext cx="219420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44"/>
          <p:cNvSpPr/>
          <p:nvPr/>
        </p:nvSpPr>
        <p:spPr>
          <a:xfrm>
            <a:off x="5349240" y="42062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9e6b"/>
                </a:solidFill>
                <a:latin typeface="Calibri"/>
                <a:ea typeface="Calibri"/>
              </a:rPr>
              <a:t>Fully feasible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45"/>
          <p:cNvSpPr/>
          <p:nvPr/>
        </p:nvSpPr>
        <p:spPr>
          <a:xfrm>
            <a:off x="457200" y="4645080"/>
            <a:ext cx="8229240" cy="347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46"/>
          <p:cNvSpPr/>
          <p:nvPr/>
        </p:nvSpPr>
        <p:spPr>
          <a:xfrm>
            <a:off x="502920" y="4645080"/>
            <a:ext cx="8137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71e2e"/>
                </a:solidFill>
                <a:latin typeface="Calibri"/>
                <a:ea typeface="Calibri"/>
              </a:rPr>
              <a:t>AnemiaAI reduces screening cost by up to 85% and delivers results 480× faster than traditional lab methods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BUSINESS MODEL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Revenue Streams — B2B Recurring Model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"/>
          <p:cNvSpPr/>
          <p:nvPr/>
        </p:nvSpPr>
        <p:spPr>
          <a:xfrm>
            <a:off x="274320" y="1371600"/>
            <a:ext cx="4160160" cy="1627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4"/>
          <p:cNvSpPr/>
          <p:nvPr/>
        </p:nvSpPr>
        <p:spPr>
          <a:xfrm>
            <a:off x="274320" y="1371600"/>
            <a:ext cx="4160160" cy="502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3" name="Image 0" descr="preencoded.png"/>
          <p:cNvPicPr/>
          <p:nvPr/>
        </p:nvPicPr>
        <p:blipFill>
          <a:blip r:embed="rId1"/>
          <a:stretch/>
        </p:blipFill>
        <p:spPr>
          <a:xfrm>
            <a:off x="365760" y="14446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84" name="Text 5"/>
          <p:cNvSpPr/>
          <p:nvPr/>
        </p:nvSpPr>
        <p:spPr>
          <a:xfrm>
            <a:off x="768240" y="14263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 · SaaS Subscription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6"/>
          <p:cNvSpPr/>
          <p:nvPr/>
        </p:nvSpPr>
        <p:spPr>
          <a:xfrm>
            <a:off x="3584520" y="1463040"/>
            <a:ext cx="776880" cy="273960"/>
          </a:xfrm>
          <a:prstGeom prst="rect">
            <a:avLst/>
          </a:prstGeom>
          <a:solidFill>
            <a:srgbClr val="1a5070"/>
          </a:solidFill>
          <a:ln w="12700">
            <a:solidFill>
              <a:srgbClr val="2a6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7"/>
          <p:cNvSpPr/>
          <p:nvPr/>
        </p:nvSpPr>
        <p:spPr>
          <a:xfrm>
            <a:off x="3584520" y="146304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a0d8ec"/>
                </a:solidFill>
                <a:latin typeface="Calibri"/>
                <a:ea typeface="Calibri"/>
              </a:rPr>
              <a:t>PRIMARY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8"/>
          <p:cNvSpPr/>
          <p:nvPr/>
        </p:nvSpPr>
        <p:spPr>
          <a:xfrm>
            <a:off x="411480" y="196596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Monthly/annual license per facility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Starter: 80 000 DZD/mo (500 scans)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Professional: 200 000 DZD/mo (2 000 scans)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Enterprise: Custom / unlimited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9"/>
          <p:cNvSpPr/>
          <p:nvPr/>
        </p:nvSpPr>
        <p:spPr>
          <a:xfrm>
            <a:off x="4663440" y="1371600"/>
            <a:ext cx="4160160" cy="1627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0"/>
          <p:cNvSpPr/>
          <p:nvPr/>
        </p:nvSpPr>
        <p:spPr>
          <a:xfrm>
            <a:off x="4663440" y="1371600"/>
            <a:ext cx="4160160" cy="5025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0" name="Image 1" descr="preencoded.png"/>
          <p:cNvPicPr/>
          <p:nvPr/>
        </p:nvPicPr>
        <p:blipFill>
          <a:blip r:embed="rId2"/>
          <a:stretch/>
        </p:blipFill>
        <p:spPr>
          <a:xfrm>
            <a:off x="4754880" y="14446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91" name="Text 11"/>
          <p:cNvSpPr/>
          <p:nvPr/>
        </p:nvSpPr>
        <p:spPr>
          <a:xfrm>
            <a:off x="5157360" y="14263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B · Pay-per-Scan API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12"/>
          <p:cNvSpPr/>
          <p:nvPr/>
        </p:nvSpPr>
        <p:spPr>
          <a:xfrm>
            <a:off x="7973640" y="1463040"/>
            <a:ext cx="776880" cy="273960"/>
          </a:xfrm>
          <a:prstGeom prst="rect">
            <a:avLst/>
          </a:prstGeom>
          <a:solidFill>
            <a:srgbClr val="1a5070"/>
          </a:solidFill>
          <a:ln w="12700">
            <a:solidFill>
              <a:srgbClr val="2a6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13"/>
          <p:cNvSpPr/>
          <p:nvPr/>
        </p:nvSpPr>
        <p:spPr>
          <a:xfrm>
            <a:off x="7973640" y="146304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a0d8ec"/>
                </a:solidFill>
                <a:latin typeface="Calibri"/>
                <a:ea typeface="Calibri"/>
              </a:rPr>
              <a:t>SCALABLE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14"/>
          <p:cNvSpPr/>
          <p:nvPr/>
        </p:nvSpPr>
        <p:spPr>
          <a:xfrm>
            <a:off x="4800600" y="196596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Large diagnostic centres pay per use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50–150 DZD per scan via API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Ideal for high-volume CHU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Integrates into existing HIS/EHR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15"/>
          <p:cNvSpPr/>
          <p:nvPr/>
        </p:nvSpPr>
        <p:spPr>
          <a:xfrm>
            <a:off x="274320" y="3127320"/>
            <a:ext cx="4160160" cy="1627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16"/>
          <p:cNvSpPr/>
          <p:nvPr/>
        </p:nvSpPr>
        <p:spPr>
          <a:xfrm>
            <a:off x="274320" y="3127320"/>
            <a:ext cx="4160160" cy="5025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Image 2" descr="preencoded.png"/>
          <p:cNvPicPr/>
          <p:nvPr/>
        </p:nvPicPr>
        <p:blipFill>
          <a:blip r:embed="rId3"/>
          <a:stretch/>
        </p:blipFill>
        <p:spPr>
          <a:xfrm>
            <a:off x="365760" y="32004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98" name="Text 17"/>
          <p:cNvSpPr/>
          <p:nvPr/>
        </p:nvSpPr>
        <p:spPr>
          <a:xfrm>
            <a:off x="768240" y="31820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 · Data &amp; Analytics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18"/>
          <p:cNvSpPr/>
          <p:nvPr/>
        </p:nvSpPr>
        <p:spPr>
          <a:xfrm>
            <a:off x="3584520" y="3218760"/>
            <a:ext cx="776880" cy="273960"/>
          </a:xfrm>
          <a:prstGeom prst="rect">
            <a:avLst/>
          </a:prstGeom>
          <a:solidFill>
            <a:srgbClr val="1a5070"/>
          </a:solidFill>
          <a:ln w="12700">
            <a:solidFill>
              <a:srgbClr val="2a6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19"/>
          <p:cNvSpPr/>
          <p:nvPr/>
        </p:nvSpPr>
        <p:spPr>
          <a:xfrm>
            <a:off x="3584520" y="321876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a0d8ec"/>
                </a:solidFill>
                <a:latin typeface="Calibri"/>
                <a:ea typeface="Calibri"/>
              </a:rPr>
              <a:t>PASSIVE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20"/>
          <p:cNvSpPr/>
          <p:nvPr/>
        </p:nvSpPr>
        <p:spPr>
          <a:xfrm>
            <a:off x="411480" y="372168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Anonymised population health data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Sold to pharma (Saidal, iron supplement cos.)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Insurance actuarial modelling (AXA, GAM)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MoH national screening reports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21"/>
          <p:cNvSpPr/>
          <p:nvPr/>
        </p:nvSpPr>
        <p:spPr>
          <a:xfrm>
            <a:off x="4663440" y="3127320"/>
            <a:ext cx="4160160" cy="16272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22"/>
          <p:cNvSpPr/>
          <p:nvPr/>
        </p:nvSpPr>
        <p:spPr>
          <a:xfrm>
            <a:off x="4663440" y="3127320"/>
            <a:ext cx="4160160" cy="50256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4" name="Image 3" descr="preencoded.png"/>
          <p:cNvPicPr/>
          <p:nvPr/>
        </p:nvPicPr>
        <p:blipFill>
          <a:blip r:embed="rId4"/>
          <a:stretch/>
        </p:blipFill>
        <p:spPr>
          <a:xfrm>
            <a:off x="4754880" y="32004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405" name="Text 23"/>
          <p:cNvSpPr/>
          <p:nvPr/>
        </p:nvSpPr>
        <p:spPr>
          <a:xfrm>
            <a:off x="5157360" y="31820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 · Hardware Leasing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24"/>
          <p:cNvSpPr/>
          <p:nvPr/>
        </p:nvSpPr>
        <p:spPr>
          <a:xfrm>
            <a:off x="7973640" y="3218760"/>
            <a:ext cx="776880" cy="273960"/>
          </a:xfrm>
          <a:prstGeom prst="rect">
            <a:avLst/>
          </a:prstGeom>
          <a:solidFill>
            <a:srgbClr val="1a5070"/>
          </a:solidFill>
          <a:ln w="12700">
            <a:solidFill>
              <a:srgbClr val="2a6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25"/>
          <p:cNvSpPr/>
          <p:nvPr/>
        </p:nvSpPr>
        <p:spPr>
          <a:xfrm>
            <a:off x="7973640" y="321876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a0d8ec"/>
                </a:solidFill>
                <a:latin typeface="Calibri"/>
                <a:ea typeface="Calibri"/>
              </a:rPr>
              <a:t>LOCK-IN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6"/>
          <p:cNvSpPr/>
          <p:nvPr/>
        </p:nvSpPr>
        <p:spPr>
          <a:xfrm>
            <a:off x="4800600" y="372168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Dedicated locked medical tablet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Pre-installed app, branded device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Monthly hardware + software bundle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Prevents churn, ensures compliance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27"/>
          <p:cNvSpPr/>
          <p:nvPr/>
        </p:nvSpPr>
        <p:spPr>
          <a:xfrm>
            <a:off x="274320" y="470916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28"/>
          <p:cNvSpPr/>
          <p:nvPr/>
        </p:nvSpPr>
        <p:spPr>
          <a:xfrm>
            <a:off x="274320" y="47091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~70%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29"/>
          <p:cNvSpPr/>
          <p:nvPr/>
        </p:nvSpPr>
        <p:spPr>
          <a:xfrm>
            <a:off x="1280160" y="47732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Gross margin (SaaS)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30"/>
          <p:cNvSpPr/>
          <p:nvPr/>
        </p:nvSpPr>
        <p:spPr>
          <a:xfrm>
            <a:off x="2423160" y="470916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31"/>
          <p:cNvSpPr/>
          <p:nvPr/>
        </p:nvSpPr>
        <p:spPr>
          <a:xfrm>
            <a:off x="2423160" y="47091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6 mo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32"/>
          <p:cNvSpPr/>
          <p:nvPr/>
        </p:nvSpPr>
        <p:spPr>
          <a:xfrm>
            <a:off x="3429000" y="47732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Payback period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33"/>
          <p:cNvSpPr/>
          <p:nvPr/>
        </p:nvSpPr>
        <p:spPr>
          <a:xfrm>
            <a:off x="4572000" y="470916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34"/>
          <p:cNvSpPr/>
          <p:nvPr/>
        </p:nvSpPr>
        <p:spPr>
          <a:xfrm>
            <a:off x="4572000" y="47091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24–36 mo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35"/>
          <p:cNvSpPr/>
          <p:nvPr/>
        </p:nvSpPr>
        <p:spPr>
          <a:xfrm>
            <a:off x="5577840" y="47732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Avg contract length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36"/>
          <p:cNvSpPr/>
          <p:nvPr/>
        </p:nvSpPr>
        <p:spPr>
          <a:xfrm>
            <a:off x="6720840" y="470916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37"/>
          <p:cNvSpPr/>
          <p:nvPr/>
        </p:nvSpPr>
        <p:spPr>
          <a:xfrm>
            <a:off x="6720840" y="470916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&lt;5%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38"/>
          <p:cNvSpPr/>
          <p:nvPr/>
        </p:nvSpPr>
        <p:spPr>
          <a:xfrm>
            <a:off x="7726680" y="47732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bbad0"/>
                </a:solidFill>
                <a:latin typeface="Calibri"/>
                <a:ea typeface="Calibri"/>
              </a:rPr>
              <a:t>Annual churn target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ROI FOR HOSPITALS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How do hospitals make money from AnemiaAI?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3"/>
          <p:cNvSpPr/>
          <p:nvPr/>
        </p:nvSpPr>
        <p:spPr>
          <a:xfrm>
            <a:off x="320040" y="1371600"/>
            <a:ext cx="475200" cy="475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4"/>
          <p:cNvSpPr/>
          <p:nvPr/>
        </p:nvSpPr>
        <p:spPr>
          <a:xfrm>
            <a:off x="320040" y="13716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5"/>
          <p:cNvSpPr/>
          <p:nvPr/>
        </p:nvSpPr>
        <p:spPr>
          <a:xfrm>
            <a:off x="914400" y="137160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Charge patients for AI screening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6"/>
          <p:cNvSpPr/>
          <p:nvPr/>
        </p:nvSpPr>
        <p:spPr>
          <a:xfrm>
            <a:off x="914400" y="160920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Bill 500–800 DZD/scan while paying us 150–250 DZD → direct profit per scan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7"/>
          <p:cNvSpPr/>
          <p:nvPr/>
        </p:nvSpPr>
        <p:spPr>
          <a:xfrm>
            <a:off x="320040" y="2075760"/>
            <a:ext cx="475200" cy="4752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8"/>
          <p:cNvSpPr/>
          <p:nvPr/>
        </p:nvSpPr>
        <p:spPr>
          <a:xfrm>
            <a:off x="320040" y="20757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9"/>
          <p:cNvSpPr/>
          <p:nvPr/>
        </p:nvSpPr>
        <p:spPr>
          <a:xfrm>
            <a:off x="914400" y="207576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Eliminate lab overhead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0"/>
          <p:cNvSpPr/>
          <p:nvPr/>
        </p:nvSpPr>
        <p:spPr>
          <a:xfrm>
            <a:off x="914400" y="23133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Save 1 200–2 500 DZD per test avoided in reagents, technician overtime &amp; equipment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11"/>
          <p:cNvSpPr/>
          <p:nvPr/>
        </p:nvSpPr>
        <p:spPr>
          <a:xfrm>
            <a:off x="320040" y="2779920"/>
            <a:ext cx="475200" cy="4752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2"/>
          <p:cNvSpPr/>
          <p:nvPr/>
        </p:nvSpPr>
        <p:spPr>
          <a:xfrm>
            <a:off x="320040" y="27799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13"/>
          <p:cNvSpPr/>
          <p:nvPr/>
        </p:nvSpPr>
        <p:spPr>
          <a:xfrm>
            <a:off x="914400" y="277992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Increase patient throughput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14"/>
          <p:cNvSpPr/>
          <p:nvPr/>
        </p:nvSpPr>
        <p:spPr>
          <a:xfrm>
            <a:off x="914400" y="301752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Faster diagnosis = more consultations per day = more revenue per bed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5"/>
          <p:cNvSpPr/>
          <p:nvPr/>
        </p:nvSpPr>
        <p:spPr>
          <a:xfrm>
            <a:off x="320040" y="3483720"/>
            <a:ext cx="475200" cy="4752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16"/>
          <p:cNvSpPr/>
          <p:nvPr/>
        </p:nvSpPr>
        <p:spPr>
          <a:xfrm>
            <a:off x="320040" y="3483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17"/>
          <p:cNvSpPr/>
          <p:nvPr/>
        </p:nvSpPr>
        <p:spPr>
          <a:xfrm>
            <a:off x="914400" y="348372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CNAS/insurance billing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18"/>
          <p:cNvSpPr/>
          <p:nvPr/>
        </p:nvSpPr>
        <p:spPr>
          <a:xfrm>
            <a:off x="914400" y="37216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AI screenings are being integrated into CNAS reimbursement billing codes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9"/>
          <p:cNvSpPr/>
          <p:nvPr/>
        </p:nvSpPr>
        <p:spPr>
          <a:xfrm>
            <a:off x="320040" y="4187880"/>
            <a:ext cx="475200" cy="47520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20"/>
          <p:cNvSpPr/>
          <p:nvPr/>
        </p:nvSpPr>
        <p:spPr>
          <a:xfrm>
            <a:off x="320040" y="4187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1"/>
          <p:cNvSpPr/>
          <p:nvPr/>
        </p:nvSpPr>
        <p:spPr>
          <a:xfrm>
            <a:off x="914400" y="418788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2e4e"/>
                </a:solidFill>
                <a:latin typeface="Calibri"/>
                <a:ea typeface="Calibri"/>
              </a:rPr>
              <a:t>Premium 'AI hospital' positioning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2"/>
          <p:cNvSpPr/>
          <p:nvPr/>
        </p:nvSpPr>
        <p:spPr>
          <a:xfrm>
            <a:off x="914400" y="442584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Attract more patients, justify higher consultation fees vs non-AI competitors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23"/>
          <p:cNvSpPr/>
          <p:nvPr/>
        </p:nvSpPr>
        <p:spPr>
          <a:xfrm>
            <a:off x="5486400" y="1325880"/>
            <a:ext cx="3337200" cy="35658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24"/>
          <p:cNvSpPr/>
          <p:nvPr/>
        </p:nvSpPr>
        <p:spPr>
          <a:xfrm>
            <a:off x="5577840" y="141732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ROI Calculator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25"/>
          <p:cNvSpPr/>
          <p:nvPr/>
        </p:nvSpPr>
        <p:spPr>
          <a:xfrm>
            <a:off x="5577840" y="173736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Hospital doing 100 scans/day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26"/>
          <p:cNvSpPr/>
          <p:nvPr/>
        </p:nvSpPr>
        <p:spPr>
          <a:xfrm>
            <a:off x="5577840" y="210312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27"/>
          <p:cNvSpPr/>
          <p:nvPr/>
        </p:nvSpPr>
        <p:spPr>
          <a:xfrm>
            <a:off x="5669280" y="212148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Monthly subscription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28"/>
          <p:cNvSpPr/>
          <p:nvPr/>
        </p:nvSpPr>
        <p:spPr>
          <a:xfrm>
            <a:off x="7315200" y="212148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200 000 DZD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9"/>
          <p:cNvSpPr/>
          <p:nvPr/>
        </p:nvSpPr>
        <p:spPr>
          <a:xfrm>
            <a:off x="5577840" y="254196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30"/>
          <p:cNvSpPr/>
          <p:nvPr/>
        </p:nvSpPr>
        <p:spPr>
          <a:xfrm>
            <a:off x="5669280" y="256032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Scans/month (100×30)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31"/>
          <p:cNvSpPr/>
          <p:nvPr/>
        </p:nvSpPr>
        <p:spPr>
          <a:xfrm>
            <a:off x="7315200" y="256032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3 000 scans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32"/>
          <p:cNvSpPr/>
          <p:nvPr/>
        </p:nvSpPr>
        <p:spPr>
          <a:xfrm>
            <a:off x="5577840" y="298080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33"/>
          <p:cNvSpPr/>
          <p:nvPr/>
        </p:nvSpPr>
        <p:spPr>
          <a:xfrm>
            <a:off x="5669280" y="299916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Saved per scan (avg)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34"/>
          <p:cNvSpPr/>
          <p:nvPr/>
        </p:nvSpPr>
        <p:spPr>
          <a:xfrm>
            <a:off x="7315200" y="299916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1 200 DZD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35"/>
          <p:cNvSpPr/>
          <p:nvPr/>
        </p:nvSpPr>
        <p:spPr>
          <a:xfrm>
            <a:off x="5577840" y="342000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36"/>
          <p:cNvSpPr/>
          <p:nvPr/>
        </p:nvSpPr>
        <p:spPr>
          <a:xfrm>
            <a:off x="5669280" y="343800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Total lab saving/month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37"/>
          <p:cNvSpPr/>
          <p:nvPr/>
        </p:nvSpPr>
        <p:spPr>
          <a:xfrm>
            <a:off x="7315200" y="343800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3 600 000 DZD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38"/>
          <p:cNvSpPr/>
          <p:nvPr/>
        </p:nvSpPr>
        <p:spPr>
          <a:xfrm>
            <a:off x="5577840" y="3858840"/>
            <a:ext cx="3154320" cy="383760"/>
          </a:xfrm>
          <a:prstGeom prst="rect">
            <a:avLst/>
          </a:prstGeom>
          <a:solidFill>
            <a:srgbClr val="0d3d5c"/>
          </a:solidFill>
          <a:ln w="12700">
            <a:solidFill>
              <a:srgbClr val="1a5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39"/>
          <p:cNvSpPr/>
          <p:nvPr/>
        </p:nvSpPr>
        <p:spPr>
          <a:xfrm>
            <a:off x="5669280" y="387720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0c8d8"/>
                </a:solidFill>
                <a:latin typeface="Calibri"/>
                <a:ea typeface="Calibri"/>
              </a:rPr>
              <a:t>Net benefit/month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40"/>
          <p:cNvSpPr/>
          <p:nvPr/>
        </p:nvSpPr>
        <p:spPr>
          <a:xfrm>
            <a:off x="7315200" y="387720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3 400 000 DZD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41"/>
          <p:cNvSpPr/>
          <p:nvPr/>
        </p:nvSpPr>
        <p:spPr>
          <a:xfrm>
            <a:off x="5577840" y="4297680"/>
            <a:ext cx="3154320" cy="383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42"/>
          <p:cNvSpPr/>
          <p:nvPr/>
        </p:nvSpPr>
        <p:spPr>
          <a:xfrm>
            <a:off x="5669280" y="431604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71e2e"/>
                </a:solidFill>
                <a:latin typeface="Calibri"/>
                <a:ea typeface="Calibri"/>
              </a:rPr>
              <a:t>ROI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43"/>
          <p:cNvSpPr/>
          <p:nvPr/>
        </p:nvSpPr>
        <p:spPr>
          <a:xfrm>
            <a:off x="7315200" y="431604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71e2e"/>
                </a:solidFill>
                <a:latin typeface="Calibri"/>
                <a:ea typeface="Calibri"/>
              </a:rPr>
              <a:t>1 700%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COMPETITIVE LANDSCAPE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b2e4e"/>
                </a:solidFill>
                <a:latin typeface="Calibri"/>
                <a:ea typeface="Calibri"/>
              </a:rPr>
              <a:t>Where we stand in Algeria's health-tech market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3"/>
          <p:cNvSpPr/>
          <p:nvPr/>
        </p:nvSpPr>
        <p:spPr>
          <a:xfrm>
            <a:off x="274320" y="1325880"/>
            <a:ext cx="2011320" cy="3470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4"/>
          <p:cNvSpPr/>
          <p:nvPr/>
        </p:nvSpPr>
        <p:spPr>
          <a:xfrm>
            <a:off x="274320" y="13258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Competitor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5"/>
          <p:cNvSpPr/>
          <p:nvPr/>
        </p:nvSpPr>
        <p:spPr>
          <a:xfrm>
            <a:off x="2423160" y="1325880"/>
            <a:ext cx="1737000" cy="347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6"/>
          <p:cNvSpPr/>
          <p:nvPr/>
        </p:nvSpPr>
        <p:spPr>
          <a:xfrm>
            <a:off x="2423160" y="132588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Type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7"/>
          <p:cNvSpPr/>
          <p:nvPr/>
        </p:nvSpPr>
        <p:spPr>
          <a:xfrm>
            <a:off x="4297680" y="1325880"/>
            <a:ext cx="1782720" cy="3470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8"/>
          <p:cNvSpPr/>
          <p:nvPr/>
        </p:nvSpPr>
        <p:spPr>
          <a:xfrm>
            <a:off x="4297680" y="1325880"/>
            <a:ext cx="178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Algeria presence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9"/>
          <p:cNvSpPr/>
          <p:nvPr/>
        </p:nvSpPr>
        <p:spPr>
          <a:xfrm>
            <a:off x="6217920" y="1325880"/>
            <a:ext cx="2651400" cy="34704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10"/>
          <p:cNvSpPr/>
          <p:nvPr/>
        </p:nvSpPr>
        <p:spPr>
          <a:xfrm>
            <a:off x="6217920" y="132588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Gap we fill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1"/>
          <p:cNvSpPr/>
          <p:nvPr/>
        </p:nvSpPr>
        <p:spPr>
          <a:xfrm>
            <a:off x="274320" y="1682640"/>
            <a:ext cx="201132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12"/>
          <p:cNvSpPr/>
          <p:nvPr/>
        </p:nvSpPr>
        <p:spPr>
          <a:xfrm>
            <a:off x="347400" y="171000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Sysmex / Mindray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3"/>
          <p:cNvSpPr/>
          <p:nvPr/>
        </p:nvSpPr>
        <p:spPr>
          <a:xfrm>
            <a:off x="2423160" y="1682640"/>
            <a:ext cx="173700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14"/>
          <p:cNvSpPr/>
          <p:nvPr/>
        </p:nvSpPr>
        <p:spPr>
          <a:xfrm>
            <a:off x="2496240" y="171000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Hardware analyzer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15"/>
          <p:cNvSpPr/>
          <p:nvPr/>
        </p:nvSpPr>
        <p:spPr>
          <a:xfrm>
            <a:off x="4297680" y="1682640"/>
            <a:ext cx="178272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16"/>
          <p:cNvSpPr/>
          <p:nvPr/>
        </p:nvSpPr>
        <p:spPr>
          <a:xfrm>
            <a:off x="4370760" y="171000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Strong — high cost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17"/>
          <p:cNvSpPr/>
          <p:nvPr/>
        </p:nvSpPr>
        <p:spPr>
          <a:xfrm>
            <a:off x="6217920" y="1682640"/>
            <a:ext cx="265140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18"/>
          <p:cNvSpPr/>
          <p:nvPr/>
        </p:nvSpPr>
        <p:spPr>
          <a:xfrm>
            <a:off x="6291000" y="171000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No upfront investment needed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19"/>
          <p:cNvSpPr/>
          <p:nvPr/>
        </p:nvSpPr>
        <p:spPr>
          <a:xfrm>
            <a:off x="274320" y="2194560"/>
            <a:ext cx="201132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20"/>
          <p:cNvSpPr/>
          <p:nvPr/>
        </p:nvSpPr>
        <p:spPr>
          <a:xfrm>
            <a:off x="347400" y="222192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Private labs (Pasteur etc.)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21"/>
          <p:cNvSpPr/>
          <p:nvPr/>
        </p:nvSpPr>
        <p:spPr>
          <a:xfrm>
            <a:off x="2423160" y="2194560"/>
            <a:ext cx="17370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22"/>
          <p:cNvSpPr/>
          <p:nvPr/>
        </p:nvSpPr>
        <p:spPr>
          <a:xfrm>
            <a:off x="2496240" y="222192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Manual CBC lab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23"/>
          <p:cNvSpPr/>
          <p:nvPr/>
        </p:nvSpPr>
        <p:spPr>
          <a:xfrm>
            <a:off x="4297680" y="2194560"/>
            <a:ext cx="178272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24"/>
          <p:cNvSpPr/>
          <p:nvPr/>
        </p:nvSpPr>
        <p:spPr>
          <a:xfrm>
            <a:off x="4370760" y="222192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Nationwide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25"/>
          <p:cNvSpPr/>
          <p:nvPr/>
        </p:nvSpPr>
        <p:spPr>
          <a:xfrm>
            <a:off x="6217920" y="2194560"/>
            <a:ext cx="26514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26"/>
          <p:cNvSpPr/>
          <p:nvPr/>
        </p:nvSpPr>
        <p:spPr>
          <a:xfrm>
            <a:off x="6291000" y="222192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Mobile, instant, 10× cheaper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27"/>
          <p:cNvSpPr/>
          <p:nvPr/>
        </p:nvSpPr>
        <p:spPr>
          <a:xfrm>
            <a:off x="274320" y="2706480"/>
            <a:ext cx="201132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28"/>
          <p:cNvSpPr/>
          <p:nvPr/>
        </p:nvSpPr>
        <p:spPr>
          <a:xfrm>
            <a:off x="347400" y="273420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Doctocare / Tabiblib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29"/>
          <p:cNvSpPr/>
          <p:nvPr/>
        </p:nvSpPr>
        <p:spPr>
          <a:xfrm>
            <a:off x="2423160" y="2706480"/>
            <a:ext cx="173700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30"/>
          <p:cNvSpPr/>
          <p:nvPr/>
        </p:nvSpPr>
        <p:spPr>
          <a:xfrm>
            <a:off x="2496240" y="273420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Appointment apps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31"/>
          <p:cNvSpPr/>
          <p:nvPr/>
        </p:nvSpPr>
        <p:spPr>
          <a:xfrm>
            <a:off x="4297680" y="2706480"/>
            <a:ext cx="178272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32"/>
          <p:cNvSpPr/>
          <p:nvPr/>
        </p:nvSpPr>
        <p:spPr>
          <a:xfrm>
            <a:off x="4370760" y="273420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Growing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33"/>
          <p:cNvSpPr/>
          <p:nvPr/>
        </p:nvSpPr>
        <p:spPr>
          <a:xfrm>
            <a:off x="6217920" y="2706480"/>
            <a:ext cx="2651400" cy="49356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34"/>
          <p:cNvSpPr/>
          <p:nvPr/>
        </p:nvSpPr>
        <p:spPr>
          <a:xfrm>
            <a:off x="6291000" y="273420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Diagnostics, not scheduling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35"/>
          <p:cNvSpPr/>
          <p:nvPr/>
        </p:nvSpPr>
        <p:spPr>
          <a:xfrm>
            <a:off x="274320" y="3218760"/>
            <a:ext cx="201132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36"/>
          <p:cNvSpPr/>
          <p:nvPr/>
        </p:nvSpPr>
        <p:spPr>
          <a:xfrm>
            <a:off x="347400" y="324612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Scanwell / Sight OAL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37"/>
          <p:cNvSpPr/>
          <p:nvPr/>
        </p:nvSpPr>
        <p:spPr>
          <a:xfrm>
            <a:off x="2423160" y="3218760"/>
            <a:ext cx="17370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38"/>
          <p:cNvSpPr/>
          <p:nvPr/>
        </p:nvSpPr>
        <p:spPr>
          <a:xfrm>
            <a:off x="2496240" y="324612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AI diagnostics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39"/>
          <p:cNvSpPr/>
          <p:nvPr/>
        </p:nvSpPr>
        <p:spPr>
          <a:xfrm>
            <a:off x="4297680" y="3218760"/>
            <a:ext cx="178272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40"/>
          <p:cNvSpPr/>
          <p:nvPr/>
        </p:nvSpPr>
        <p:spPr>
          <a:xfrm>
            <a:off x="4370760" y="324612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Not present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41"/>
          <p:cNvSpPr/>
          <p:nvPr/>
        </p:nvSpPr>
        <p:spPr>
          <a:xfrm>
            <a:off x="6217920" y="3218760"/>
            <a:ext cx="26514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42"/>
          <p:cNvSpPr/>
          <p:nvPr/>
        </p:nvSpPr>
        <p:spPr>
          <a:xfrm>
            <a:off x="6291000" y="324612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Local pricing + Arabic support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43"/>
          <p:cNvSpPr/>
          <p:nvPr/>
        </p:nvSpPr>
        <p:spPr>
          <a:xfrm>
            <a:off x="274320" y="3730680"/>
            <a:ext cx="2011320" cy="493560"/>
          </a:xfrm>
          <a:prstGeom prst="rect">
            <a:avLst/>
          </a:prstGeom>
          <a:solidFill>
            <a:srgbClr val="e8f8f2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44"/>
          <p:cNvSpPr/>
          <p:nvPr/>
        </p:nvSpPr>
        <p:spPr>
          <a:xfrm>
            <a:off x="347400" y="375804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8090"/>
                </a:solidFill>
                <a:latin typeface="Calibri"/>
                <a:ea typeface="Calibri"/>
              </a:rPr>
              <a:t>AnemiaAI (us)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45"/>
          <p:cNvSpPr/>
          <p:nvPr/>
        </p:nvSpPr>
        <p:spPr>
          <a:xfrm>
            <a:off x="2423160" y="3730680"/>
            <a:ext cx="1737000" cy="493560"/>
          </a:xfrm>
          <a:prstGeom prst="rect">
            <a:avLst/>
          </a:prstGeom>
          <a:solidFill>
            <a:srgbClr val="e8f8f2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46"/>
          <p:cNvSpPr/>
          <p:nvPr/>
        </p:nvSpPr>
        <p:spPr>
          <a:xfrm>
            <a:off x="2496240" y="375804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8090"/>
                </a:solidFill>
                <a:latin typeface="Calibri"/>
                <a:ea typeface="Calibri"/>
              </a:rPr>
              <a:t>AI screening SaaS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47"/>
          <p:cNvSpPr/>
          <p:nvPr/>
        </p:nvSpPr>
        <p:spPr>
          <a:xfrm>
            <a:off x="4297680" y="3730680"/>
            <a:ext cx="1782720" cy="493560"/>
          </a:xfrm>
          <a:prstGeom prst="rect">
            <a:avLst/>
          </a:prstGeom>
          <a:solidFill>
            <a:srgbClr val="e8f8f2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48"/>
          <p:cNvSpPr/>
          <p:nvPr/>
        </p:nvSpPr>
        <p:spPr>
          <a:xfrm>
            <a:off x="4370760" y="3758040"/>
            <a:ext cx="1636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8090"/>
                </a:solidFill>
                <a:latin typeface="Calibri"/>
                <a:ea typeface="Calibri"/>
              </a:rPr>
              <a:t>First mover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49"/>
          <p:cNvSpPr/>
          <p:nvPr/>
        </p:nvSpPr>
        <p:spPr>
          <a:xfrm>
            <a:off x="6217920" y="3730680"/>
            <a:ext cx="2651400" cy="493560"/>
          </a:xfrm>
          <a:prstGeom prst="rect">
            <a:avLst/>
          </a:prstGeom>
          <a:solidFill>
            <a:srgbClr val="e8f8f2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50"/>
          <p:cNvSpPr/>
          <p:nvPr/>
        </p:nvSpPr>
        <p:spPr>
          <a:xfrm>
            <a:off x="6291000" y="3758040"/>
            <a:ext cx="2505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28090"/>
                </a:solidFill>
                <a:latin typeface="Calibri"/>
                <a:ea typeface="Calibri"/>
              </a:rPr>
              <a:t>Full package: local + affordable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51"/>
          <p:cNvSpPr/>
          <p:nvPr/>
        </p:nvSpPr>
        <p:spPr>
          <a:xfrm>
            <a:off x="274320" y="4343400"/>
            <a:ext cx="2697120" cy="63972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52"/>
          <p:cNvSpPr/>
          <p:nvPr/>
        </p:nvSpPr>
        <p:spPr>
          <a:xfrm>
            <a:off x="274320" y="4343400"/>
            <a:ext cx="63720" cy="639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53"/>
          <p:cNvSpPr/>
          <p:nvPr/>
        </p:nvSpPr>
        <p:spPr>
          <a:xfrm>
            <a:off x="438840" y="437076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Data moat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54"/>
          <p:cNvSpPr/>
          <p:nvPr/>
        </p:nvSpPr>
        <p:spPr>
          <a:xfrm>
            <a:off x="438840" y="45903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a7080"/>
                </a:solidFill>
                <a:latin typeface="Calibri"/>
                <a:ea typeface="Calibri"/>
              </a:rPr>
              <a:t>Every scan improves our model. Local Algerian data competitors cannot access.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55"/>
          <p:cNvSpPr/>
          <p:nvPr/>
        </p:nvSpPr>
        <p:spPr>
          <a:xfrm>
            <a:off x="3200400" y="4343400"/>
            <a:ext cx="2697120" cy="63972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56"/>
          <p:cNvSpPr/>
          <p:nvPr/>
        </p:nvSpPr>
        <p:spPr>
          <a:xfrm>
            <a:off x="3200400" y="4343400"/>
            <a:ext cx="63720" cy="63972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57"/>
          <p:cNvSpPr/>
          <p:nvPr/>
        </p:nvSpPr>
        <p:spPr>
          <a:xfrm>
            <a:off x="3364920" y="437076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Switching cost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58"/>
          <p:cNvSpPr/>
          <p:nvPr/>
        </p:nvSpPr>
        <p:spPr>
          <a:xfrm>
            <a:off x="3364920" y="45903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a7080"/>
                </a:solidFill>
                <a:latin typeface="Calibri"/>
                <a:ea typeface="Calibri"/>
              </a:rPr>
              <a:t>Once integrated into HIS/EHR, switching requires retraining and re-approval.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59"/>
          <p:cNvSpPr/>
          <p:nvPr/>
        </p:nvSpPr>
        <p:spPr>
          <a:xfrm>
            <a:off x="6126480" y="4343400"/>
            <a:ext cx="2697120" cy="63972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60"/>
          <p:cNvSpPr/>
          <p:nvPr/>
        </p:nvSpPr>
        <p:spPr>
          <a:xfrm>
            <a:off x="6126480" y="4343400"/>
            <a:ext cx="63720" cy="63972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61"/>
          <p:cNvSpPr/>
          <p:nvPr/>
        </p:nvSpPr>
        <p:spPr>
          <a:xfrm>
            <a:off x="6291000" y="437076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Local compliance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62"/>
          <p:cNvSpPr/>
          <p:nvPr/>
        </p:nvSpPr>
        <p:spPr>
          <a:xfrm>
            <a:off x="6291000" y="4590360"/>
            <a:ext cx="2468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a7080"/>
                </a:solidFill>
                <a:latin typeface="Calibri"/>
                <a:ea typeface="Calibri"/>
              </a:rPr>
              <a:t>MSPRH / CNAS / ONSSA knowledge that foreign players take 3+ years to replicate.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GO-TO-MARKET STRATEGY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3-Phase B2B Rollout Across Algeria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3"/>
          <p:cNvSpPr/>
          <p:nvPr/>
        </p:nvSpPr>
        <p:spPr>
          <a:xfrm>
            <a:off x="274320" y="1371600"/>
            <a:ext cx="2697120" cy="35658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4"/>
          <p:cNvSpPr/>
          <p:nvPr/>
        </p:nvSpPr>
        <p:spPr>
          <a:xfrm>
            <a:off x="274320" y="1371600"/>
            <a:ext cx="2697120" cy="59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5"/>
          <p:cNvSpPr/>
          <p:nvPr/>
        </p:nvSpPr>
        <p:spPr>
          <a:xfrm>
            <a:off x="384120" y="1426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6"/>
          <p:cNvSpPr/>
          <p:nvPr/>
        </p:nvSpPr>
        <p:spPr>
          <a:xfrm>
            <a:off x="877680" y="1426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Clinical Pilot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7"/>
          <p:cNvSpPr/>
          <p:nvPr/>
        </p:nvSpPr>
        <p:spPr>
          <a:xfrm>
            <a:off x="877680" y="1664280"/>
            <a:ext cx="1919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0d8ec"/>
                </a:solidFill>
                <a:latin typeface="Calibri"/>
                <a:ea typeface="Calibri"/>
              </a:rPr>
              <a:t>Months 1–6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6" name="Image 0" descr="preencoded.png"/>
          <p:cNvPicPr/>
          <p:nvPr/>
        </p:nvPicPr>
        <p:blipFill>
          <a:blip r:embed="rId1"/>
          <a:stretch/>
        </p:blipFill>
        <p:spPr>
          <a:xfrm>
            <a:off x="438840" y="21214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37" name="Text 8"/>
          <p:cNvSpPr/>
          <p:nvPr/>
        </p:nvSpPr>
        <p:spPr>
          <a:xfrm>
            <a:off x="676800" y="208476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Partner with 3–5 hospitals (Algiers, Oran, Constantine)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8" name="Image 1" descr="preencoded.png"/>
          <p:cNvPicPr/>
          <p:nvPr/>
        </p:nvPicPr>
        <p:blipFill>
          <a:blip r:embed="rId2"/>
          <a:stretch/>
        </p:blipFill>
        <p:spPr>
          <a:xfrm>
            <a:off x="438840" y="27799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39" name="Text 9"/>
          <p:cNvSpPr/>
          <p:nvPr/>
        </p:nvSpPr>
        <p:spPr>
          <a:xfrm>
            <a:off x="676800" y="274320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Offer free 3-month pilot with full data access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0" name="Image 2" descr="preencoded.png"/>
          <p:cNvPicPr/>
          <p:nvPr/>
        </p:nvPicPr>
        <p:blipFill>
          <a:blip r:embed="rId3"/>
          <a:stretch/>
        </p:blipFill>
        <p:spPr>
          <a:xfrm>
            <a:off x="438840" y="34380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41" name="Text 10"/>
          <p:cNvSpPr/>
          <p:nvPr/>
        </p:nvSpPr>
        <p:spPr>
          <a:xfrm>
            <a:off x="676800" y="340164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Co-author clinical validation study with CHU champion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2" name="Image 3" descr="preencoded.png"/>
          <p:cNvPicPr/>
          <p:nvPr/>
        </p:nvPicPr>
        <p:blipFill>
          <a:blip r:embed="rId4"/>
          <a:stretch/>
        </p:blipFill>
        <p:spPr>
          <a:xfrm>
            <a:off x="438840" y="40964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43" name="Text 11"/>
          <p:cNvSpPr/>
          <p:nvPr/>
        </p:nvSpPr>
        <p:spPr>
          <a:xfrm>
            <a:off x="676800" y="406008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Target accuracy ≥ 92%, collect Algerian case studies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2"/>
          <p:cNvSpPr/>
          <p:nvPr/>
        </p:nvSpPr>
        <p:spPr>
          <a:xfrm>
            <a:off x="3182040" y="1371600"/>
            <a:ext cx="2697120" cy="35658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13"/>
          <p:cNvSpPr/>
          <p:nvPr/>
        </p:nvSpPr>
        <p:spPr>
          <a:xfrm>
            <a:off x="3182040" y="1371600"/>
            <a:ext cx="2697120" cy="5940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14"/>
          <p:cNvSpPr/>
          <p:nvPr/>
        </p:nvSpPr>
        <p:spPr>
          <a:xfrm>
            <a:off x="3291840" y="1426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15"/>
          <p:cNvSpPr/>
          <p:nvPr/>
        </p:nvSpPr>
        <p:spPr>
          <a:xfrm>
            <a:off x="3785760" y="1426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B2B Expansion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16"/>
          <p:cNvSpPr/>
          <p:nvPr/>
        </p:nvSpPr>
        <p:spPr>
          <a:xfrm>
            <a:off x="3785760" y="1664280"/>
            <a:ext cx="1919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0d8ec"/>
                </a:solidFill>
                <a:latin typeface="Calibri"/>
                <a:ea typeface="Calibri"/>
              </a:rPr>
              <a:t>Months 7–18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9" name="Image 4" descr="preencoded.png"/>
          <p:cNvPicPr/>
          <p:nvPr/>
        </p:nvPicPr>
        <p:blipFill>
          <a:blip r:embed="rId5"/>
          <a:stretch/>
        </p:blipFill>
        <p:spPr>
          <a:xfrm>
            <a:off x="3346560" y="21214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50" name="Text 17"/>
          <p:cNvSpPr/>
          <p:nvPr/>
        </p:nvSpPr>
        <p:spPr>
          <a:xfrm>
            <a:off x="3584520" y="208476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Convert pilots to paid Starter/Professional contracts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1" name="Image 5" descr="preencoded.png"/>
          <p:cNvPicPr/>
          <p:nvPr/>
        </p:nvPicPr>
        <p:blipFill>
          <a:blip r:embed="rId6"/>
          <a:stretch/>
        </p:blipFill>
        <p:spPr>
          <a:xfrm>
            <a:off x="3346560" y="27799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52" name="Text 18"/>
          <p:cNvSpPr/>
          <p:nvPr/>
        </p:nvSpPr>
        <p:spPr>
          <a:xfrm>
            <a:off x="3584520" y="274320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Target 50 facilities across 10 wilayas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3" name="Image 6" descr="preencoded.png"/>
          <p:cNvPicPr/>
          <p:nvPr/>
        </p:nvPicPr>
        <p:blipFill>
          <a:blip r:embed="rId7"/>
          <a:stretch/>
        </p:blipFill>
        <p:spPr>
          <a:xfrm>
            <a:off x="3346560" y="34380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54" name="Text 19"/>
          <p:cNvSpPr/>
          <p:nvPr/>
        </p:nvSpPr>
        <p:spPr>
          <a:xfrm>
            <a:off x="3584520" y="340164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Present at SIPHAL pharmacy convention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5" name="Image 7" descr="preencoded.png"/>
          <p:cNvPicPr/>
          <p:nvPr/>
        </p:nvPicPr>
        <p:blipFill>
          <a:blip r:embed="rId8"/>
          <a:stretch/>
        </p:blipFill>
        <p:spPr>
          <a:xfrm>
            <a:off x="3346560" y="40964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56" name="Text 20"/>
          <p:cNvSpPr/>
          <p:nvPr/>
        </p:nvSpPr>
        <p:spPr>
          <a:xfrm>
            <a:off x="3584520" y="406008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Apply for MSPRH approval &amp; CNAS billing code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21"/>
          <p:cNvSpPr/>
          <p:nvPr/>
        </p:nvSpPr>
        <p:spPr>
          <a:xfrm>
            <a:off x="6089760" y="1371600"/>
            <a:ext cx="2697120" cy="356580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22"/>
          <p:cNvSpPr/>
          <p:nvPr/>
        </p:nvSpPr>
        <p:spPr>
          <a:xfrm>
            <a:off x="6089760" y="1371600"/>
            <a:ext cx="2697120" cy="5940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23"/>
          <p:cNvSpPr/>
          <p:nvPr/>
        </p:nvSpPr>
        <p:spPr>
          <a:xfrm>
            <a:off x="6199560" y="1426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 24"/>
          <p:cNvSpPr/>
          <p:nvPr/>
        </p:nvSpPr>
        <p:spPr>
          <a:xfrm>
            <a:off x="6693480" y="1426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National Scale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25"/>
          <p:cNvSpPr/>
          <p:nvPr/>
        </p:nvSpPr>
        <p:spPr>
          <a:xfrm>
            <a:off x="6693480" y="1664280"/>
            <a:ext cx="1919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0d8ec"/>
                </a:solidFill>
                <a:latin typeface="Calibri"/>
                <a:ea typeface="Calibri"/>
              </a:rPr>
              <a:t>Month 18+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2" name="Image 8" descr="preencoded.png"/>
          <p:cNvPicPr/>
          <p:nvPr/>
        </p:nvPicPr>
        <p:blipFill>
          <a:blip r:embed="rId9"/>
          <a:stretch/>
        </p:blipFill>
        <p:spPr>
          <a:xfrm>
            <a:off x="6254640" y="21214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63" name="Text 26"/>
          <p:cNvSpPr/>
          <p:nvPr/>
        </p:nvSpPr>
        <p:spPr>
          <a:xfrm>
            <a:off x="6492240" y="208476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MoH framework tender — win 100+ hospitals at once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4" name="Image 9" descr="preencoded.png"/>
          <p:cNvPicPr/>
          <p:nvPr/>
        </p:nvPicPr>
        <p:blipFill>
          <a:blip r:embed="rId10"/>
          <a:stretch/>
        </p:blipFill>
        <p:spPr>
          <a:xfrm>
            <a:off x="6254640" y="27799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65" name="Text 27"/>
          <p:cNvSpPr/>
          <p:nvPr/>
        </p:nvSpPr>
        <p:spPr>
          <a:xfrm>
            <a:off x="6492240" y="274320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Freemium tier: 10 free scans/month for rural EPHs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6" name="Image 10" descr="preencoded.png"/>
          <p:cNvPicPr/>
          <p:nvPr/>
        </p:nvPicPr>
        <p:blipFill>
          <a:blip r:embed="rId11"/>
          <a:stretch/>
        </p:blipFill>
        <p:spPr>
          <a:xfrm>
            <a:off x="6254640" y="34380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67" name="Text 28"/>
          <p:cNvSpPr/>
          <p:nvPr/>
        </p:nvSpPr>
        <p:spPr>
          <a:xfrm>
            <a:off x="6492240" y="340164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API licensing to EHR/HIS vendors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8" name="Image 11" descr="preencoded.png"/>
          <p:cNvPicPr/>
          <p:nvPr/>
        </p:nvPicPr>
        <p:blipFill>
          <a:blip r:embed="rId12"/>
          <a:stretch/>
        </p:blipFill>
        <p:spPr>
          <a:xfrm>
            <a:off x="6254640" y="409644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569" name="Text 29"/>
          <p:cNvSpPr/>
          <p:nvPr/>
        </p:nvSpPr>
        <p:spPr>
          <a:xfrm>
            <a:off x="6492240" y="4060080"/>
            <a:ext cx="2212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7080"/>
                </a:solidFill>
                <a:latin typeface="Calibri"/>
                <a:ea typeface="Calibri"/>
              </a:rPr>
              <a:t>Regional expansion: Morocco, Tunisia, Mauritania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30"/>
          <p:cNvSpPr/>
          <p:nvPr/>
        </p:nvSpPr>
        <p:spPr>
          <a:xfrm>
            <a:off x="274320" y="49561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b2e4e"/>
                </a:solidFill>
                <a:latin typeface="Calibri"/>
                <a:ea typeface="Calibri"/>
              </a:rPr>
              <a:t>Sales channels: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31"/>
          <p:cNvSpPr/>
          <p:nvPr/>
        </p:nvSpPr>
        <p:spPr>
          <a:xfrm>
            <a:off x="1600200" y="4919400"/>
            <a:ext cx="1737000" cy="2739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32"/>
          <p:cNvSpPr/>
          <p:nvPr/>
        </p:nvSpPr>
        <p:spPr>
          <a:xfrm>
            <a:off x="1600200" y="49194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2c39a"/>
                </a:solidFill>
                <a:latin typeface="Calibri"/>
                <a:ea typeface="Calibri"/>
              </a:rPr>
              <a:t>Direct B2B sales team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33"/>
          <p:cNvSpPr/>
          <p:nvPr/>
        </p:nvSpPr>
        <p:spPr>
          <a:xfrm>
            <a:off x="3474720" y="4919400"/>
            <a:ext cx="1737000" cy="2739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34"/>
          <p:cNvSpPr/>
          <p:nvPr/>
        </p:nvSpPr>
        <p:spPr>
          <a:xfrm>
            <a:off x="3474720" y="49194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2c39a"/>
                </a:solidFill>
                <a:latin typeface="Calibri"/>
                <a:ea typeface="Calibri"/>
              </a:rPr>
              <a:t>MoH public tender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35"/>
          <p:cNvSpPr/>
          <p:nvPr/>
        </p:nvSpPr>
        <p:spPr>
          <a:xfrm>
            <a:off x="5349240" y="4919400"/>
            <a:ext cx="1737000" cy="2739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36"/>
          <p:cNvSpPr/>
          <p:nvPr/>
        </p:nvSpPr>
        <p:spPr>
          <a:xfrm>
            <a:off x="5349240" y="49194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2c39a"/>
                </a:solidFill>
                <a:latin typeface="Calibri"/>
                <a:ea typeface="Calibri"/>
              </a:rPr>
              <a:t>Medical distributors (15-20% commission)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37"/>
          <p:cNvSpPr/>
          <p:nvPr/>
        </p:nvSpPr>
        <p:spPr>
          <a:xfrm>
            <a:off x="7223760" y="4919400"/>
            <a:ext cx="1737000" cy="2739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38"/>
          <p:cNvSpPr/>
          <p:nvPr/>
        </p:nvSpPr>
        <p:spPr>
          <a:xfrm>
            <a:off x="7223760" y="49194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2c39a"/>
                </a:solidFill>
                <a:latin typeface="Calibri"/>
                <a:ea typeface="Calibri"/>
              </a:rPr>
              <a:t>SIPHAL / medical conferences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PARTNERSHIPS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Strategic alliances that accelerate growth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274320" y="132588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4"/>
          <p:cNvSpPr/>
          <p:nvPr/>
        </p:nvSpPr>
        <p:spPr>
          <a:xfrm>
            <a:off x="274320" y="1325880"/>
            <a:ext cx="265140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Shape 5"/>
          <p:cNvSpPr/>
          <p:nvPr/>
        </p:nvSpPr>
        <p:spPr>
          <a:xfrm>
            <a:off x="384120" y="1508760"/>
            <a:ext cx="475200" cy="475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5" name="Image 0" descr="preencoded.png"/>
          <p:cNvPicPr/>
          <p:nvPr/>
        </p:nvPicPr>
        <p:blipFill>
          <a:blip r:embed="rId1"/>
          <a:stretch/>
        </p:blipFill>
        <p:spPr>
          <a:xfrm>
            <a:off x="429840" y="15454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586" name="Text 6"/>
          <p:cNvSpPr/>
          <p:nvPr/>
        </p:nvSpPr>
        <p:spPr>
          <a:xfrm>
            <a:off x="932760" y="154548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CHU / EHS Hospitals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7"/>
          <p:cNvSpPr/>
          <p:nvPr/>
        </p:nvSpPr>
        <p:spPr>
          <a:xfrm>
            <a:off x="411480" y="207576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Clinical validation &amp; co-authorship. Free perpetual license + data revenue share in exchange for study access.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8"/>
          <p:cNvSpPr/>
          <p:nvPr/>
        </p:nvSpPr>
        <p:spPr>
          <a:xfrm>
            <a:off x="3108960" y="132588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9"/>
          <p:cNvSpPr/>
          <p:nvPr/>
        </p:nvSpPr>
        <p:spPr>
          <a:xfrm>
            <a:off x="3108960" y="1325880"/>
            <a:ext cx="2651400" cy="5436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10"/>
          <p:cNvSpPr/>
          <p:nvPr/>
        </p:nvSpPr>
        <p:spPr>
          <a:xfrm>
            <a:off x="3218760" y="1508760"/>
            <a:ext cx="475200" cy="47520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1" name="Image 1" descr="preencoded.png"/>
          <p:cNvPicPr/>
          <p:nvPr/>
        </p:nvPicPr>
        <p:blipFill>
          <a:blip r:embed="rId2"/>
          <a:stretch/>
        </p:blipFill>
        <p:spPr>
          <a:xfrm>
            <a:off x="3264480" y="15454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592" name="Text 11"/>
          <p:cNvSpPr/>
          <p:nvPr/>
        </p:nvSpPr>
        <p:spPr>
          <a:xfrm>
            <a:off x="3767400" y="154548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MSPRH (Ministry of Health)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12"/>
          <p:cNvSpPr/>
          <p:nvPr/>
        </p:nvSpPr>
        <p:spPr>
          <a:xfrm>
            <a:off x="3246120" y="207576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Certification &amp; public-hospital entry. Essential for national rollout via framework tender contracts.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13"/>
          <p:cNvSpPr/>
          <p:nvPr/>
        </p:nvSpPr>
        <p:spPr>
          <a:xfrm>
            <a:off x="5943600" y="132588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14"/>
          <p:cNvSpPr/>
          <p:nvPr/>
        </p:nvSpPr>
        <p:spPr>
          <a:xfrm>
            <a:off x="5943600" y="1325880"/>
            <a:ext cx="2651400" cy="543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15"/>
          <p:cNvSpPr/>
          <p:nvPr/>
        </p:nvSpPr>
        <p:spPr>
          <a:xfrm>
            <a:off x="6053400" y="1508760"/>
            <a:ext cx="475200" cy="47520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7" name="Image 2" descr="preencoded.png"/>
          <p:cNvPicPr/>
          <p:nvPr/>
        </p:nvPicPr>
        <p:blipFill>
          <a:blip r:embed="rId3"/>
          <a:stretch/>
        </p:blipFill>
        <p:spPr>
          <a:xfrm>
            <a:off x="6099120" y="15454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598" name="Text 16"/>
          <p:cNvSpPr/>
          <p:nvPr/>
        </p:nvSpPr>
        <p:spPr>
          <a:xfrm>
            <a:off x="6602040" y="154548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Saidal &amp; Pharma (Iron supplements)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17"/>
          <p:cNvSpPr/>
          <p:nvPr/>
        </p:nvSpPr>
        <p:spPr>
          <a:xfrm>
            <a:off x="6080760" y="207576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They sponsor our app because we identify their target market. Data licensing &amp; co-marketing deals.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18"/>
          <p:cNvSpPr/>
          <p:nvPr/>
        </p:nvSpPr>
        <p:spPr>
          <a:xfrm>
            <a:off x="274320" y="310896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19"/>
          <p:cNvSpPr/>
          <p:nvPr/>
        </p:nvSpPr>
        <p:spPr>
          <a:xfrm>
            <a:off x="274320" y="3108960"/>
            <a:ext cx="2651400" cy="5436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20"/>
          <p:cNvSpPr/>
          <p:nvPr/>
        </p:nvSpPr>
        <p:spPr>
          <a:xfrm>
            <a:off x="384120" y="3291840"/>
            <a:ext cx="475200" cy="47520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3" name="Image 3" descr="preencoded.png"/>
          <p:cNvPicPr/>
          <p:nvPr/>
        </p:nvPicPr>
        <p:blipFill>
          <a:blip r:embed="rId4"/>
          <a:stretch/>
        </p:blipFill>
        <p:spPr>
          <a:xfrm>
            <a:off x="429840" y="33285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604" name="Text 21"/>
          <p:cNvSpPr/>
          <p:nvPr/>
        </p:nvSpPr>
        <p:spPr>
          <a:xfrm>
            <a:off x="932760" y="332856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Djezzy / Ooredoo / Mobilis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22"/>
          <p:cNvSpPr/>
          <p:nvPr/>
        </p:nvSpPr>
        <p:spPr>
          <a:xfrm>
            <a:off x="411480" y="385884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'Health Data Plan' — app traffic is free/subsidized. Reach rural users with zero connectivity cost.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23"/>
          <p:cNvSpPr/>
          <p:nvPr/>
        </p:nvSpPr>
        <p:spPr>
          <a:xfrm>
            <a:off x="3108960" y="310896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24"/>
          <p:cNvSpPr/>
          <p:nvPr/>
        </p:nvSpPr>
        <p:spPr>
          <a:xfrm>
            <a:off x="3108960" y="3108960"/>
            <a:ext cx="2651400" cy="543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25"/>
          <p:cNvSpPr/>
          <p:nvPr/>
        </p:nvSpPr>
        <p:spPr>
          <a:xfrm>
            <a:off x="3218760" y="3291840"/>
            <a:ext cx="475200" cy="4752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9" name="Image 4" descr="preencoded.png"/>
          <p:cNvPicPr/>
          <p:nvPr/>
        </p:nvPicPr>
        <p:blipFill>
          <a:blip r:embed="rId5"/>
          <a:stretch/>
        </p:blipFill>
        <p:spPr>
          <a:xfrm>
            <a:off x="3264480" y="33285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610" name="Text 26"/>
          <p:cNvSpPr/>
          <p:nvPr/>
        </p:nvSpPr>
        <p:spPr>
          <a:xfrm>
            <a:off x="3767400" y="332856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Medical Distributors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27"/>
          <p:cNvSpPr/>
          <p:nvPr/>
        </p:nvSpPr>
        <p:spPr>
          <a:xfrm>
            <a:off x="3246120" y="385884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Companies like Sterimex &amp; Aleph Medical carry us into hospital procurement at 15–20% commission.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28"/>
          <p:cNvSpPr/>
          <p:nvPr/>
        </p:nvSpPr>
        <p:spPr>
          <a:xfrm>
            <a:off x="5943600" y="3108960"/>
            <a:ext cx="2651400" cy="15724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29"/>
          <p:cNvSpPr/>
          <p:nvPr/>
        </p:nvSpPr>
        <p:spPr>
          <a:xfrm>
            <a:off x="5943600" y="3108960"/>
            <a:ext cx="2651400" cy="5436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Shape 30"/>
          <p:cNvSpPr/>
          <p:nvPr/>
        </p:nvSpPr>
        <p:spPr>
          <a:xfrm>
            <a:off x="6053400" y="3291840"/>
            <a:ext cx="475200" cy="475200"/>
          </a:xfrm>
          <a:prstGeom prst="rect">
            <a:avLst/>
          </a:prstGeom>
          <a:solidFill>
            <a:srgbClr val="d94b3a"/>
          </a:solidFill>
          <a:ln w="12700">
            <a:solidFill>
              <a:srgbClr val="d94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5" name="Image 5" descr="preencoded.png"/>
          <p:cNvPicPr/>
          <p:nvPr/>
        </p:nvPicPr>
        <p:blipFill>
          <a:blip r:embed="rId6"/>
          <a:stretch/>
        </p:blipFill>
        <p:spPr>
          <a:xfrm>
            <a:off x="6099120" y="33285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616" name="Text 31"/>
          <p:cNvSpPr/>
          <p:nvPr/>
        </p:nvSpPr>
        <p:spPr>
          <a:xfrm>
            <a:off x="6602040" y="3328560"/>
            <a:ext cx="1874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USTHB / Univ. Tlemcen (Academic)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32"/>
          <p:cNvSpPr/>
          <p:nvPr/>
        </p:nvSpPr>
        <p:spPr>
          <a:xfrm>
            <a:off x="6080760" y="3858840"/>
            <a:ext cx="2395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Joint grants, annotated datasets, peer-reviewed accuracy publications, and talent pipeline.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2c39a"/>
                </a:solidFill>
                <a:latin typeface="Calibri"/>
                <a:ea typeface="Calibri"/>
              </a:rPr>
              <a:t>ANTICIPATED Q&amp;A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2"/>
          <p:cNvSpPr/>
          <p:nvPr/>
        </p:nvSpPr>
        <p:spPr>
          <a:xfrm>
            <a:off x="457200" y="8046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b2e4e"/>
                </a:solidFill>
                <a:latin typeface="Calibri"/>
                <a:ea typeface="Calibri"/>
              </a:rPr>
              <a:t>Key questions — and our answers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3"/>
          <p:cNvSpPr/>
          <p:nvPr/>
        </p:nvSpPr>
        <p:spPr>
          <a:xfrm>
            <a:off x="274320" y="137160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4"/>
          <p:cNvSpPr/>
          <p:nvPr/>
        </p:nvSpPr>
        <p:spPr>
          <a:xfrm>
            <a:off x="274320" y="137160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5"/>
          <p:cNvSpPr/>
          <p:nvPr/>
        </p:nvSpPr>
        <p:spPr>
          <a:xfrm>
            <a:off x="411480" y="146304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How do you make money?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6"/>
          <p:cNvSpPr/>
          <p:nvPr/>
        </p:nvSpPr>
        <p:spPr>
          <a:xfrm>
            <a:off x="411480" y="181044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B2B SaaS subscription (80k–500k+ DZD/mo per facility) + per-scan API pricing + data licensing to pharma + API to EHR vendors.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7"/>
          <p:cNvSpPr/>
          <p:nvPr/>
        </p:nvSpPr>
        <p:spPr>
          <a:xfrm>
            <a:off x="4663440" y="137160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8"/>
          <p:cNvSpPr/>
          <p:nvPr/>
        </p:nvSpPr>
        <p:spPr>
          <a:xfrm>
            <a:off x="4663440" y="137160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9"/>
          <p:cNvSpPr/>
          <p:nvPr/>
        </p:nvSpPr>
        <p:spPr>
          <a:xfrm>
            <a:off x="4800600" y="146304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Why would a hospital already owning a CBC machine pay for this?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10"/>
          <p:cNvSpPr/>
          <p:nvPr/>
        </p:nvSpPr>
        <p:spPr>
          <a:xfrm>
            <a:off x="4800600" y="181044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We are a pre-filter. 60–70% of CBC orders come back negative. We handle those non-invasively, saving reagents, staff time &amp; machine wear.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11"/>
          <p:cNvSpPr/>
          <p:nvPr/>
        </p:nvSpPr>
        <p:spPr>
          <a:xfrm>
            <a:off x="274320" y="260604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12"/>
          <p:cNvSpPr/>
          <p:nvPr/>
        </p:nvSpPr>
        <p:spPr>
          <a:xfrm>
            <a:off x="274320" y="260604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13"/>
          <p:cNvSpPr/>
          <p:nvPr/>
        </p:nvSpPr>
        <p:spPr>
          <a:xfrm>
            <a:off x="411480" y="269748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What if the AI is wrong? Who is liable?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14"/>
          <p:cNvSpPr/>
          <p:nvPr/>
        </p:nvSpPr>
        <p:spPr>
          <a:xfrm>
            <a:off x="411480" y="304488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We are a screening tool — doctors confirm all results. Our ToS classifies us as a 'decision support system'. Liability stays with the physician.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15"/>
          <p:cNvSpPr/>
          <p:nvPr/>
        </p:nvSpPr>
        <p:spPr>
          <a:xfrm>
            <a:off x="4663440" y="260604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16"/>
          <p:cNvSpPr/>
          <p:nvPr/>
        </p:nvSpPr>
        <p:spPr>
          <a:xfrm>
            <a:off x="4663440" y="260604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Text 17"/>
          <p:cNvSpPr/>
          <p:nvPr/>
        </p:nvSpPr>
        <p:spPr>
          <a:xfrm>
            <a:off x="4800600" y="269748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Is this approved by Algerian authorities?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18"/>
          <p:cNvSpPr/>
          <p:nvPr/>
        </p:nvSpPr>
        <p:spPr>
          <a:xfrm>
            <a:off x="4800600" y="304488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We follow the MSPRH medical device pathway (Decree 92-276). Classified as 'decision support' = lighter pathway. Target: approval in 6–12 months.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9"/>
          <p:cNvSpPr/>
          <p:nvPr/>
        </p:nvSpPr>
        <p:spPr>
          <a:xfrm>
            <a:off x="274320" y="384048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20"/>
          <p:cNvSpPr/>
          <p:nvPr/>
        </p:nvSpPr>
        <p:spPr>
          <a:xfrm>
            <a:off x="274320" y="384048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21"/>
          <p:cNvSpPr/>
          <p:nvPr/>
        </p:nvSpPr>
        <p:spPr>
          <a:xfrm>
            <a:off x="411480" y="393192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What stops big companies from copying you?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22"/>
          <p:cNvSpPr/>
          <p:nvPr/>
        </p:nvSpPr>
        <p:spPr>
          <a:xfrm>
            <a:off x="411480" y="427932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Data moat (local Algerian dataset), MSPRH regulatory knowledge (3+ years to replicate), and HIS switching cost once deployed.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23"/>
          <p:cNvSpPr/>
          <p:nvPr/>
        </p:nvSpPr>
        <p:spPr>
          <a:xfrm>
            <a:off x="4663440" y="3840480"/>
            <a:ext cx="4160160" cy="1115280"/>
          </a:xfrm>
          <a:prstGeom prst="rect">
            <a:avLst/>
          </a:prstGeom>
          <a:solidFill>
            <a:srgbClr val="f5fafb"/>
          </a:solidFill>
          <a:ln w="12700">
            <a:solidFill>
              <a:srgbClr val="d0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24"/>
          <p:cNvSpPr/>
          <p:nvPr/>
        </p:nvSpPr>
        <p:spPr>
          <a:xfrm>
            <a:off x="4663440" y="3840480"/>
            <a:ext cx="416016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25"/>
          <p:cNvSpPr/>
          <p:nvPr/>
        </p:nvSpPr>
        <p:spPr>
          <a:xfrm>
            <a:off x="4800600" y="3931920"/>
            <a:ext cx="3885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2e4e"/>
                </a:solidFill>
                <a:latin typeface="Calibri"/>
                <a:ea typeface="Calibri"/>
              </a:rPr>
              <a:t>Q: How does your AI actually work?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26"/>
          <p:cNvSpPr/>
          <p:nvPr/>
        </p:nvSpPr>
        <p:spPr>
          <a:xfrm>
            <a:off x="4800600" y="4279320"/>
            <a:ext cx="3885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a7080"/>
                </a:solidFill>
                <a:latin typeface="Calibri"/>
                <a:ea typeface="Calibri"/>
              </a:rPr>
              <a:t>Analyzes conjunctival pallor, nail bed colour, and palmar pallor via smartphone camera — WHO IMCI-validated proxies for anemia used in resource-limited settings.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Shape 1"/>
          <p:cNvSpPr/>
          <p:nvPr/>
        </p:nvSpPr>
        <p:spPr>
          <a:xfrm>
            <a:off x="0" y="5052240"/>
            <a:ext cx="9143640" cy="91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 2"/>
          <p:cNvSpPr/>
          <p:nvPr/>
        </p:nvSpPr>
        <p:spPr>
          <a:xfrm>
            <a:off x="914400" y="91440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One in three Algerian children has anemia.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Text 3"/>
          <p:cNvSpPr/>
          <p:nvPr/>
        </p:nvSpPr>
        <p:spPr>
          <a:xfrm>
            <a:off x="914400" y="1508760"/>
            <a:ext cx="7314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7bbad0"/>
                </a:solidFill>
                <a:latin typeface="Calibri"/>
                <a:ea typeface="Calibri"/>
              </a:rPr>
              <a:t>Most will never be diagnosed — because the test costs too much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7bbad0"/>
                </a:solidFill>
                <a:latin typeface="Calibri"/>
                <a:ea typeface="Calibri"/>
              </a:rPr>
              <a:t>and the nearest lab is 100 km away.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4"/>
          <p:cNvSpPr/>
          <p:nvPr/>
        </p:nvSpPr>
        <p:spPr>
          <a:xfrm>
            <a:off x="3200400" y="2359080"/>
            <a:ext cx="2742840" cy="45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5"/>
          <p:cNvSpPr/>
          <p:nvPr/>
        </p:nvSpPr>
        <p:spPr>
          <a:xfrm>
            <a:off x="914400" y="25419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2c39a"/>
                </a:solidFill>
                <a:latin typeface="Calibri"/>
                <a:ea typeface="Calibri"/>
              </a:rPr>
              <a:t>AnemiaAI changes that.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6"/>
          <p:cNvSpPr/>
          <p:nvPr/>
        </p:nvSpPr>
        <p:spPr>
          <a:xfrm>
            <a:off x="914400" y="309060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0c8d8"/>
                </a:solidFill>
                <a:latin typeface="Calibri"/>
                <a:ea typeface="Calibri"/>
              </a:rPr>
              <a:t>A smartphone. 30 seconds. A life detected.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Shape 7"/>
          <p:cNvSpPr/>
          <p:nvPr/>
        </p:nvSpPr>
        <p:spPr>
          <a:xfrm>
            <a:off x="914400" y="3822120"/>
            <a:ext cx="233136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 8"/>
          <p:cNvSpPr/>
          <p:nvPr/>
        </p:nvSpPr>
        <p:spPr>
          <a:xfrm>
            <a:off x="91440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Clinical pilot partner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Shape 9"/>
          <p:cNvSpPr/>
          <p:nvPr/>
        </p:nvSpPr>
        <p:spPr>
          <a:xfrm>
            <a:off x="3520440" y="3822120"/>
            <a:ext cx="233136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10"/>
          <p:cNvSpPr/>
          <p:nvPr/>
        </p:nvSpPr>
        <p:spPr>
          <a:xfrm>
            <a:off x="352044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Investment discussion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Shape 11"/>
          <p:cNvSpPr/>
          <p:nvPr/>
        </p:nvSpPr>
        <p:spPr>
          <a:xfrm>
            <a:off x="6126480" y="3822120"/>
            <a:ext cx="233136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12"/>
          <p:cNvSpPr/>
          <p:nvPr/>
        </p:nvSpPr>
        <p:spPr>
          <a:xfrm>
            <a:off x="6126480" y="3822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MoH / MSPRH introduction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13"/>
          <p:cNvSpPr/>
          <p:nvPr/>
        </p:nvSpPr>
        <p:spPr>
          <a:xfrm>
            <a:off x="914400" y="4462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a90"/>
                </a:solidFill>
                <a:latin typeface="Calibri"/>
                <a:ea typeface="Calibri"/>
              </a:rPr>
              <a:t>Interested in any of the above?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1"/>
          <p:cNvSpPr/>
          <p:nvPr/>
        </p:nvSpPr>
        <p:spPr>
          <a:xfrm>
            <a:off x="457200" y="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THE TEAM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Shape 3"/>
          <p:cNvSpPr/>
          <p:nvPr/>
        </p:nvSpPr>
        <p:spPr>
          <a:xfrm>
            <a:off x="320040" y="1097280"/>
            <a:ext cx="850356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4"/>
          <p:cNvSpPr/>
          <p:nvPr/>
        </p:nvSpPr>
        <p:spPr>
          <a:xfrm>
            <a:off x="320040" y="1097280"/>
            <a:ext cx="164160" cy="1371240"/>
          </a:xfrm>
          <a:prstGeom prst="rect">
            <a:avLst/>
          </a:prstGeom>
          <a:solidFill>
            <a:srgbClr val="ffb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4" name="Image 0" descr="preencoded.png"/>
          <p:cNvPicPr/>
          <p:nvPr/>
        </p:nvPicPr>
        <p:blipFill>
          <a:blip r:embed="rId1"/>
          <a:stretch/>
        </p:blipFill>
        <p:spPr>
          <a:xfrm>
            <a:off x="640080" y="1325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665" name="Text 5"/>
          <p:cNvSpPr/>
          <p:nvPr/>
        </p:nvSpPr>
        <p:spPr>
          <a:xfrm>
            <a:off x="1325880" y="11703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a2342"/>
                </a:solidFill>
                <a:latin typeface="Georgia"/>
                <a:ea typeface="Georgia"/>
              </a:rPr>
              <a:t>Dr. Abderrahmane Khiat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6"/>
          <p:cNvSpPr/>
          <p:nvPr/>
        </p:nvSpPr>
        <p:spPr>
          <a:xfrm>
            <a:off x="1325880" y="160020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897b"/>
                </a:solidFill>
                <a:latin typeface="Calibri"/>
              </a:rPr>
              <a:t>Founder &amp; R&amp;D Lead  ·  PhD in Computer Science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7"/>
          <p:cNvSpPr/>
          <p:nvPr/>
        </p:nvSpPr>
        <p:spPr>
          <a:xfrm>
            <a:off x="1325880" y="190188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5a64"/>
                </a:solidFill>
                <a:latin typeface="Calibri"/>
              </a:rPr>
              <a:t>Expert in AI systems &amp; digital health. Former Project Lead at Fraunhofer IAIS · IT Project Manager at Hyundai AutoEver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8"/>
          <p:cNvSpPr/>
          <p:nvPr/>
        </p:nvSpPr>
        <p:spPr>
          <a:xfrm>
            <a:off x="320040" y="2697480"/>
            <a:ext cx="850356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9"/>
          <p:cNvSpPr/>
          <p:nvPr/>
        </p:nvSpPr>
        <p:spPr>
          <a:xfrm>
            <a:off x="320040" y="2697480"/>
            <a:ext cx="164160" cy="2011320"/>
          </a:xfrm>
          <a:prstGeom prst="rect">
            <a:avLst/>
          </a:prstGeom>
          <a:solidFill>
            <a:srgbClr val="0089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 10"/>
          <p:cNvSpPr/>
          <p:nvPr/>
        </p:nvSpPr>
        <p:spPr>
          <a:xfrm>
            <a:off x="640080" y="27248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897b"/>
                </a:solidFill>
                <a:latin typeface="Georgia"/>
                <a:ea typeface="Georgia"/>
              </a:rPr>
              <a:t>Development Team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11"/>
          <p:cNvSpPr/>
          <p:nvPr/>
        </p:nvSpPr>
        <p:spPr>
          <a:xfrm>
            <a:off x="548640" y="3246120"/>
            <a:ext cx="292320" cy="292320"/>
          </a:xfrm>
          <a:prstGeom prst="ellipse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12"/>
          <p:cNvSpPr/>
          <p:nvPr/>
        </p:nvSpPr>
        <p:spPr>
          <a:xfrm>
            <a:off x="960120" y="32461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Guerroudji Djamel Eddin Ysser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13"/>
          <p:cNvSpPr/>
          <p:nvPr/>
        </p:nvSpPr>
        <p:spPr>
          <a:xfrm>
            <a:off x="960120" y="35388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a4ae"/>
                </a:solidFill>
                <a:latin typeface="Calibri"/>
              </a:rPr>
              <a:t>AI Engineer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14"/>
          <p:cNvSpPr/>
          <p:nvPr/>
        </p:nvSpPr>
        <p:spPr>
          <a:xfrm>
            <a:off x="4846320" y="3246120"/>
            <a:ext cx="292320" cy="292320"/>
          </a:xfrm>
          <a:prstGeom prst="ellipse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Text 15"/>
          <p:cNvSpPr/>
          <p:nvPr/>
        </p:nvSpPr>
        <p:spPr>
          <a:xfrm>
            <a:off x="5257800" y="32461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Gousas Mohamed Houcin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 16"/>
          <p:cNvSpPr/>
          <p:nvPr/>
        </p:nvSpPr>
        <p:spPr>
          <a:xfrm>
            <a:off x="5257800" y="35388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a4ae"/>
                </a:solidFill>
                <a:latin typeface="Calibri"/>
              </a:rPr>
              <a:t>Backend / FastAPI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17"/>
          <p:cNvSpPr/>
          <p:nvPr/>
        </p:nvSpPr>
        <p:spPr>
          <a:xfrm>
            <a:off x="548640" y="3904560"/>
            <a:ext cx="292320" cy="292320"/>
          </a:xfrm>
          <a:prstGeom prst="ellipse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 18"/>
          <p:cNvSpPr/>
          <p:nvPr/>
        </p:nvSpPr>
        <p:spPr>
          <a:xfrm>
            <a:off x="960120" y="39045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Abadi Aymen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19"/>
          <p:cNvSpPr/>
          <p:nvPr/>
        </p:nvSpPr>
        <p:spPr>
          <a:xfrm>
            <a:off x="960120" y="41972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a4ae"/>
                </a:solidFill>
                <a:latin typeface="Calibri"/>
              </a:rPr>
              <a:t>Mobile Dev / Flutter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0"/>
          <p:cNvSpPr/>
          <p:nvPr/>
        </p:nvSpPr>
        <p:spPr>
          <a:xfrm>
            <a:off x="4846320" y="3904560"/>
            <a:ext cx="292320" cy="292320"/>
          </a:xfrm>
          <a:prstGeom prst="ellipse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21"/>
          <p:cNvSpPr/>
          <p:nvPr/>
        </p:nvSpPr>
        <p:spPr>
          <a:xfrm>
            <a:off x="5257800" y="39045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alibri"/>
              </a:rPr>
              <a:t>Sahraoui Nabil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22"/>
          <p:cNvSpPr/>
          <p:nvPr/>
        </p:nvSpPr>
        <p:spPr>
          <a:xfrm>
            <a:off x="5257800" y="41972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0a4ae"/>
                </a:solidFill>
                <a:latin typeface="Calibri"/>
              </a:rPr>
              <a:t>Deep 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2026-05-04T22:30:03Z</dcterms:created>
  <dc:creator>PptxGenJS</dc:creator>
  <dc:description/>
  <dc:language>en-US</dc:language>
  <cp:lastModifiedBy/>
  <dcterms:modified xsi:type="dcterms:W3CDTF">2026-05-05T01:00:08Z</dcterms:modified>
  <cp:revision>2</cp:revision>
  <dc:subject>PptxGenJS Presentation</dc:subject>
  <dc:title>Animiea – Anemia Detection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