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5.png" ContentType="image/png"/>
  <Override PartName="/ppt/media/image6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0.png" ContentType="image/png"/>
  <Override PartName="/ppt/media/image1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Val Accuracy (%)</c:v>
                </c:pt>
              </c:strCache>
            </c:strRef>
          </c:tx>
          <c:spPr>
            <a:solidFill>
              <a:srgbClr val="f5a623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f5a623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0a896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c49a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8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8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8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8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ResNet</c:v>
                </c:pt>
                <c:pt idx="1">
                  <c:v>MobileNet</c:v>
                </c:pt>
                <c:pt idx="2">
                  <c:v>DenseNet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98.8</c:v>
                </c:pt>
                <c:pt idx="1">
                  <c:v>97.9</c:v>
                </c:pt>
                <c:pt idx="2">
                  <c:v>97.7</c:v>
                </c:pt>
              </c:numCache>
            </c:numRef>
          </c:val>
        </c:ser>
        <c:gapWidth val="150"/>
        <c:overlap val="0"/>
        <c:axId val="25375200"/>
        <c:axId val="9330408"/>
      </c:barChart>
      <c:catAx>
        <c:axId val="253752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ffffff"/>
                </a:solidFill>
                <a:latin typeface="Arial"/>
              </a:defRPr>
            </a:pPr>
          </a:p>
        </c:txPr>
        <c:crossAx val="9330408"/>
        <c:crosses val="autoZero"/>
        <c:auto val="1"/>
        <c:lblAlgn val="ctr"/>
        <c:lblOffset val="100"/>
        <c:noMultiLvlLbl val="0"/>
      </c:catAx>
      <c:valAx>
        <c:axId val="9330408"/>
        <c:scaling>
          <c:orientation val="minMax"/>
          <c:max val="100"/>
          <c:min val="96"/>
        </c:scaling>
        <c:delete val="0"/>
        <c:axPos val="l"/>
        <c:majorGridlines>
          <c:spPr>
            <a:ln w="6480">
              <a:solidFill>
                <a:srgbClr val="1a304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fafc4"/>
                </a:solidFill>
                <a:latin typeface="Arial"/>
              </a:defRPr>
            </a:pPr>
          </a:p>
        </c:txPr>
        <c:crossAx val="25375200"/>
        <c:crosses val="autoZero"/>
        <c:crossBetween val="between"/>
      </c:valAx>
      <c:spPr>
        <a:solidFill>
          <a:srgbClr val="0d1b2a"/>
        </a:solidFill>
        <a:ln w="0">
          <a:noFill/>
        </a:ln>
      </c:spPr>
    </c:plotArea>
    <c:plotVisOnly val="1"/>
    <c:dispBlanksAs val="span"/>
  </c:chart>
  <c:spPr>
    <a:solidFill>
      <a:srgbClr val="0d1b2a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27ae6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27ae60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c0392b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a896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8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8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8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8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Not Anemic</c:v>
                </c:pt>
                <c:pt idx="1">
                  <c:v>Anemic</c:v>
                </c:pt>
                <c:pt idx="2">
                  <c:v>Weighted Avg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95.6</c:v>
                </c:pt>
                <c:pt idx="1">
                  <c:v>95.4</c:v>
                </c:pt>
                <c:pt idx="2">
                  <c:v>95.27</c:v>
                </c:pt>
              </c:numCache>
            </c:numRef>
          </c:val>
        </c:ser>
        <c:gapWidth val="150"/>
        <c:overlap val="0"/>
        <c:axId val="92071722"/>
        <c:axId val="54740997"/>
      </c:barChart>
      <c:catAx>
        <c:axId val="9207172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ffffff"/>
                </a:solidFill>
                <a:latin typeface="Arial"/>
              </a:defRPr>
            </a:pPr>
          </a:p>
        </c:txPr>
        <c:crossAx val="54740997"/>
        <c:crosses val="autoZero"/>
        <c:auto val="1"/>
        <c:lblAlgn val="ctr"/>
        <c:lblOffset val="100"/>
        <c:noMultiLvlLbl val="0"/>
      </c:catAx>
      <c:valAx>
        <c:axId val="54740997"/>
        <c:scaling>
          <c:orientation val="minMax"/>
          <c:max val="97"/>
          <c:min val="93"/>
        </c:scaling>
        <c:delete val="0"/>
        <c:axPos val="l"/>
        <c:majorGridlines>
          <c:spPr>
            <a:ln w="6480">
              <a:solidFill>
                <a:srgbClr val="1a304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fafc4"/>
                </a:solidFill>
                <a:latin typeface="Arial"/>
              </a:defRPr>
            </a:pPr>
          </a:p>
        </c:txPr>
        <c:crossAx val="92071722"/>
        <c:crosses val="autoZero"/>
        <c:crossBetween val="between"/>
      </c:valAx>
      <c:spPr>
        <a:solidFill>
          <a:srgbClr val="1c2b3a"/>
        </a:solidFill>
        <a:ln w="0">
          <a:noFill/>
        </a:ln>
      </c:spPr>
    </c:plotArea>
    <c:plotVisOnly val="1"/>
    <c:dispBlanksAs val="span"/>
  </c:chart>
  <c:spPr>
    <a:solidFill>
      <a:srgbClr val="1c2b3a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D132BD4-C7C9-4B2D-A9C8-7665B505801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7EE6D0-53E2-4929-B976-043B99012C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F98D36-E544-4612-908D-10E68F91D0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93C74E-2EAF-4D71-9D83-88C9C1DA2D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6020FF-4555-4D36-9471-9DA619BCFD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E48AEE-5D24-4C07-95D2-48378F893D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54D063-FA37-4ECF-B1FB-37AA63044F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B3DF6-E4D2-4ECB-8D3B-55D01D834B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4AFDD3-FE23-4222-B67C-8C4C195A0E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C46093-FD05-43E5-8EF6-915322FB18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C8F1F0-29E7-4B7A-9133-A0B37F8913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97A524-F431-4282-9C65-2C8462EC35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67F9DA-6F4E-443D-A9B7-D32AD806D7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94D0F7-72E1-4D52-B632-F8FE62194E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22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2.png"/><Relationship Id="rId3" Type="http://schemas.openxmlformats.org/officeDocument/2006/relationships/image" Target="../media/image22.png"/><Relationship Id="rId4" Type="http://schemas.openxmlformats.org/officeDocument/2006/relationships/image" Target="../media/image22.png"/><Relationship Id="rId5" Type="http://schemas.openxmlformats.org/officeDocument/2006/relationships/image" Target="../media/image22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22.png"/><Relationship Id="rId11" Type="http://schemas.openxmlformats.org/officeDocument/2006/relationships/image" Target="../media/image22.png"/><Relationship Id="rId12" Type="http://schemas.openxmlformats.org/officeDocument/2006/relationships/image" Target="../media/image22.png"/><Relationship Id="rId13" Type="http://schemas.openxmlformats.org/officeDocument/2006/relationships/image" Target="../media/image24.png"/><Relationship Id="rId14" Type="http://schemas.openxmlformats.org/officeDocument/2006/relationships/image" Target="../media/image22.png"/><Relationship Id="rId15" Type="http://schemas.openxmlformats.org/officeDocument/2006/relationships/image" Target="../media/image22.png"/><Relationship Id="rId16" Type="http://schemas.openxmlformats.org/officeDocument/2006/relationships/image" Target="../media/image22.png"/><Relationship Id="rId17" Type="http://schemas.openxmlformats.org/officeDocument/2006/relationships/image" Target="../media/image22.png"/><Relationship Id="rId18" Type="http://schemas.openxmlformats.org/officeDocument/2006/relationships/image" Target="../media/image22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2.png"/><Relationship Id="rId3" Type="http://schemas.openxmlformats.org/officeDocument/2006/relationships/image" Target="../media/image22.png"/><Relationship Id="rId4" Type="http://schemas.openxmlformats.org/officeDocument/2006/relationships/image" Target="../media/image22.png"/><Relationship Id="rId5" Type="http://schemas.openxmlformats.org/officeDocument/2006/relationships/image" Target="../media/image22.png"/><Relationship Id="rId6" Type="http://schemas.openxmlformats.org/officeDocument/2006/relationships/image" Target="../media/image22.png"/><Relationship Id="rId7" Type="http://schemas.openxmlformats.org/officeDocument/2006/relationships/image" Target="../media/image22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22.png"/><Relationship Id="rId11" Type="http://schemas.openxmlformats.org/officeDocument/2006/relationships/image" Target="../media/image22.png"/><Relationship Id="rId12" Type="http://schemas.openxmlformats.org/officeDocument/2006/relationships/image" Target="../media/image2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6.png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00897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680960" y="-548640"/>
            <a:ext cx="2377080" cy="2377080"/>
          </a:xfrm>
          <a:prstGeom prst="ellipse">
            <a:avLst/>
          </a:prstGeom>
          <a:solidFill>
            <a:srgbClr val="00897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089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20040" y="5486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98" strike="noStrike">
                <a:solidFill>
                  <a:srgbClr val="4db6ac"/>
                </a:solidFill>
                <a:latin typeface="Calibri"/>
              </a:rPr>
              <a:t>MEDICAL AI · DIGITAL HEALTH · ALGERIA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20040" y="1005840"/>
            <a:ext cx="8412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Georgia"/>
                <a:ea typeface="Georgia"/>
              </a:rPr>
              <a:t>Animiea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0040" y="22402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4db6ac"/>
                </a:solidFill>
                <a:latin typeface="Calibri"/>
                <a:ea typeface="Calibri"/>
              </a:rPr>
              <a:t>End-to-End AI Solution for Non-Invasive Anemia Detection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20040" y="2971800"/>
            <a:ext cx="1645560" cy="4536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20040" y="32004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0a4ae"/>
                </a:solidFill>
                <a:latin typeface="Calibri"/>
              </a:rPr>
              <a:t>Dr. Abderrahmane Khiat  ·  Animiea Startup  ·  2025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7589520" y="2011680"/>
            <a:ext cx="1188360" cy="118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THE PROBLEM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20040" y="1143000"/>
            <a:ext cx="265140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20040" y="1143000"/>
            <a:ext cx="265140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1371600" y="14173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411480" y="20574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Georgia"/>
                <a:ea typeface="Georgia"/>
              </a:rPr>
              <a:t>1.6B+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411480" y="26060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People affected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by anemia worldwide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3246120" y="1143000"/>
            <a:ext cx="265140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3246120" y="1143000"/>
            <a:ext cx="265140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 r:embed="rId2"/>
          <a:stretch/>
        </p:blipFill>
        <p:spPr>
          <a:xfrm>
            <a:off x="4297680" y="14173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3337560" y="20574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Georgia"/>
                <a:ea typeface="Georgia"/>
              </a:rPr>
              <a:t>Costly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3337560" y="26060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Invasive blood tests: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expensive &amp; unscalable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6172200" y="1143000"/>
            <a:ext cx="265140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172200" y="1143000"/>
            <a:ext cx="265140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Image 2" descr="preencoded.png"/>
          <p:cNvPicPr/>
          <p:nvPr/>
        </p:nvPicPr>
        <p:blipFill>
          <a:blip r:embed="rId3"/>
          <a:stretch/>
        </p:blipFill>
        <p:spPr>
          <a:xfrm>
            <a:off x="7223760" y="14173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6263640" y="20574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Georgia"/>
                <a:ea typeface="Georgia"/>
              </a:rPr>
              <a:t>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6263640" y="26060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Continuous monitoring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solutions for mothers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320040" y="397764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897b"/>
                </a:solidFill>
                <a:latin typeface="Calibri"/>
              </a:rPr>
              <a:t>🇩🇿  </a:t>
            </a:r>
            <a:r>
              <a:rPr b="0" i="1" lang="en-US" sz="1100" spc="-1" strike="noStrike">
                <a:solidFill>
                  <a:srgbClr val="00897b"/>
                </a:solidFill>
                <a:latin typeface="Calibri"/>
              </a:rPr>
              <a:t>In Algeria, thousands of severe maternal anemia cases require annual clinical intervention (WHO / Statista, 2021)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32004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OUR INNOVATION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320040" y="914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db6ac"/>
                </a:solidFill>
                <a:latin typeface="Calibri"/>
              </a:rPr>
              <a:t>AI-powered • Non-invasive • Personalized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25596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25596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32904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32904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Capture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32904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Smartphone camera photographs the palpebral conjunctiva (inner lower eyelid).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2194560" y="2926080"/>
            <a:ext cx="219240" cy="727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243216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243216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250560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250560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Segment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250560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U-Net AI model isolates the Region of Interest (ROI) with precision.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4370760" y="2926080"/>
            <a:ext cx="219240" cy="727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460872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460872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468180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468180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Classify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468180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MobileNet / ResNet / DenseNet evaluates pallor severity &amp; hemoglobin levels.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6546960" y="2926080"/>
            <a:ext cx="219240" cy="727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678492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678492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685800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04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685800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Recommend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685800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Personalized medical advice &amp; continuous tracking delivered instantly.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CLINICAL &amp; TECHNICAL BASIS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320040" y="1097280"/>
            <a:ext cx="402300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320040" y="1097280"/>
            <a:ext cx="4023000" cy="16416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0" descr="preencoded.png"/>
          <p:cNvPicPr/>
          <p:nvPr/>
        </p:nvPicPr>
        <p:blipFill>
          <a:blip r:embed="rId1"/>
          <a:stretch/>
        </p:blipFill>
        <p:spPr>
          <a:xfrm>
            <a:off x="502920" y="13716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1005840" y="13532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a2342"/>
                </a:solidFill>
                <a:latin typeface="Georgia"/>
                <a:ea typeface="Georgia"/>
              </a:rPr>
              <a:t>Clinical Hypothesis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02920" y="1920240"/>
            <a:ext cx="3657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Conjunctival pallor — the paleness of the inner lower eyelid — is a well-established optical biomarker correlated with hemoglobin deficiency.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By imaging this region with a standard smartphone camera, our AI can non-invasively estimate anemia severity without drawing blood.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4663440" y="1097280"/>
            <a:ext cx="416016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4663440" y="1097280"/>
            <a:ext cx="416016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Image 1" descr="preencoded.png"/>
          <p:cNvPicPr/>
          <p:nvPr/>
        </p:nvPicPr>
        <p:blipFill>
          <a:blip r:embed="rId2"/>
          <a:stretch/>
        </p:blipFill>
        <p:spPr>
          <a:xfrm>
            <a:off x="4846320" y="13716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76" name="Text 9"/>
          <p:cNvSpPr/>
          <p:nvPr/>
        </p:nvSpPr>
        <p:spPr>
          <a:xfrm>
            <a:off x="5349240" y="135324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897b"/>
                </a:solidFill>
                <a:latin typeface="Georgia"/>
                <a:ea typeface="Georgia"/>
              </a:rPr>
              <a:t>Deep Learning Stack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4846320" y="192024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5212080" y="19202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U-Net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6537960" y="192024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Precise conjunctiva segmentation (ROI)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4846320" y="257868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5212080" y="25786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ResNet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6537960" y="25786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Deep residual classification of pallor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4846320" y="323712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5212080" y="323712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DenseNet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6537960" y="32371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Densely connected pallor severity scoring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9"/>
          <p:cNvSpPr/>
          <p:nvPr/>
        </p:nvSpPr>
        <p:spPr>
          <a:xfrm>
            <a:off x="4846320" y="389520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5212080" y="389520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MobileNet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6537960" y="38952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Lightweight inference on low-end phones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2"/>
          <p:cNvSpPr/>
          <p:nvPr/>
        </p:nvSpPr>
        <p:spPr>
          <a:xfrm>
            <a:off x="4846320" y="45262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897b"/>
                </a:solidFill>
                <a:latin typeface="Calibri"/>
              </a:rPr>
              <a:t>Trained on diverse cohorts from India &amp; Italy — demographic-bias-free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73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74"/>
          <p:cNvSpPr/>
          <p:nvPr/>
        </p:nvSpPr>
        <p:spPr>
          <a:xfrm>
            <a:off x="320040" y="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U-NET SEGMENTATION ARCHITECTURE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75"/>
          <p:cNvSpPr/>
          <p:nvPr/>
        </p:nvSpPr>
        <p:spPr>
          <a:xfrm>
            <a:off x="0" y="777240"/>
            <a:ext cx="109440" cy="4366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76"/>
          <p:cNvSpPr/>
          <p:nvPr/>
        </p:nvSpPr>
        <p:spPr>
          <a:xfrm>
            <a:off x="320040" y="841320"/>
            <a:ext cx="850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a896"/>
                </a:solidFill>
                <a:latin typeface="Calibri"/>
                <a:ea typeface="Calibri"/>
              </a:rPr>
              <a:t>Palpebral Conjunctiva Isolation — Region of Interest (ROI)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77"/>
          <p:cNvSpPr/>
          <p:nvPr/>
        </p:nvSpPr>
        <p:spPr>
          <a:xfrm>
            <a:off x="255960" y="1298520"/>
            <a:ext cx="2651400" cy="3200040"/>
          </a:xfrm>
          <a:prstGeom prst="rect">
            <a:avLst/>
          </a:prstGeom>
          <a:solidFill>
            <a:srgbClr val="1c2b3a"/>
          </a:solidFill>
          <a:ln w="19050">
            <a:solidFill>
              <a:srgbClr val="00a89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79"/>
          <p:cNvSpPr/>
          <p:nvPr/>
        </p:nvSpPr>
        <p:spPr>
          <a:xfrm>
            <a:off x="255960" y="1298520"/>
            <a:ext cx="2651400" cy="347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78"/>
          <p:cNvSpPr/>
          <p:nvPr/>
        </p:nvSpPr>
        <p:spPr>
          <a:xfrm>
            <a:off x="255960" y="12985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ENCODER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80"/>
          <p:cNvSpPr/>
          <p:nvPr/>
        </p:nvSpPr>
        <p:spPr>
          <a:xfrm>
            <a:off x="301680" y="16732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Downsampling Path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82"/>
          <p:cNvSpPr/>
          <p:nvPr/>
        </p:nvSpPr>
        <p:spPr>
          <a:xfrm>
            <a:off x="365760" y="1965960"/>
            <a:ext cx="2422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3 ch  →  64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64 ch  →  128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128 ch  →  256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256 ch  →  512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84"/>
          <p:cNvSpPr/>
          <p:nvPr/>
        </p:nvSpPr>
        <p:spPr>
          <a:xfrm>
            <a:off x="301680" y="30906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DoubleConv → BN → ReLU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6"/>
          <p:cNvSpPr/>
          <p:nvPr/>
        </p:nvSpPr>
        <p:spPr>
          <a:xfrm>
            <a:off x="301680" y="33649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Adam  |  LR: 1e-4  |  Batch: 8/4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1"/>
          <p:cNvSpPr/>
          <p:nvPr/>
        </p:nvSpPr>
        <p:spPr>
          <a:xfrm>
            <a:off x="2926080" y="2898360"/>
            <a:ext cx="365760" cy="360"/>
          </a:xfrm>
          <a:prstGeom prst="line">
            <a:avLst/>
          </a:prstGeom>
          <a:ln w="3175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8"/>
          <p:cNvSpPr/>
          <p:nvPr/>
        </p:nvSpPr>
        <p:spPr>
          <a:xfrm>
            <a:off x="2926080" y="274320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a623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83"/>
          <p:cNvSpPr/>
          <p:nvPr/>
        </p:nvSpPr>
        <p:spPr>
          <a:xfrm>
            <a:off x="3337560" y="1298520"/>
            <a:ext cx="2239920" cy="3200040"/>
          </a:xfrm>
          <a:prstGeom prst="rect">
            <a:avLst/>
          </a:prstGeom>
          <a:solidFill>
            <a:srgbClr val="0d1b2a"/>
          </a:solidFill>
          <a:ln w="25400">
            <a:solidFill>
              <a:srgbClr val="f5a623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85"/>
          <p:cNvSpPr/>
          <p:nvPr/>
        </p:nvSpPr>
        <p:spPr>
          <a:xfrm>
            <a:off x="3337560" y="1298520"/>
            <a:ext cx="2239920" cy="347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90"/>
          <p:cNvSpPr/>
          <p:nvPr/>
        </p:nvSpPr>
        <p:spPr>
          <a:xfrm>
            <a:off x="3337560" y="1298520"/>
            <a:ext cx="2239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BOTTLENECK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91"/>
          <p:cNvSpPr/>
          <p:nvPr/>
        </p:nvSpPr>
        <p:spPr>
          <a:xfrm>
            <a:off x="3401640" y="16732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Peak Feature Space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92"/>
          <p:cNvSpPr/>
          <p:nvPr/>
        </p:nvSpPr>
        <p:spPr>
          <a:xfrm>
            <a:off x="3401640" y="1993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512 ch  →  1024 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93"/>
          <p:cNvSpPr/>
          <p:nvPr/>
        </p:nvSpPr>
        <p:spPr>
          <a:xfrm>
            <a:off x="3401640" y="233172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fafc4"/>
                </a:solidFill>
                <a:latin typeface="Calibri"/>
                <a:ea typeface="Calibri"/>
              </a:rPr>
              <a:t>DoubleConv Block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fafc4"/>
                </a:solidFill>
                <a:latin typeface="Calibri"/>
                <a:ea typeface="Calibri"/>
              </a:rPr>
              <a:t>Maximum abstraction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fafc4"/>
                </a:solidFill>
                <a:latin typeface="Calibri"/>
                <a:ea typeface="Calibri"/>
              </a:rPr>
              <a:t>before reconstruction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94"/>
          <p:cNvSpPr/>
          <p:nvPr/>
        </p:nvSpPr>
        <p:spPr>
          <a:xfrm>
            <a:off x="3401640" y="32004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a896"/>
                </a:solidFill>
                <a:latin typeface="Calibri"/>
                <a:ea typeface="Calibri"/>
              </a:rPr>
              <a:t>Skip Connections ↕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95"/>
          <p:cNvSpPr/>
          <p:nvPr/>
        </p:nvSpPr>
        <p:spPr>
          <a:xfrm>
            <a:off x="5596200" y="274320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a623"/>
                </a:solidFill>
                <a:latin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87"/>
          <p:cNvSpPr/>
          <p:nvPr/>
        </p:nvSpPr>
        <p:spPr>
          <a:xfrm>
            <a:off x="5989320" y="1298520"/>
            <a:ext cx="2651400" cy="3200040"/>
          </a:xfrm>
          <a:prstGeom prst="rect">
            <a:avLst/>
          </a:prstGeom>
          <a:solidFill>
            <a:srgbClr val="1c2b3a"/>
          </a:solidFill>
          <a:ln w="19050">
            <a:solidFill>
              <a:srgbClr val="00808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89"/>
          <p:cNvSpPr/>
          <p:nvPr/>
        </p:nvSpPr>
        <p:spPr>
          <a:xfrm>
            <a:off x="5989320" y="1298520"/>
            <a:ext cx="2651400" cy="34704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96"/>
          <p:cNvSpPr/>
          <p:nvPr/>
        </p:nvSpPr>
        <p:spPr>
          <a:xfrm>
            <a:off x="5989320" y="12985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DECODER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97"/>
          <p:cNvSpPr/>
          <p:nvPr/>
        </p:nvSpPr>
        <p:spPr>
          <a:xfrm>
            <a:off x="6053400" y="167328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Upsampling Path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98"/>
          <p:cNvSpPr/>
          <p:nvPr/>
        </p:nvSpPr>
        <p:spPr>
          <a:xfrm>
            <a:off x="6053400" y="1965960"/>
            <a:ext cx="2514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1024 ch  →  512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512 ch  →  256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256 ch  →  128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128 ch  →  64 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99"/>
          <p:cNvSpPr/>
          <p:nvPr/>
        </p:nvSpPr>
        <p:spPr>
          <a:xfrm>
            <a:off x="6053400" y="309060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ConvTranspose2d + Skip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00"/>
          <p:cNvSpPr/>
          <p:nvPr/>
        </p:nvSpPr>
        <p:spPr>
          <a:xfrm>
            <a:off x="6053400" y="336492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Output: Conv2d(64,1,1) → Mask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90"/>
          <p:cNvSpPr/>
          <p:nvPr/>
        </p:nvSpPr>
        <p:spPr>
          <a:xfrm>
            <a:off x="255960" y="4663440"/>
            <a:ext cx="8384760" cy="365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01"/>
          <p:cNvSpPr/>
          <p:nvPr/>
        </p:nvSpPr>
        <p:spPr>
          <a:xfrm>
            <a:off x="255960" y="4663440"/>
            <a:ext cx="838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fafc4"/>
                </a:solidFill>
                <a:latin typeface="Calibri"/>
                <a:ea typeface="Calibri"/>
              </a:rPr>
              <a:t>Best Validation Loss: </a:t>
            </a: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0.5709</a:t>
            </a:r>
            <a:r>
              <a:rPr b="0" lang="en-US" sz="950" spc="-1" strike="noStrike">
                <a:solidFill>
                  <a:srgbClr val="8fafc4"/>
                </a:solidFill>
                <a:latin typeface="Calibri"/>
                <a:ea typeface="Calibri"/>
              </a:rPr>
              <a:t>   |   Optimizer: Adam  |  ReduceLROnPlateau (patience=5, factor=0.5)  |  Batch: 8 / 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9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0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CNN CLASSIFICATION ARCHITECTURE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03"/>
          <p:cNvSpPr/>
          <p:nvPr/>
        </p:nvSpPr>
        <p:spPr>
          <a:xfrm>
            <a:off x="320040" y="82296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Pallor Severity Classification &amp; Hemoglobin Estimation — 3 Model Variants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92"/>
          <p:cNvSpPr/>
          <p:nvPr/>
        </p:nvSpPr>
        <p:spPr>
          <a:xfrm>
            <a:off x="274320" y="1234440"/>
            <a:ext cx="8412120" cy="2556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04"/>
          <p:cNvSpPr/>
          <p:nvPr/>
        </p:nvSpPr>
        <p:spPr>
          <a:xfrm>
            <a:off x="274320" y="123444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SHARED PIPELINE  ›  Input: ROI Image  →  Feature Extraction Base  →  Global Pool  →  Dense Layers  →  Class Probability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93"/>
          <p:cNvSpPr/>
          <p:nvPr/>
        </p:nvSpPr>
        <p:spPr>
          <a:xfrm>
            <a:off x="255960" y="1600200"/>
            <a:ext cx="2605680" cy="3200040"/>
          </a:xfrm>
          <a:prstGeom prst="rect">
            <a:avLst/>
          </a:prstGeom>
          <a:solidFill>
            <a:srgbClr val="0d1b2a"/>
          </a:solidFill>
          <a:ln w="22860">
            <a:solidFill>
              <a:srgbClr val="00a89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94"/>
          <p:cNvSpPr/>
          <p:nvPr/>
        </p:nvSpPr>
        <p:spPr>
          <a:xfrm>
            <a:off x="255960" y="1600200"/>
            <a:ext cx="2605680" cy="365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05"/>
          <p:cNvSpPr/>
          <p:nvPr/>
        </p:nvSpPr>
        <p:spPr>
          <a:xfrm>
            <a:off x="255960" y="160020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MobileNet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06"/>
          <p:cNvSpPr/>
          <p:nvPr/>
        </p:nvSpPr>
        <p:spPr>
          <a:xfrm>
            <a:off x="329040" y="1993320"/>
            <a:ext cx="246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0a896"/>
                </a:solidFill>
                <a:latin typeface="Calibri"/>
                <a:ea typeface="Calibri"/>
              </a:rPr>
              <a:t>Depthwise Separable Convolutions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07"/>
          <p:cNvSpPr/>
          <p:nvPr/>
        </p:nvSpPr>
        <p:spPr>
          <a:xfrm>
            <a:off x="329040" y="225864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Designed for edge/mobile devices.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Ultra-lightweight architecture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optimized for real-time smartphone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inference on low-end hardware.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Optimizer: Adam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Loss: Categorical Cross-Entropy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95"/>
          <p:cNvSpPr/>
          <p:nvPr/>
        </p:nvSpPr>
        <p:spPr>
          <a:xfrm>
            <a:off x="329040" y="3950280"/>
            <a:ext cx="2468520" cy="639720"/>
          </a:xfrm>
          <a:prstGeom prst="rect">
            <a:avLst/>
          </a:prstGeom>
          <a:solidFill>
            <a:srgbClr val="0a1422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08"/>
          <p:cNvSpPr/>
          <p:nvPr/>
        </p:nvSpPr>
        <p:spPr>
          <a:xfrm>
            <a:off x="329040" y="396864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8fafc4"/>
                </a:solidFill>
                <a:latin typeface="Calibri"/>
                <a:ea typeface="Calibri"/>
              </a:rPr>
              <a:t>Peak Val Accuracy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09"/>
          <p:cNvSpPr/>
          <p:nvPr/>
        </p:nvSpPr>
        <p:spPr>
          <a:xfrm>
            <a:off x="329040" y="41515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97.90%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96"/>
          <p:cNvSpPr/>
          <p:nvPr/>
        </p:nvSpPr>
        <p:spPr>
          <a:xfrm>
            <a:off x="3200400" y="1600200"/>
            <a:ext cx="2605680" cy="3200040"/>
          </a:xfrm>
          <a:prstGeom prst="rect">
            <a:avLst/>
          </a:prstGeom>
          <a:solidFill>
            <a:srgbClr val="0d1b2a"/>
          </a:solidFill>
          <a:ln w="22860">
            <a:solidFill>
              <a:srgbClr val="f5a623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97"/>
          <p:cNvSpPr/>
          <p:nvPr/>
        </p:nvSpPr>
        <p:spPr>
          <a:xfrm>
            <a:off x="3200400" y="1600200"/>
            <a:ext cx="2605680" cy="365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10"/>
          <p:cNvSpPr/>
          <p:nvPr/>
        </p:nvSpPr>
        <p:spPr>
          <a:xfrm>
            <a:off x="3200400" y="160020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ResNet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11"/>
          <p:cNvSpPr/>
          <p:nvPr/>
        </p:nvSpPr>
        <p:spPr>
          <a:xfrm>
            <a:off x="3273480" y="1993320"/>
            <a:ext cx="246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Deep Residual Networks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12"/>
          <p:cNvSpPr/>
          <p:nvPr/>
        </p:nvSpPr>
        <p:spPr>
          <a:xfrm>
            <a:off x="3273480" y="225864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Skip connections bypass layers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eliminating vanishing gradients.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Extracts deep, complex pallor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variations with high fidelity.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Optimizer: Adam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Loss: Categorical Cross-Entropy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98"/>
          <p:cNvSpPr/>
          <p:nvPr/>
        </p:nvSpPr>
        <p:spPr>
          <a:xfrm>
            <a:off x="3273480" y="3950280"/>
            <a:ext cx="2468520" cy="639720"/>
          </a:xfrm>
          <a:prstGeom prst="rect">
            <a:avLst/>
          </a:prstGeom>
          <a:solidFill>
            <a:srgbClr val="0a1422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13"/>
          <p:cNvSpPr/>
          <p:nvPr/>
        </p:nvSpPr>
        <p:spPr>
          <a:xfrm>
            <a:off x="3273480" y="396864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8fafc4"/>
                </a:solidFill>
                <a:latin typeface="Calibri"/>
                <a:ea typeface="Calibri"/>
              </a:rPr>
              <a:t>Peak Val Accuracy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14"/>
          <p:cNvSpPr/>
          <p:nvPr/>
        </p:nvSpPr>
        <p:spPr>
          <a:xfrm>
            <a:off x="3273480" y="41515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98.80%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99"/>
          <p:cNvSpPr/>
          <p:nvPr/>
        </p:nvSpPr>
        <p:spPr>
          <a:xfrm>
            <a:off x="6144840" y="1600200"/>
            <a:ext cx="2605680" cy="3200040"/>
          </a:xfrm>
          <a:prstGeom prst="rect">
            <a:avLst/>
          </a:prstGeom>
          <a:solidFill>
            <a:srgbClr val="0d1b2a"/>
          </a:solidFill>
          <a:ln w="22860">
            <a:solidFill>
              <a:srgbClr val="00c49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00"/>
          <p:cNvSpPr/>
          <p:nvPr/>
        </p:nvSpPr>
        <p:spPr>
          <a:xfrm>
            <a:off x="6144840" y="1600200"/>
            <a:ext cx="2605680" cy="3654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15"/>
          <p:cNvSpPr/>
          <p:nvPr/>
        </p:nvSpPr>
        <p:spPr>
          <a:xfrm>
            <a:off x="6144840" y="160020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DenseNet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16"/>
          <p:cNvSpPr/>
          <p:nvPr/>
        </p:nvSpPr>
        <p:spPr>
          <a:xfrm>
            <a:off x="6217920" y="1993320"/>
            <a:ext cx="246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0c49a"/>
                </a:solidFill>
                <a:latin typeface="Calibri"/>
                <a:ea typeface="Calibri"/>
              </a:rPr>
              <a:t>Dense Feed-Forward Connections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17"/>
          <p:cNvSpPr/>
          <p:nvPr/>
        </p:nvSpPr>
        <p:spPr>
          <a:xfrm>
            <a:off x="6217920" y="225864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Every layer connects to all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subsequent layers, maximizing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feature reuse and visual texture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retention across depth levels.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Optimizer: Adam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Loss: Categorical Cross-Entropy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101"/>
          <p:cNvSpPr/>
          <p:nvPr/>
        </p:nvSpPr>
        <p:spPr>
          <a:xfrm>
            <a:off x="6217920" y="3950280"/>
            <a:ext cx="2468520" cy="639720"/>
          </a:xfrm>
          <a:prstGeom prst="rect">
            <a:avLst/>
          </a:prstGeom>
          <a:solidFill>
            <a:srgbClr val="0a1422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8"/>
          <p:cNvSpPr/>
          <p:nvPr/>
        </p:nvSpPr>
        <p:spPr>
          <a:xfrm>
            <a:off x="6217920" y="396864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8fafc4"/>
                </a:solidFill>
                <a:latin typeface="Calibri"/>
                <a:ea typeface="Calibri"/>
              </a:rPr>
              <a:t>Peak Val Accuracy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19"/>
          <p:cNvSpPr/>
          <p:nvPr/>
        </p:nvSpPr>
        <p:spPr>
          <a:xfrm>
            <a:off x="6217920" y="41515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97.70%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53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52"/>
          <p:cNvSpPr/>
          <p:nvPr/>
        </p:nvSpPr>
        <p:spPr>
          <a:xfrm>
            <a:off x="320040" y="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MODEL RESULTS &amp; PERFORMANCE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56"/>
          <p:cNvSpPr/>
          <p:nvPr/>
        </p:nvSpPr>
        <p:spPr>
          <a:xfrm>
            <a:off x="320040" y="82296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All CNN architectures achieve diagnostic parity with clinical standards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57"/>
          <p:cNvSpPr/>
          <p:nvPr/>
        </p:nvSpPr>
        <p:spPr>
          <a:xfrm>
            <a:off x="228600" y="1261800"/>
            <a:ext cx="2011320" cy="1023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61"/>
          <p:cNvSpPr/>
          <p:nvPr/>
        </p:nvSpPr>
        <p:spPr>
          <a:xfrm>
            <a:off x="228600" y="1261800"/>
            <a:ext cx="2011320" cy="182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60"/>
          <p:cNvSpPr/>
          <p:nvPr/>
        </p:nvSpPr>
        <p:spPr>
          <a:xfrm>
            <a:off x="228600" y="14446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5a623"/>
                </a:solidFill>
                <a:latin typeface="Calibri"/>
                <a:ea typeface="Calibri"/>
              </a:rPr>
              <a:t>94.57%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64"/>
          <p:cNvSpPr/>
          <p:nvPr/>
        </p:nvSpPr>
        <p:spPr>
          <a:xfrm>
            <a:off x="228600" y="19476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Global Accuracy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63"/>
          <p:cNvSpPr/>
          <p:nvPr/>
        </p:nvSpPr>
        <p:spPr>
          <a:xfrm>
            <a:off x="2404800" y="1261800"/>
            <a:ext cx="2011320" cy="1023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65"/>
          <p:cNvSpPr/>
          <p:nvPr/>
        </p:nvSpPr>
        <p:spPr>
          <a:xfrm>
            <a:off x="2404800" y="1261800"/>
            <a:ext cx="2011320" cy="182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66"/>
          <p:cNvSpPr/>
          <p:nvPr/>
        </p:nvSpPr>
        <p:spPr>
          <a:xfrm>
            <a:off x="2404800" y="14446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5a623"/>
                </a:solidFill>
                <a:latin typeface="Calibri"/>
                <a:ea typeface="Calibri"/>
              </a:rPr>
              <a:t>96.12%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68"/>
          <p:cNvSpPr/>
          <p:nvPr/>
        </p:nvSpPr>
        <p:spPr>
          <a:xfrm>
            <a:off x="2404800" y="19476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Global Precision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67"/>
          <p:cNvSpPr/>
          <p:nvPr/>
        </p:nvSpPr>
        <p:spPr>
          <a:xfrm>
            <a:off x="4581000" y="1261800"/>
            <a:ext cx="2011320" cy="1023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69"/>
          <p:cNvSpPr/>
          <p:nvPr/>
        </p:nvSpPr>
        <p:spPr>
          <a:xfrm>
            <a:off x="4581000" y="1261800"/>
            <a:ext cx="2011320" cy="182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70"/>
          <p:cNvSpPr/>
          <p:nvPr/>
        </p:nvSpPr>
        <p:spPr>
          <a:xfrm>
            <a:off x="4581000" y="14446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5a623"/>
                </a:solidFill>
                <a:latin typeface="Calibri"/>
                <a:ea typeface="Calibri"/>
              </a:rPr>
              <a:t>92.89%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72"/>
          <p:cNvSpPr/>
          <p:nvPr/>
        </p:nvSpPr>
        <p:spPr>
          <a:xfrm>
            <a:off x="4581000" y="19476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Global Recall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71"/>
          <p:cNvSpPr/>
          <p:nvPr/>
        </p:nvSpPr>
        <p:spPr>
          <a:xfrm>
            <a:off x="6757560" y="1261800"/>
            <a:ext cx="2011320" cy="1023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102"/>
          <p:cNvSpPr/>
          <p:nvPr/>
        </p:nvSpPr>
        <p:spPr>
          <a:xfrm>
            <a:off x="6757560" y="1261800"/>
            <a:ext cx="2011320" cy="182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20"/>
          <p:cNvSpPr/>
          <p:nvPr/>
        </p:nvSpPr>
        <p:spPr>
          <a:xfrm>
            <a:off x="6757560" y="14446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5a623"/>
                </a:solidFill>
                <a:latin typeface="Calibri"/>
                <a:ea typeface="Calibri"/>
              </a:rPr>
              <a:t>0.1162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21"/>
          <p:cNvSpPr/>
          <p:nvPr/>
        </p:nvSpPr>
        <p:spPr>
          <a:xfrm>
            <a:off x="6757560" y="19476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Loss Convergence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103"/>
          <p:cNvSpPr/>
          <p:nvPr/>
        </p:nvSpPr>
        <p:spPr>
          <a:xfrm>
            <a:off x="228600" y="2423160"/>
            <a:ext cx="8412120" cy="31968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22"/>
          <p:cNvSpPr/>
          <p:nvPr/>
        </p:nvSpPr>
        <p:spPr>
          <a:xfrm>
            <a:off x="228600" y="242316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BREAKDOWN  ·  Peak Validation Metrics Per Model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04"/>
          <p:cNvSpPr/>
          <p:nvPr/>
        </p:nvSpPr>
        <p:spPr>
          <a:xfrm>
            <a:off x="228600" y="2761560"/>
            <a:ext cx="2422800" cy="273960"/>
          </a:xfrm>
          <a:prstGeom prst="rect">
            <a:avLst/>
          </a:prstGeom>
          <a:solidFill>
            <a:srgbClr val="112233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23"/>
          <p:cNvSpPr/>
          <p:nvPr/>
        </p:nvSpPr>
        <p:spPr>
          <a:xfrm>
            <a:off x="228600" y="276156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a896"/>
                </a:solidFill>
                <a:latin typeface="Calibri"/>
                <a:ea typeface="Calibri"/>
              </a:rPr>
              <a:t>Architecture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05"/>
          <p:cNvSpPr/>
          <p:nvPr/>
        </p:nvSpPr>
        <p:spPr>
          <a:xfrm>
            <a:off x="2697480" y="2761560"/>
            <a:ext cx="1691280" cy="273960"/>
          </a:xfrm>
          <a:prstGeom prst="rect">
            <a:avLst/>
          </a:prstGeom>
          <a:solidFill>
            <a:srgbClr val="112233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24"/>
          <p:cNvSpPr/>
          <p:nvPr/>
        </p:nvSpPr>
        <p:spPr>
          <a:xfrm>
            <a:off x="2697480" y="276156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a896"/>
                </a:solidFill>
                <a:latin typeface="Calibri"/>
                <a:ea typeface="Calibri"/>
              </a:rPr>
              <a:t>Val Accuracy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06"/>
          <p:cNvSpPr/>
          <p:nvPr/>
        </p:nvSpPr>
        <p:spPr>
          <a:xfrm>
            <a:off x="4434840" y="2761560"/>
            <a:ext cx="1462680" cy="273960"/>
          </a:xfrm>
          <a:prstGeom prst="rect">
            <a:avLst/>
          </a:prstGeom>
          <a:solidFill>
            <a:srgbClr val="112233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25"/>
          <p:cNvSpPr/>
          <p:nvPr/>
        </p:nvSpPr>
        <p:spPr>
          <a:xfrm>
            <a:off x="4434840" y="27615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a896"/>
                </a:solidFill>
                <a:latin typeface="Calibri"/>
                <a:ea typeface="Calibri"/>
              </a:rPr>
              <a:t>Val Loss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07"/>
          <p:cNvSpPr/>
          <p:nvPr/>
        </p:nvSpPr>
        <p:spPr>
          <a:xfrm>
            <a:off x="5943600" y="2761560"/>
            <a:ext cx="1371240" cy="273960"/>
          </a:xfrm>
          <a:prstGeom prst="rect">
            <a:avLst/>
          </a:prstGeom>
          <a:solidFill>
            <a:srgbClr val="112233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26"/>
          <p:cNvSpPr/>
          <p:nvPr/>
        </p:nvSpPr>
        <p:spPr>
          <a:xfrm>
            <a:off x="5943600" y="27615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a896"/>
                </a:solidFill>
                <a:latin typeface="Calibri"/>
                <a:ea typeface="Calibri"/>
              </a:rPr>
              <a:t>Precision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108"/>
          <p:cNvSpPr/>
          <p:nvPr/>
        </p:nvSpPr>
        <p:spPr>
          <a:xfrm>
            <a:off x="7360920" y="2761560"/>
            <a:ext cx="1279800" cy="273960"/>
          </a:xfrm>
          <a:prstGeom prst="rect">
            <a:avLst/>
          </a:prstGeom>
          <a:solidFill>
            <a:srgbClr val="112233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27"/>
          <p:cNvSpPr/>
          <p:nvPr/>
        </p:nvSpPr>
        <p:spPr>
          <a:xfrm>
            <a:off x="7360920" y="27615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a896"/>
                </a:solidFill>
                <a:latin typeface="Calibri"/>
                <a:ea typeface="Calibri"/>
              </a:rPr>
              <a:t>Recall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09"/>
          <p:cNvSpPr/>
          <p:nvPr/>
        </p:nvSpPr>
        <p:spPr>
          <a:xfrm>
            <a:off x="228600" y="3054240"/>
            <a:ext cx="242280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28"/>
          <p:cNvSpPr/>
          <p:nvPr/>
        </p:nvSpPr>
        <p:spPr>
          <a:xfrm>
            <a:off x="228600" y="3054240"/>
            <a:ext cx="242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ResNet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10"/>
          <p:cNvSpPr/>
          <p:nvPr/>
        </p:nvSpPr>
        <p:spPr>
          <a:xfrm>
            <a:off x="2697480" y="3054240"/>
            <a:ext cx="169128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29"/>
          <p:cNvSpPr/>
          <p:nvPr/>
        </p:nvSpPr>
        <p:spPr>
          <a:xfrm>
            <a:off x="2697480" y="3054240"/>
            <a:ext cx="169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98.80%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11"/>
          <p:cNvSpPr/>
          <p:nvPr/>
        </p:nvSpPr>
        <p:spPr>
          <a:xfrm>
            <a:off x="4434840" y="3054240"/>
            <a:ext cx="146268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30"/>
          <p:cNvSpPr/>
          <p:nvPr/>
        </p:nvSpPr>
        <p:spPr>
          <a:xfrm>
            <a:off x="4434840" y="30542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0.0377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12"/>
          <p:cNvSpPr/>
          <p:nvPr/>
        </p:nvSpPr>
        <p:spPr>
          <a:xfrm>
            <a:off x="5943600" y="3054240"/>
            <a:ext cx="137124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31"/>
          <p:cNvSpPr/>
          <p:nvPr/>
        </p:nvSpPr>
        <p:spPr>
          <a:xfrm>
            <a:off x="5943600" y="305424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fc4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13"/>
          <p:cNvSpPr/>
          <p:nvPr/>
        </p:nvSpPr>
        <p:spPr>
          <a:xfrm>
            <a:off x="7360920" y="3054240"/>
            <a:ext cx="127980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32"/>
          <p:cNvSpPr/>
          <p:nvPr/>
        </p:nvSpPr>
        <p:spPr>
          <a:xfrm>
            <a:off x="7360920" y="305424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fc4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14"/>
          <p:cNvSpPr/>
          <p:nvPr/>
        </p:nvSpPr>
        <p:spPr>
          <a:xfrm>
            <a:off x="228600" y="3401640"/>
            <a:ext cx="242280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33"/>
          <p:cNvSpPr/>
          <p:nvPr/>
        </p:nvSpPr>
        <p:spPr>
          <a:xfrm>
            <a:off x="228600" y="3401640"/>
            <a:ext cx="242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c49a"/>
                </a:solidFill>
                <a:latin typeface="Calibri"/>
                <a:ea typeface="Calibri"/>
              </a:rPr>
              <a:t>DenseNet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15"/>
          <p:cNvSpPr/>
          <p:nvPr/>
        </p:nvSpPr>
        <p:spPr>
          <a:xfrm>
            <a:off x="2697480" y="3401640"/>
            <a:ext cx="169128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34"/>
          <p:cNvSpPr/>
          <p:nvPr/>
        </p:nvSpPr>
        <p:spPr>
          <a:xfrm>
            <a:off x="2697480" y="3401640"/>
            <a:ext cx="169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97.70%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16"/>
          <p:cNvSpPr/>
          <p:nvPr/>
        </p:nvSpPr>
        <p:spPr>
          <a:xfrm>
            <a:off x="4434840" y="3401640"/>
            <a:ext cx="146268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35"/>
          <p:cNvSpPr/>
          <p:nvPr/>
        </p:nvSpPr>
        <p:spPr>
          <a:xfrm>
            <a:off x="4434840" y="34016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0.0635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17"/>
          <p:cNvSpPr/>
          <p:nvPr/>
        </p:nvSpPr>
        <p:spPr>
          <a:xfrm>
            <a:off x="5943600" y="3401640"/>
            <a:ext cx="137124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36"/>
          <p:cNvSpPr/>
          <p:nvPr/>
        </p:nvSpPr>
        <p:spPr>
          <a:xfrm>
            <a:off x="5943600" y="340164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fc4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18"/>
          <p:cNvSpPr/>
          <p:nvPr/>
        </p:nvSpPr>
        <p:spPr>
          <a:xfrm>
            <a:off x="7360920" y="3401640"/>
            <a:ext cx="127980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37"/>
          <p:cNvSpPr/>
          <p:nvPr/>
        </p:nvSpPr>
        <p:spPr>
          <a:xfrm>
            <a:off x="7360920" y="340164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fc4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19"/>
          <p:cNvSpPr/>
          <p:nvPr/>
        </p:nvSpPr>
        <p:spPr>
          <a:xfrm>
            <a:off x="228600" y="3749040"/>
            <a:ext cx="242280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38"/>
          <p:cNvSpPr/>
          <p:nvPr/>
        </p:nvSpPr>
        <p:spPr>
          <a:xfrm>
            <a:off x="228600" y="3749040"/>
            <a:ext cx="242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a896"/>
                </a:solidFill>
                <a:latin typeface="Calibri"/>
                <a:ea typeface="Calibri"/>
              </a:rPr>
              <a:t>MobileNet (Final)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120"/>
          <p:cNvSpPr/>
          <p:nvPr/>
        </p:nvSpPr>
        <p:spPr>
          <a:xfrm>
            <a:off x="2697480" y="3749040"/>
            <a:ext cx="169128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39"/>
          <p:cNvSpPr/>
          <p:nvPr/>
        </p:nvSpPr>
        <p:spPr>
          <a:xfrm>
            <a:off x="2697480" y="3749040"/>
            <a:ext cx="169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97.90%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121"/>
          <p:cNvSpPr/>
          <p:nvPr/>
        </p:nvSpPr>
        <p:spPr>
          <a:xfrm>
            <a:off x="4434840" y="3749040"/>
            <a:ext cx="146268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40"/>
          <p:cNvSpPr/>
          <p:nvPr/>
        </p:nvSpPr>
        <p:spPr>
          <a:xfrm>
            <a:off x="4434840" y="37490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0.0566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22"/>
          <p:cNvSpPr/>
          <p:nvPr/>
        </p:nvSpPr>
        <p:spPr>
          <a:xfrm>
            <a:off x="5943600" y="3749040"/>
            <a:ext cx="137124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41"/>
          <p:cNvSpPr/>
          <p:nvPr/>
        </p:nvSpPr>
        <p:spPr>
          <a:xfrm>
            <a:off x="5943600" y="374904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97.43%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23"/>
          <p:cNvSpPr/>
          <p:nvPr/>
        </p:nvSpPr>
        <p:spPr>
          <a:xfrm>
            <a:off x="7360920" y="3749040"/>
            <a:ext cx="1279800" cy="32868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42"/>
          <p:cNvSpPr/>
          <p:nvPr/>
        </p:nvSpPr>
        <p:spPr>
          <a:xfrm>
            <a:off x="7360920" y="374904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98.40%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24"/>
          <p:cNvSpPr/>
          <p:nvPr/>
        </p:nvSpPr>
        <p:spPr>
          <a:xfrm>
            <a:off x="228600" y="4096440"/>
            <a:ext cx="242280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43"/>
          <p:cNvSpPr/>
          <p:nvPr/>
        </p:nvSpPr>
        <p:spPr>
          <a:xfrm>
            <a:off x="228600" y="4096440"/>
            <a:ext cx="242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8fafc4"/>
                </a:solidFill>
                <a:latin typeface="Calibri"/>
                <a:ea typeface="Calibri"/>
              </a:rPr>
              <a:t>U-Net (Seg.)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125"/>
          <p:cNvSpPr/>
          <p:nvPr/>
        </p:nvSpPr>
        <p:spPr>
          <a:xfrm>
            <a:off x="2697480" y="4096440"/>
            <a:ext cx="169128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44"/>
          <p:cNvSpPr/>
          <p:nvPr/>
        </p:nvSpPr>
        <p:spPr>
          <a:xfrm>
            <a:off x="2697480" y="4096440"/>
            <a:ext cx="169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fc4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26"/>
          <p:cNvSpPr/>
          <p:nvPr/>
        </p:nvSpPr>
        <p:spPr>
          <a:xfrm>
            <a:off x="4434840" y="4096440"/>
            <a:ext cx="146268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45"/>
          <p:cNvSpPr/>
          <p:nvPr/>
        </p:nvSpPr>
        <p:spPr>
          <a:xfrm>
            <a:off x="4434840" y="40964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0.5709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27"/>
          <p:cNvSpPr/>
          <p:nvPr/>
        </p:nvSpPr>
        <p:spPr>
          <a:xfrm>
            <a:off x="5943600" y="4096440"/>
            <a:ext cx="137124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46"/>
          <p:cNvSpPr/>
          <p:nvPr/>
        </p:nvSpPr>
        <p:spPr>
          <a:xfrm>
            <a:off x="5943600" y="409644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fc4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28"/>
          <p:cNvSpPr/>
          <p:nvPr/>
        </p:nvSpPr>
        <p:spPr>
          <a:xfrm>
            <a:off x="7360920" y="4096440"/>
            <a:ext cx="1279800" cy="32868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47"/>
          <p:cNvSpPr/>
          <p:nvPr/>
        </p:nvSpPr>
        <p:spPr>
          <a:xfrm>
            <a:off x="7360920" y="409644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fc4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20" name="Chart 2"/>
          <p:cNvGraphicFramePr/>
          <p:nvPr/>
        </p:nvGraphicFramePr>
        <p:xfrm>
          <a:off x="228600" y="4507920"/>
          <a:ext cx="5028840" cy="502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1" name="Shape 129"/>
          <p:cNvSpPr/>
          <p:nvPr/>
        </p:nvSpPr>
        <p:spPr>
          <a:xfrm>
            <a:off x="5532120" y="4507920"/>
            <a:ext cx="3108600" cy="50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48"/>
          <p:cNvSpPr/>
          <p:nvPr/>
        </p:nvSpPr>
        <p:spPr>
          <a:xfrm>
            <a:off x="5623560" y="45079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5a623"/>
                </a:solidFill>
                <a:latin typeface="Calibri"/>
                <a:ea typeface="Calibri"/>
              </a:rPr>
              <a:t>U-Net Seg.  </a:t>
            </a:r>
            <a:r>
              <a:rPr b="0" lang="en-US" sz="800" spc="-1" strike="noStrike">
                <a:solidFill>
                  <a:srgbClr val="8fafc4"/>
                </a:solidFill>
                <a:latin typeface="Calibri"/>
                <a:ea typeface="Calibri"/>
              </a:rPr>
              <a:t>Best Val Loss: </a:t>
            </a: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0.5709</a:t>
            </a:r>
            <a:r>
              <a:rPr b="0" lang="en-US" sz="800" spc="-1" strike="noStrike">
                <a:solidFill>
                  <a:srgbClr val="8fafc4"/>
                </a:solidFill>
                <a:latin typeface="Calibri"/>
                <a:ea typeface="Calibri"/>
              </a:rPr>
              <a:t>  ·  Effectively isolates conjunctiva morphology for downstream classification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4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1"/>
          <p:cNvSpPr/>
          <p:nvPr/>
        </p:nvSpPr>
        <p:spPr>
          <a:xfrm>
            <a:off x="320040" y="0"/>
            <a:ext cx="85035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CLASSIFICATION REPORT &amp; CONFUSION MATRIX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5"/>
          <p:cNvSpPr/>
          <p:nvPr/>
        </p:nvSpPr>
        <p:spPr>
          <a:xfrm>
            <a:off x="320040" y="795600"/>
            <a:ext cx="8503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MobileNet (Final Deployed Model) — Test Set Evaluation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42"/>
          <p:cNvSpPr/>
          <p:nvPr/>
        </p:nvSpPr>
        <p:spPr>
          <a:xfrm>
            <a:off x="255960" y="1170360"/>
            <a:ext cx="4160160" cy="3748680"/>
          </a:xfrm>
          <a:prstGeom prst="rect">
            <a:avLst/>
          </a:prstGeom>
          <a:solidFill>
            <a:srgbClr val="1c2b3a"/>
          </a:solidFill>
          <a:ln w="19050">
            <a:solidFill>
              <a:srgbClr val="00a89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44"/>
          <p:cNvSpPr/>
          <p:nvPr/>
        </p:nvSpPr>
        <p:spPr>
          <a:xfrm>
            <a:off x="255960" y="1170360"/>
            <a:ext cx="4160160" cy="319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7"/>
          <p:cNvSpPr/>
          <p:nvPr/>
        </p:nvSpPr>
        <p:spPr>
          <a:xfrm>
            <a:off x="255960" y="1170360"/>
            <a:ext cx="4160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CONFUSION MATRIX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49"/>
          <p:cNvSpPr/>
          <p:nvPr/>
        </p:nvSpPr>
        <p:spPr>
          <a:xfrm>
            <a:off x="1188720" y="1536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Predicted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51"/>
          <p:cNvSpPr/>
          <p:nvPr/>
        </p:nvSpPr>
        <p:spPr>
          <a:xfrm rot="16200000">
            <a:off x="274320" y="2377800"/>
            <a:ext cx="548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Actual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55"/>
          <p:cNvSpPr/>
          <p:nvPr/>
        </p:nvSpPr>
        <p:spPr>
          <a:xfrm>
            <a:off x="960120" y="175572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7ae60"/>
                </a:solidFill>
                <a:latin typeface="Calibri"/>
                <a:ea typeface="Calibri"/>
              </a:rPr>
              <a:t>Not Anemic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59"/>
          <p:cNvSpPr/>
          <p:nvPr/>
        </p:nvSpPr>
        <p:spPr>
          <a:xfrm>
            <a:off x="2212920" y="175572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c0392b"/>
                </a:solidFill>
                <a:latin typeface="Calibri"/>
                <a:ea typeface="Calibri"/>
              </a:rPr>
              <a:t>Anemic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63"/>
          <p:cNvSpPr/>
          <p:nvPr/>
        </p:nvSpPr>
        <p:spPr>
          <a:xfrm>
            <a:off x="841320" y="2030040"/>
            <a:ext cx="804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7ae60"/>
                </a:solidFill>
                <a:latin typeface="Calibri"/>
                <a:ea typeface="Calibri"/>
              </a:rPr>
              <a:t>Not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7ae60"/>
                </a:solidFill>
                <a:latin typeface="Calibri"/>
                <a:ea typeface="Calibri"/>
              </a:rPr>
              <a:t>Anemic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65"/>
          <p:cNvSpPr/>
          <p:nvPr/>
        </p:nvSpPr>
        <p:spPr>
          <a:xfrm>
            <a:off x="841320" y="2816280"/>
            <a:ext cx="80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c0392b"/>
                </a:solidFill>
                <a:latin typeface="Calibri"/>
                <a:ea typeface="Calibri"/>
              </a:rPr>
              <a:t>Anemic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46"/>
          <p:cNvSpPr/>
          <p:nvPr/>
        </p:nvSpPr>
        <p:spPr>
          <a:xfrm>
            <a:off x="1682640" y="2030040"/>
            <a:ext cx="1142640" cy="658080"/>
          </a:xfrm>
          <a:prstGeom prst="rect">
            <a:avLst/>
          </a:prstGeom>
          <a:solidFill>
            <a:srgbClr val="1a4a2e"/>
          </a:solidFill>
          <a:ln w="1905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67"/>
          <p:cNvSpPr/>
          <p:nvPr/>
        </p:nvSpPr>
        <p:spPr>
          <a:xfrm>
            <a:off x="1682640" y="2030040"/>
            <a:ext cx="1142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7ae60"/>
                </a:solidFill>
                <a:latin typeface="Calibri"/>
                <a:ea typeface="Calibri"/>
              </a:rPr>
              <a:t>87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48"/>
          <p:cNvSpPr/>
          <p:nvPr/>
        </p:nvSpPr>
        <p:spPr>
          <a:xfrm>
            <a:off x="2853000" y="2030040"/>
            <a:ext cx="1142640" cy="658080"/>
          </a:xfrm>
          <a:prstGeom prst="rect">
            <a:avLst/>
          </a:prstGeom>
          <a:solidFill>
            <a:srgbClr val="2a1a1a"/>
          </a:solidFill>
          <a:ln w="12700">
            <a:solidFill>
              <a:srgbClr val="66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69"/>
          <p:cNvSpPr/>
          <p:nvPr/>
        </p:nvSpPr>
        <p:spPr>
          <a:xfrm>
            <a:off x="2853000" y="2030040"/>
            <a:ext cx="1142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c6666"/>
                </a:solidFill>
                <a:latin typeface="Calibri"/>
                <a:ea typeface="Calibri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50"/>
          <p:cNvSpPr/>
          <p:nvPr/>
        </p:nvSpPr>
        <p:spPr>
          <a:xfrm>
            <a:off x="1682640" y="2797920"/>
            <a:ext cx="1142640" cy="658080"/>
          </a:xfrm>
          <a:prstGeom prst="rect">
            <a:avLst/>
          </a:prstGeom>
          <a:solidFill>
            <a:srgbClr val="2a1a1a"/>
          </a:solidFill>
          <a:ln w="12700">
            <a:solidFill>
              <a:srgbClr val="66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71"/>
          <p:cNvSpPr/>
          <p:nvPr/>
        </p:nvSpPr>
        <p:spPr>
          <a:xfrm>
            <a:off x="1682640" y="2797920"/>
            <a:ext cx="1142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c6666"/>
                </a:solidFill>
                <a:latin typeface="Calibri"/>
                <a:ea typeface="Calibri"/>
              </a:rPr>
              <a:t>7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54"/>
          <p:cNvSpPr/>
          <p:nvPr/>
        </p:nvSpPr>
        <p:spPr>
          <a:xfrm>
            <a:off x="2853000" y="2797920"/>
            <a:ext cx="1142640" cy="658080"/>
          </a:xfrm>
          <a:prstGeom prst="rect">
            <a:avLst/>
          </a:prstGeom>
          <a:solidFill>
            <a:srgbClr val="1a4a2e"/>
          </a:solidFill>
          <a:ln w="1905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73"/>
          <p:cNvSpPr/>
          <p:nvPr/>
        </p:nvSpPr>
        <p:spPr>
          <a:xfrm>
            <a:off x="2853000" y="2797920"/>
            <a:ext cx="1142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7ae60"/>
                </a:solidFill>
                <a:latin typeface="Calibri"/>
                <a:ea typeface="Calibri"/>
              </a:rPr>
              <a:t>83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75"/>
          <p:cNvSpPr/>
          <p:nvPr/>
        </p:nvSpPr>
        <p:spPr>
          <a:xfrm>
            <a:off x="1682640" y="2633400"/>
            <a:ext cx="1142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8fafc4"/>
                </a:solidFill>
                <a:latin typeface="Calibri"/>
                <a:ea typeface="Calibri"/>
              </a:rPr>
              <a:t>TN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77"/>
          <p:cNvSpPr/>
          <p:nvPr/>
        </p:nvSpPr>
        <p:spPr>
          <a:xfrm>
            <a:off x="2853000" y="2633400"/>
            <a:ext cx="1142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8fafc4"/>
                </a:solidFill>
                <a:latin typeface="Calibri"/>
                <a:ea typeface="Calibri"/>
              </a:rPr>
              <a:t>FP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79"/>
          <p:cNvSpPr/>
          <p:nvPr/>
        </p:nvSpPr>
        <p:spPr>
          <a:xfrm>
            <a:off x="1682640" y="3401640"/>
            <a:ext cx="1142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8fafc4"/>
                </a:solidFill>
                <a:latin typeface="Calibri"/>
                <a:ea typeface="Calibri"/>
              </a:rPr>
              <a:t>FN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81"/>
          <p:cNvSpPr/>
          <p:nvPr/>
        </p:nvSpPr>
        <p:spPr>
          <a:xfrm>
            <a:off x="2853000" y="3401640"/>
            <a:ext cx="1142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8fafc4"/>
                </a:solidFill>
                <a:latin typeface="Calibri"/>
                <a:ea typeface="Calibri"/>
              </a:rPr>
              <a:t>TP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83"/>
          <p:cNvSpPr/>
          <p:nvPr/>
        </p:nvSpPr>
        <p:spPr>
          <a:xfrm>
            <a:off x="32004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fafc4"/>
                </a:solidFill>
                <a:latin typeface="Calibri"/>
                <a:ea typeface="Calibri"/>
              </a:rPr>
              <a:t>Test set: 181 samples  ·  Not Anemic: 91  ·  Anemic: 90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58"/>
          <p:cNvSpPr/>
          <p:nvPr/>
        </p:nvSpPr>
        <p:spPr>
          <a:xfrm>
            <a:off x="4663440" y="1170360"/>
            <a:ext cx="4205880" cy="3748680"/>
          </a:xfrm>
          <a:prstGeom prst="rect">
            <a:avLst/>
          </a:prstGeom>
          <a:solidFill>
            <a:srgbClr val="1c2b3a"/>
          </a:solidFill>
          <a:ln w="19050">
            <a:solidFill>
              <a:srgbClr val="00a89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62"/>
          <p:cNvSpPr/>
          <p:nvPr/>
        </p:nvSpPr>
        <p:spPr>
          <a:xfrm>
            <a:off x="4663440" y="1170360"/>
            <a:ext cx="4205880" cy="31968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85"/>
          <p:cNvSpPr/>
          <p:nvPr/>
        </p:nvSpPr>
        <p:spPr>
          <a:xfrm>
            <a:off x="4663440" y="117036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CLASSIFICATION REPORT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64"/>
          <p:cNvSpPr/>
          <p:nvPr/>
        </p:nvSpPr>
        <p:spPr>
          <a:xfrm>
            <a:off x="4736520" y="1536120"/>
            <a:ext cx="1115280" cy="273960"/>
          </a:xfrm>
          <a:prstGeom prst="rect">
            <a:avLst/>
          </a:prstGeom>
          <a:solidFill>
            <a:srgbClr val="0a1422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87"/>
          <p:cNvSpPr/>
          <p:nvPr/>
        </p:nvSpPr>
        <p:spPr>
          <a:xfrm>
            <a:off x="4736520" y="153612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0a896"/>
                </a:solidFill>
                <a:latin typeface="Calibri"/>
                <a:ea typeface="Calibri"/>
              </a:rPr>
              <a:t>Class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66"/>
          <p:cNvSpPr/>
          <p:nvPr/>
        </p:nvSpPr>
        <p:spPr>
          <a:xfrm>
            <a:off x="5897880" y="1536120"/>
            <a:ext cx="658080" cy="273960"/>
          </a:xfrm>
          <a:prstGeom prst="rect">
            <a:avLst/>
          </a:prstGeom>
          <a:solidFill>
            <a:srgbClr val="0a1422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89"/>
          <p:cNvSpPr/>
          <p:nvPr/>
        </p:nvSpPr>
        <p:spPr>
          <a:xfrm>
            <a:off x="5897880" y="153612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0a896"/>
                </a:solidFill>
                <a:latin typeface="Calibri"/>
                <a:ea typeface="Calibri"/>
              </a:rPr>
              <a:t>Precision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68"/>
          <p:cNvSpPr/>
          <p:nvPr/>
        </p:nvSpPr>
        <p:spPr>
          <a:xfrm>
            <a:off x="6583680" y="1536120"/>
            <a:ext cx="658080" cy="273960"/>
          </a:xfrm>
          <a:prstGeom prst="rect">
            <a:avLst/>
          </a:prstGeom>
          <a:solidFill>
            <a:srgbClr val="0a1422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63"/>
          <p:cNvSpPr/>
          <p:nvPr/>
        </p:nvSpPr>
        <p:spPr>
          <a:xfrm>
            <a:off x="6583680" y="153612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0a896"/>
                </a:solidFill>
                <a:latin typeface="Calibri"/>
                <a:ea typeface="Calibri"/>
              </a:rPr>
              <a:t>Recall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70"/>
          <p:cNvSpPr/>
          <p:nvPr/>
        </p:nvSpPr>
        <p:spPr>
          <a:xfrm>
            <a:off x="7269480" y="1536120"/>
            <a:ext cx="658080" cy="273960"/>
          </a:xfrm>
          <a:prstGeom prst="rect">
            <a:avLst/>
          </a:prstGeom>
          <a:solidFill>
            <a:srgbClr val="0a1422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64"/>
          <p:cNvSpPr/>
          <p:nvPr/>
        </p:nvSpPr>
        <p:spPr>
          <a:xfrm>
            <a:off x="7269480" y="153612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0a896"/>
                </a:solidFill>
                <a:latin typeface="Calibri"/>
                <a:ea typeface="Calibri"/>
              </a:rPr>
              <a:t>F1-Score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72"/>
          <p:cNvSpPr/>
          <p:nvPr/>
        </p:nvSpPr>
        <p:spPr>
          <a:xfrm>
            <a:off x="7955280" y="1536120"/>
            <a:ext cx="822600" cy="273960"/>
          </a:xfrm>
          <a:prstGeom prst="rect">
            <a:avLst/>
          </a:prstGeom>
          <a:solidFill>
            <a:srgbClr val="0a1422"/>
          </a:solidFill>
          <a:ln w="63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65"/>
          <p:cNvSpPr/>
          <p:nvPr/>
        </p:nvSpPr>
        <p:spPr>
          <a:xfrm>
            <a:off x="7955280" y="15361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0a896"/>
                </a:solidFill>
                <a:latin typeface="Calibri"/>
                <a:ea typeface="Calibri"/>
              </a:rPr>
              <a:t>Support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74"/>
          <p:cNvSpPr/>
          <p:nvPr/>
        </p:nvSpPr>
        <p:spPr>
          <a:xfrm>
            <a:off x="4736520" y="1828800"/>
            <a:ext cx="11152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66"/>
          <p:cNvSpPr/>
          <p:nvPr/>
        </p:nvSpPr>
        <p:spPr>
          <a:xfrm>
            <a:off x="4736520" y="1828800"/>
            <a:ext cx="111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  <a:ea typeface="Calibri"/>
              </a:rPr>
              <a:t>Not Anemic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76"/>
          <p:cNvSpPr/>
          <p:nvPr/>
        </p:nvSpPr>
        <p:spPr>
          <a:xfrm>
            <a:off x="5897880" y="182880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67"/>
          <p:cNvSpPr/>
          <p:nvPr/>
        </p:nvSpPr>
        <p:spPr>
          <a:xfrm>
            <a:off x="5897880" y="182880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95.60%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78"/>
          <p:cNvSpPr/>
          <p:nvPr/>
        </p:nvSpPr>
        <p:spPr>
          <a:xfrm>
            <a:off x="6583680" y="182880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68"/>
          <p:cNvSpPr/>
          <p:nvPr/>
        </p:nvSpPr>
        <p:spPr>
          <a:xfrm>
            <a:off x="6583680" y="182880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95.60%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80"/>
          <p:cNvSpPr/>
          <p:nvPr/>
        </p:nvSpPr>
        <p:spPr>
          <a:xfrm>
            <a:off x="7269480" y="182880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69"/>
          <p:cNvSpPr/>
          <p:nvPr/>
        </p:nvSpPr>
        <p:spPr>
          <a:xfrm>
            <a:off x="7269480" y="182880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95.60%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82"/>
          <p:cNvSpPr/>
          <p:nvPr/>
        </p:nvSpPr>
        <p:spPr>
          <a:xfrm>
            <a:off x="7955280" y="1828800"/>
            <a:ext cx="82260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70"/>
          <p:cNvSpPr/>
          <p:nvPr/>
        </p:nvSpPr>
        <p:spPr>
          <a:xfrm>
            <a:off x="7955280" y="182880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84"/>
          <p:cNvSpPr/>
          <p:nvPr/>
        </p:nvSpPr>
        <p:spPr>
          <a:xfrm>
            <a:off x="4736520" y="2212920"/>
            <a:ext cx="11152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71"/>
          <p:cNvSpPr/>
          <p:nvPr/>
        </p:nvSpPr>
        <p:spPr>
          <a:xfrm>
            <a:off x="4736520" y="2212920"/>
            <a:ext cx="111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c0392b"/>
                </a:solidFill>
                <a:latin typeface="Calibri"/>
                <a:ea typeface="Calibri"/>
              </a:rPr>
              <a:t>Anemic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86"/>
          <p:cNvSpPr/>
          <p:nvPr/>
        </p:nvSpPr>
        <p:spPr>
          <a:xfrm>
            <a:off x="5897880" y="2212920"/>
            <a:ext cx="6580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72"/>
          <p:cNvSpPr/>
          <p:nvPr/>
        </p:nvSpPr>
        <p:spPr>
          <a:xfrm>
            <a:off x="5897880" y="221292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95.40%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88"/>
          <p:cNvSpPr/>
          <p:nvPr/>
        </p:nvSpPr>
        <p:spPr>
          <a:xfrm>
            <a:off x="6583680" y="2212920"/>
            <a:ext cx="6580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73"/>
          <p:cNvSpPr/>
          <p:nvPr/>
        </p:nvSpPr>
        <p:spPr>
          <a:xfrm>
            <a:off x="6583680" y="221292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95.40%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38"/>
          <p:cNvSpPr/>
          <p:nvPr/>
        </p:nvSpPr>
        <p:spPr>
          <a:xfrm>
            <a:off x="7269480" y="2212920"/>
            <a:ext cx="6580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74"/>
          <p:cNvSpPr/>
          <p:nvPr/>
        </p:nvSpPr>
        <p:spPr>
          <a:xfrm>
            <a:off x="7269480" y="221292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95.40%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139"/>
          <p:cNvSpPr/>
          <p:nvPr/>
        </p:nvSpPr>
        <p:spPr>
          <a:xfrm>
            <a:off x="7955280" y="2212920"/>
            <a:ext cx="82260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75"/>
          <p:cNvSpPr/>
          <p:nvPr/>
        </p:nvSpPr>
        <p:spPr>
          <a:xfrm>
            <a:off x="7955280" y="221292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40"/>
          <p:cNvSpPr/>
          <p:nvPr/>
        </p:nvSpPr>
        <p:spPr>
          <a:xfrm>
            <a:off x="4736520" y="2597040"/>
            <a:ext cx="11152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76"/>
          <p:cNvSpPr/>
          <p:nvPr/>
        </p:nvSpPr>
        <p:spPr>
          <a:xfrm>
            <a:off x="4736520" y="2597040"/>
            <a:ext cx="111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5a623"/>
                </a:solidFill>
                <a:latin typeface="Calibri"/>
                <a:ea typeface="Calibri"/>
              </a:rPr>
              <a:t>Accuracy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141"/>
          <p:cNvSpPr/>
          <p:nvPr/>
        </p:nvSpPr>
        <p:spPr>
          <a:xfrm>
            <a:off x="5897880" y="259704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77"/>
          <p:cNvSpPr/>
          <p:nvPr/>
        </p:nvSpPr>
        <p:spPr>
          <a:xfrm>
            <a:off x="5897880" y="259704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" name="Shape 142"/>
          <p:cNvSpPr/>
          <p:nvPr/>
        </p:nvSpPr>
        <p:spPr>
          <a:xfrm>
            <a:off x="6583680" y="259704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78"/>
          <p:cNvSpPr/>
          <p:nvPr/>
        </p:nvSpPr>
        <p:spPr>
          <a:xfrm>
            <a:off x="6583680" y="259704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7" name="Shape 143"/>
          <p:cNvSpPr/>
          <p:nvPr/>
        </p:nvSpPr>
        <p:spPr>
          <a:xfrm>
            <a:off x="7269480" y="259704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79"/>
          <p:cNvSpPr/>
          <p:nvPr/>
        </p:nvSpPr>
        <p:spPr>
          <a:xfrm>
            <a:off x="7269480" y="259704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95.03%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144"/>
          <p:cNvSpPr/>
          <p:nvPr/>
        </p:nvSpPr>
        <p:spPr>
          <a:xfrm>
            <a:off x="7955280" y="2597040"/>
            <a:ext cx="82260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180"/>
          <p:cNvSpPr/>
          <p:nvPr/>
        </p:nvSpPr>
        <p:spPr>
          <a:xfrm>
            <a:off x="7955280" y="259704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181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145"/>
          <p:cNvSpPr/>
          <p:nvPr/>
        </p:nvSpPr>
        <p:spPr>
          <a:xfrm>
            <a:off x="4736520" y="2980800"/>
            <a:ext cx="11152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81"/>
          <p:cNvSpPr/>
          <p:nvPr/>
        </p:nvSpPr>
        <p:spPr>
          <a:xfrm>
            <a:off x="4736520" y="2980800"/>
            <a:ext cx="111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8fafc4"/>
                </a:solidFill>
                <a:latin typeface="Calibri"/>
                <a:ea typeface="Calibri"/>
              </a:rPr>
              <a:t>Macro Avg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46"/>
          <p:cNvSpPr/>
          <p:nvPr/>
        </p:nvSpPr>
        <p:spPr>
          <a:xfrm>
            <a:off x="5897880" y="2980800"/>
            <a:ext cx="6580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82"/>
          <p:cNvSpPr/>
          <p:nvPr/>
        </p:nvSpPr>
        <p:spPr>
          <a:xfrm>
            <a:off x="5897880" y="298080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95.50%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147"/>
          <p:cNvSpPr/>
          <p:nvPr/>
        </p:nvSpPr>
        <p:spPr>
          <a:xfrm>
            <a:off x="6583680" y="2980800"/>
            <a:ext cx="6580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183"/>
          <p:cNvSpPr/>
          <p:nvPr/>
        </p:nvSpPr>
        <p:spPr>
          <a:xfrm>
            <a:off x="6583680" y="298080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95.50%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148"/>
          <p:cNvSpPr/>
          <p:nvPr/>
        </p:nvSpPr>
        <p:spPr>
          <a:xfrm>
            <a:off x="7269480" y="2980800"/>
            <a:ext cx="65808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84"/>
          <p:cNvSpPr/>
          <p:nvPr/>
        </p:nvSpPr>
        <p:spPr>
          <a:xfrm>
            <a:off x="7269480" y="298080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95.50%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49"/>
          <p:cNvSpPr/>
          <p:nvPr/>
        </p:nvSpPr>
        <p:spPr>
          <a:xfrm>
            <a:off x="7955280" y="2980800"/>
            <a:ext cx="822600" cy="365400"/>
          </a:xfrm>
          <a:prstGeom prst="rect">
            <a:avLst/>
          </a:prstGeom>
          <a:solidFill>
            <a:srgbClr val="081018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85"/>
          <p:cNvSpPr/>
          <p:nvPr/>
        </p:nvSpPr>
        <p:spPr>
          <a:xfrm>
            <a:off x="7955280" y="298080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181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150"/>
          <p:cNvSpPr/>
          <p:nvPr/>
        </p:nvSpPr>
        <p:spPr>
          <a:xfrm>
            <a:off x="4736520" y="3364920"/>
            <a:ext cx="11152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86"/>
          <p:cNvSpPr/>
          <p:nvPr/>
        </p:nvSpPr>
        <p:spPr>
          <a:xfrm>
            <a:off x="4736520" y="3364920"/>
            <a:ext cx="111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8fafc4"/>
                </a:solidFill>
                <a:latin typeface="Calibri"/>
                <a:ea typeface="Calibri"/>
              </a:rPr>
              <a:t>Weighted Avg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51"/>
          <p:cNvSpPr/>
          <p:nvPr/>
        </p:nvSpPr>
        <p:spPr>
          <a:xfrm>
            <a:off x="5897880" y="336492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87"/>
          <p:cNvSpPr/>
          <p:nvPr/>
        </p:nvSpPr>
        <p:spPr>
          <a:xfrm>
            <a:off x="5897880" y="336492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95.51%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152"/>
          <p:cNvSpPr/>
          <p:nvPr/>
        </p:nvSpPr>
        <p:spPr>
          <a:xfrm>
            <a:off x="6583680" y="336492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88"/>
          <p:cNvSpPr/>
          <p:nvPr/>
        </p:nvSpPr>
        <p:spPr>
          <a:xfrm>
            <a:off x="6583680" y="336492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95.03%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53"/>
          <p:cNvSpPr/>
          <p:nvPr/>
        </p:nvSpPr>
        <p:spPr>
          <a:xfrm>
            <a:off x="7269480" y="3364920"/>
            <a:ext cx="65808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189"/>
          <p:cNvSpPr/>
          <p:nvPr/>
        </p:nvSpPr>
        <p:spPr>
          <a:xfrm>
            <a:off x="7269480" y="336492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95.27%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54"/>
          <p:cNvSpPr/>
          <p:nvPr/>
        </p:nvSpPr>
        <p:spPr>
          <a:xfrm>
            <a:off x="7955280" y="3364920"/>
            <a:ext cx="822600" cy="365400"/>
          </a:xfrm>
          <a:prstGeom prst="rect">
            <a:avLst/>
          </a:prstGeom>
          <a:solidFill>
            <a:srgbClr val="0d1b2a"/>
          </a:solidFill>
          <a:ln w="6350">
            <a:solidFill>
              <a:srgbClr val="1a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90"/>
          <p:cNvSpPr/>
          <p:nvPr/>
        </p:nvSpPr>
        <p:spPr>
          <a:xfrm>
            <a:off x="7955280" y="336492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181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11" name="Chart 3"/>
          <p:cNvGraphicFramePr/>
          <p:nvPr/>
        </p:nvGraphicFramePr>
        <p:xfrm>
          <a:off x="4663440" y="3794760"/>
          <a:ext cx="4205880" cy="109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12" name="Shape 155"/>
          <p:cNvSpPr/>
          <p:nvPr/>
        </p:nvSpPr>
        <p:spPr>
          <a:xfrm>
            <a:off x="255960" y="4818960"/>
            <a:ext cx="8631720" cy="273960"/>
          </a:xfrm>
          <a:prstGeom prst="rect">
            <a:avLst/>
          </a:prstGeom>
          <a:solidFill>
            <a:srgbClr val="081018"/>
          </a:solidFill>
          <a:ln w="12700">
            <a:solidFill>
              <a:srgbClr val="0810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91"/>
          <p:cNvSpPr/>
          <p:nvPr/>
        </p:nvSpPr>
        <p:spPr>
          <a:xfrm>
            <a:off x="255960" y="4818960"/>
            <a:ext cx="863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Overall Accuracy: </a:t>
            </a: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94.57%</a:t>
            </a:r>
            <a:r>
              <a:rPr b="0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   ·   Precision: </a:t>
            </a: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96.12%</a:t>
            </a:r>
            <a:r>
              <a:rPr b="0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   ·   Recall: </a:t>
            </a: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92.89%</a:t>
            </a:r>
            <a:r>
              <a:rPr b="0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   ·   Loss: </a:t>
            </a: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0.1162</a:t>
            </a:r>
            <a:r>
              <a:rPr b="0" lang="en-US" sz="850" spc="-1" strike="noStrike">
                <a:solidFill>
                  <a:srgbClr val="8fafc4"/>
                </a:solidFill>
                <a:latin typeface="Calibri"/>
                <a:ea typeface="Calibri"/>
              </a:rPr>
              <a:t>   ·   Trained: MobileNet v2 · Adam · Categorical CE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13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49"/>
          <p:cNvSpPr/>
          <p:nvPr/>
        </p:nvSpPr>
        <p:spPr>
          <a:xfrm>
            <a:off x="320040" y="0"/>
            <a:ext cx="85035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ANIMIEA APP — LIVE SCREENS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31"/>
          <p:cNvSpPr/>
          <p:nvPr/>
        </p:nvSpPr>
        <p:spPr>
          <a:xfrm>
            <a:off x="0" y="749880"/>
            <a:ext cx="91080" cy="4393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150"/>
          <p:cNvSpPr/>
          <p:nvPr/>
        </p:nvSpPr>
        <p:spPr>
          <a:xfrm>
            <a:off x="320040" y="795600"/>
            <a:ext cx="850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8080"/>
                </a:solidFill>
                <a:latin typeface="Calibri"/>
                <a:ea typeface="Calibri"/>
              </a:rPr>
              <a:t>Flutter · AI v2.0 · Non-Invasive · Real-Time Results in &lt; 30s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32"/>
          <p:cNvSpPr/>
          <p:nvPr/>
        </p:nvSpPr>
        <p:spPr>
          <a:xfrm>
            <a:off x="128160" y="1060560"/>
            <a:ext cx="1425960" cy="2194200"/>
          </a:xfrm>
          <a:prstGeom prst="roundRect">
            <a:avLst>
              <a:gd name="adj" fmla="val 11538"/>
            </a:avLst>
          </a:prstGeom>
          <a:solidFill>
            <a:srgbClr val="c8d4e0"/>
          </a:solidFill>
          <a:ln w="6350">
            <a:solidFill>
              <a:srgbClr val="b0b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Image 18" descr="preencoded.png"/>
          <p:cNvPicPr/>
          <p:nvPr/>
        </p:nvPicPr>
        <p:blipFill>
          <a:blip r:embed="rId1"/>
          <a:stretch/>
        </p:blipFill>
        <p:spPr>
          <a:xfrm>
            <a:off x="182880" y="1115640"/>
            <a:ext cx="1316520" cy="2084400"/>
          </a:xfrm>
          <a:prstGeom prst="rect">
            <a:avLst/>
          </a:prstGeom>
          <a:ln w="0">
            <a:noFill/>
          </a:ln>
        </p:spPr>
      </p:pic>
      <p:sp>
        <p:nvSpPr>
          <p:cNvPr id="320" name="Text 151"/>
          <p:cNvSpPr/>
          <p:nvPr/>
        </p:nvSpPr>
        <p:spPr>
          <a:xfrm>
            <a:off x="91440" y="3255120"/>
            <a:ext cx="1499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Home Dashboard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152"/>
          <p:cNvSpPr/>
          <p:nvPr/>
        </p:nvSpPr>
        <p:spPr>
          <a:xfrm>
            <a:off x="91440" y="3429000"/>
            <a:ext cx="1499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00" spc="-1" strike="noStrike">
                <a:solidFill>
                  <a:srgbClr val="008080"/>
                </a:solidFill>
                <a:latin typeface="Calibri"/>
                <a:ea typeface="Calibri"/>
              </a:rPr>
              <a:t>Last result &amp; quick actions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33"/>
          <p:cNvSpPr/>
          <p:nvPr/>
        </p:nvSpPr>
        <p:spPr>
          <a:xfrm>
            <a:off x="3858840" y="1060560"/>
            <a:ext cx="1425960" cy="2194200"/>
          </a:xfrm>
          <a:prstGeom prst="roundRect">
            <a:avLst>
              <a:gd name="adj" fmla="val 11538"/>
            </a:avLst>
          </a:prstGeom>
          <a:solidFill>
            <a:srgbClr val="c8d4e0"/>
          </a:solidFill>
          <a:ln w="6350">
            <a:solidFill>
              <a:srgbClr val="b0b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Image 19" descr="preencoded.png"/>
          <p:cNvPicPr/>
          <p:nvPr/>
        </p:nvPicPr>
        <p:blipFill>
          <a:blip r:embed="rId2"/>
          <a:stretch/>
        </p:blipFill>
        <p:spPr>
          <a:xfrm>
            <a:off x="3913560" y="1115640"/>
            <a:ext cx="1316520" cy="2084400"/>
          </a:xfrm>
          <a:prstGeom prst="rect">
            <a:avLst/>
          </a:prstGeom>
          <a:ln w="0">
            <a:noFill/>
          </a:ln>
        </p:spPr>
      </p:pic>
      <p:sp>
        <p:nvSpPr>
          <p:cNvPr id="324" name="Text 153"/>
          <p:cNvSpPr/>
          <p:nvPr/>
        </p:nvSpPr>
        <p:spPr>
          <a:xfrm>
            <a:off x="3822120" y="3255120"/>
            <a:ext cx="1499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New Scan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54"/>
          <p:cNvSpPr/>
          <p:nvPr/>
        </p:nvSpPr>
        <p:spPr>
          <a:xfrm>
            <a:off x="3822120" y="3429000"/>
            <a:ext cx="1499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00" spc="-1" strike="noStrike">
                <a:solidFill>
                  <a:srgbClr val="008080"/>
                </a:solidFill>
                <a:latin typeface="Calibri"/>
                <a:ea typeface="Calibri"/>
              </a:rPr>
              <a:t>Camera or gallery input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34"/>
          <p:cNvSpPr/>
          <p:nvPr/>
        </p:nvSpPr>
        <p:spPr>
          <a:xfrm>
            <a:off x="7589520" y="1060560"/>
            <a:ext cx="1425960" cy="2194200"/>
          </a:xfrm>
          <a:prstGeom prst="roundRect">
            <a:avLst>
              <a:gd name="adj" fmla="val 11538"/>
            </a:avLst>
          </a:prstGeom>
          <a:solidFill>
            <a:srgbClr val="c8d4e0"/>
          </a:solidFill>
          <a:ln w="6350">
            <a:solidFill>
              <a:srgbClr val="b0b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7" name="Image 20" descr="preencoded.png"/>
          <p:cNvPicPr/>
          <p:nvPr/>
        </p:nvPicPr>
        <p:blipFill>
          <a:blip r:embed="rId3"/>
          <a:stretch/>
        </p:blipFill>
        <p:spPr>
          <a:xfrm>
            <a:off x="7644240" y="1115640"/>
            <a:ext cx="1316520" cy="2084400"/>
          </a:xfrm>
          <a:prstGeom prst="rect">
            <a:avLst/>
          </a:prstGeom>
          <a:ln w="0">
            <a:noFill/>
          </a:ln>
        </p:spPr>
      </p:pic>
      <p:sp>
        <p:nvSpPr>
          <p:cNvPr id="328" name="Text 155"/>
          <p:cNvSpPr/>
          <p:nvPr/>
        </p:nvSpPr>
        <p:spPr>
          <a:xfrm>
            <a:off x="7552800" y="3255120"/>
            <a:ext cx="1499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AI Analyzing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156"/>
          <p:cNvSpPr/>
          <p:nvPr/>
        </p:nvSpPr>
        <p:spPr>
          <a:xfrm>
            <a:off x="7552800" y="3429000"/>
            <a:ext cx="1499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00" spc="-1" strike="noStrike">
                <a:solidFill>
                  <a:srgbClr val="008080"/>
                </a:solidFill>
                <a:latin typeface="Calibri"/>
                <a:ea typeface="Calibri"/>
              </a:rPr>
              <a:t>U-Net segmentation live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35"/>
          <p:cNvSpPr/>
          <p:nvPr/>
        </p:nvSpPr>
        <p:spPr>
          <a:xfrm>
            <a:off x="128160" y="3675960"/>
            <a:ext cx="1425960" cy="2194200"/>
          </a:xfrm>
          <a:prstGeom prst="roundRect">
            <a:avLst>
              <a:gd name="adj" fmla="val 11538"/>
            </a:avLst>
          </a:prstGeom>
          <a:solidFill>
            <a:srgbClr val="c8d4e0"/>
          </a:solidFill>
          <a:ln w="6350">
            <a:solidFill>
              <a:srgbClr val="b0b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Image 21" descr="preencoded.png"/>
          <p:cNvPicPr/>
          <p:nvPr/>
        </p:nvPicPr>
        <p:blipFill>
          <a:blip r:embed="rId4"/>
          <a:stretch/>
        </p:blipFill>
        <p:spPr>
          <a:xfrm>
            <a:off x="182880" y="3730680"/>
            <a:ext cx="1316520" cy="2084400"/>
          </a:xfrm>
          <a:prstGeom prst="rect">
            <a:avLst/>
          </a:prstGeom>
          <a:ln w="0">
            <a:noFill/>
          </a:ln>
        </p:spPr>
      </p:pic>
      <p:sp>
        <p:nvSpPr>
          <p:cNvPr id="332" name="Text 157"/>
          <p:cNvSpPr/>
          <p:nvPr/>
        </p:nvSpPr>
        <p:spPr>
          <a:xfrm>
            <a:off x="91440" y="5870520"/>
            <a:ext cx="1499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Scan Result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58"/>
          <p:cNvSpPr/>
          <p:nvPr/>
        </p:nvSpPr>
        <p:spPr>
          <a:xfrm>
            <a:off x="91440" y="6044040"/>
            <a:ext cx="1499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00" spc="-1" strike="noStrike">
                <a:solidFill>
                  <a:srgbClr val="008080"/>
                </a:solidFill>
                <a:latin typeface="Calibri"/>
                <a:ea typeface="Calibri"/>
              </a:rPr>
              <a:t>Anemia detected · 100% confidence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36"/>
          <p:cNvSpPr/>
          <p:nvPr/>
        </p:nvSpPr>
        <p:spPr>
          <a:xfrm>
            <a:off x="3858840" y="3675960"/>
            <a:ext cx="1425960" cy="2194200"/>
          </a:xfrm>
          <a:prstGeom prst="roundRect">
            <a:avLst>
              <a:gd name="adj" fmla="val 11538"/>
            </a:avLst>
          </a:prstGeom>
          <a:solidFill>
            <a:srgbClr val="c8d4e0"/>
          </a:solidFill>
          <a:ln w="6350">
            <a:solidFill>
              <a:srgbClr val="b0b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5" name="Image 22" descr="preencoded.png"/>
          <p:cNvPicPr/>
          <p:nvPr/>
        </p:nvPicPr>
        <p:blipFill>
          <a:blip r:embed="rId5"/>
          <a:stretch/>
        </p:blipFill>
        <p:spPr>
          <a:xfrm>
            <a:off x="3913560" y="3730680"/>
            <a:ext cx="1316520" cy="2084400"/>
          </a:xfrm>
          <a:prstGeom prst="rect">
            <a:avLst/>
          </a:prstGeom>
          <a:ln w="0">
            <a:noFill/>
          </a:ln>
        </p:spPr>
      </p:pic>
      <p:sp>
        <p:nvSpPr>
          <p:cNvPr id="336" name="Text 159"/>
          <p:cNvSpPr/>
          <p:nvPr/>
        </p:nvSpPr>
        <p:spPr>
          <a:xfrm>
            <a:off x="3822120" y="5870520"/>
            <a:ext cx="1499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Scan History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60"/>
          <p:cNvSpPr/>
          <p:nvPr/>
        </p:nvSpPr>
        <p:spPr>
          <a:xfrm>
            <a:off x="3822120" y="6044040"/>
            <a:ext cx="1499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00" spc="-1" strike="noStrike">
                <a:solidFill>
                  <a:srgbClr val="008080"/>
                </a:solidFill>
                <a:latin typeface="Calibri"/>
                <a:ea typeface="Calibri"/>
              </a:rPr>
              <a:t>All past scans &amp; trends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37"/>
          <p:cNvSpPr/>
          <p:nvPr/>
        </p:nvSpPr>
        <p:spPr>
          <a:xfrm>
            <a:off x="7589520" y="3675960"/>
            <a:ext cx="1425960" cy="2194200"/>
          </a:xfrm>
          <a:prstGeom prst="roundRect">
            <a:avLst>
              <a:gd name="adj" fmla="val 11538"/>
            </a:avLst>
          </a:prstGeom>
          <a:solidFill>
            <a:srgbClr val="c8d4e0"/>
          </a:solidFill>
          <a:ln w="6350">
            <a:solidFill>
              <a:srgbClr val="b0b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9" name="Image 23" descr="preencoded.png"/>
          <p:cNvPicPr/>
          <p:nvPr/>
        </p:nvPicPr>
        <p:blipFill>
          <a:blip r:embed="rId6"/>
          <a:stretch/>
        </p:blipFill>
        <p:spPr>
          <a:xfrm>
            <a:off x="7644240" y="3730680"/>
            <a:ext cx="1316520" cy="2084400"/>
          </a:xfrm>
          <a:prstGeom prst="rect">
            <a:avLst/>
          </a:prstGeom>
          <a:ln w="0">
            <a:noFill/>
          </a:ln>
        </p:spPr>
      </p:pic>
      <p:sp>
        <p:nvSpPr>
          <p:cNvPr id="340" name="Text 161"/>
          <p:cNvSpPr/>
          <p:nvPr/>
        </p:nvSpPr>
        <p:spPr>
          <a:xfrm>
            <a:off x="7552800" y="5870520"/>
            <a:ext cx="1499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User Profile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62"/>
          <p:cNvSpPr/>
          <p:nvPr/>
        </p:nvSpPr>
        <p:spPr>
          <a:xfrm>
            <a:off x="7552800" y="6044040"/>
            <a:ext cx="1499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00" spc="-1" strike="noStrike">
                <a:solidFill>
                  <a:srgbClr val="008080"/>
                </a:solidFill>
                <a:latin typeface="Calibri"/>
                <a:ea typeface="Calibri"/>
              </a:rPr>
              <a:t>Health data &amp; reminders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WHY ANIMIEA IS BETTER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3"/>
          <p:cNvSpPr/>
          <p:nvPr/>
        </p:nvSpPr>
        <p:spPr>
          <a:xfrm>
            <a:off x="320040" y="1005840"/>
            <a:ext cx="3200040" cy="456840"/>
          </a:xfrm>
          <a:prstGeom prst="rect">
            <a:avLst/>
          </a:prstGeom>
          <a:solidFill>
            <a:srgbClr val="455a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4"/>
          <p:cNvSpPr/>
          <p:nvPr/>
        </p:nvSpPr>
        <p:spPr>
          <a:xfrm>
            <a:off x="320040" y="1005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Traditional Method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5"/>
          <p:cNvSpPr/>
          <p:nvPr/>
        </p:nvSpPr>
        <p:spPr>
          <a:xfrm>
            <a:off x="5623560" y="1005840"/>
            <a:ext cx="3200040" cy="4568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5623560" y="1005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Animiea AI System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320040" y="1600200"/>
            <a:ext cx="3200040" cy="658080"/>
          </a:xfrm>
          <a:prstGeom prst="rect">
            <a:avLst/>
          </a:prstGeom>
          <a:solidFill>
            <a:srgbClr val="ecef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8"/>
          <p:cNvSpPr/>
          <p:nvPr/>
        </p:nvSpPr>
        <p:spPr>
          <a:xfrm>
            <a:off x="411480" y="160020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Invasive – requires blood draw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4206240" y="176472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4206240" y="176472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1"/>
          <p:cNvSpPr/>
          <p:nvPr/>
        </p:nvSpPr>
        <p:spPr>
          <a:xfrm>
            <a:off x="5623560" y="1600200"/>
            <a:ext cx="3200040" cy="658080"/>
          </a:xfrm>
          <a:prstGeom prst="rect">
            <a:avLst/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4" name="Image 0" descr="preencoded.png"/>
          <p:cNvPicPr/>
          <p:nvPr/>
        </p:nvPicPr>
        <p:blipFill>
          <a:blip r:embed="rId1"/>
          <a:stretch/>
        </p:blipFill>
        <p:spPr>
          <a:xfrm>
            <a:off x="5715000" y="17830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55" name="Text 12"/>
          <p:cNvSpPr/>
          <p:nvPr/>
        </p:nvSpPr>
        <p:spPr>
          <a:xfrm>
            <a:off x="6080760" y="160020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Non-invasive optical scan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3"/>
          <p:cNvSpPr/>
          <p:nvPr/>
        </p:nvSpPr>
        <p:spPr>
          <a:xfrm>
            <a:off x="320040" y="2350080"/>
            <a:ext cx="320004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4"/>
          <p:cNvSpPr/>
          <p:nvPr/>
        </p:nvSpPr>
        <p:spPr>
          <a:xfrm>
            <a:off x="411480" y="235008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High cost + slow lab processing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5"/>
          <p:cNvSpPr/>
          <p:nvPr/>
        </p:nvSpPr>
        <p:spPr>
          <a:xfrm>
            <a:off x="4206240" y="251460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16"/>
          <p:cNvSpPr/>
          <p:nvPr/>
        </p:nvSpPr>
        <p:spPr>
          <a:xfrm>
            <a:off x="4206240" y="251460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7"/>
          <p:cNvSpPr/>
          <p:nvPr/>
        </p:nvSpPr>
        <p:spPr>
          <a:xfrm>
            <a:off x="5623560" y="2350080"/>
            <a:ext cx="3200040" cy="658080"/>
          </a:xfrm>
          <a:prstGeom prst="rect">
            <a:avLst/>
          </a:prstGeom>
          <a:solidFill>
            <a:srgbClr val="f1ff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Image 1" descr="preencoded.png"/>
          <p:cNvPicPr/>
          <p:nvPr/>
        </p:nvPicPr>
        <p:blipFill>
          <a:blip r:embed="rId2"/>
          <a:stretch/>
        </p:blipFill>
        <p:spPr>
          <a:xfrm>
            <a:off x="5715000" y="25329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62" name="Text 18"/>
          <p:cNvSpPr/>
          <p:nvPr/>
        </p:nvSpPr>
        <p:spPr>
          <a:xfrm>
            <a:off x="6080760" y="235008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Low cost, instant 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9"/>
          <p:cNvSpPr/>
          <p:nvPr/>
        </p:nvSpPr>
        <p:spPr>
          <a:xfrm>
            <a:off x="320040" y="3099960"/>
            <a:ext cx="3200040" cy="658080"/>
          </a:xfrm>
          <a:prstGeom prst="rect">
            <a:avLst/>
          </a:prstGeom>
          <a:solidFill>
            <a:srgbClr val="ecef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20"/>
          <p:cNvSpPr/>
          <p:nvPr/>
        </p:nvSpPr>
        <p:spPr>
          <a:xfrm>
            <a:off x="411480" y="309996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One-off episodic test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1"/>
          <p:cNvSpPr/>
          <p:nvPr/>
        </p:nvSpPr>
        <p:spPr>
          <a:xfrm>
            <a:off x="4206240" y="326448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22"/>
          <p:cNvSpPr/>
          <p:nvPr/>
        </p:nvSpPr>
        <p:spPr>
          <a:xfrm>
            <a:off x="4206240" y="326448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3"/>
          <p:cNvSpPr/>
          <p:nvPr/>
        </p:nvSpPr>
        <p:spPr>
          <a:xfrm>
            <a:off x="5623560" y="3099960"/>
            <a:ext cx="3200040" cy="658080"/>
          </a:xfrm>
          <a:prstGeom prst="rect">
            <a:avLst/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8" name="Image 2" descr="preencoded.png"/>
          <p:cNvPicPr/>
          <p:nvPr/>
        </p:nvPicPr>
        <p:blipFill>
          <a:blip r:embed="rId3"/>
          <a:stretch/>
        </p:blipFill>
        <p:spPr>
          <a:xfrm>
            <a:off x="5715000" y="32828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69" name="Text 24"/>
          <p:cNvSpPr/>
          <p:nvPr/>
        </p:nvSpPr>
        <p:spPr>
          <a:xfrm>
            <a:off x="6080760" y="309996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Continuous patient monitoring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5"/>
          <p:cNvSpPr/>
          <p:nvPr/>
        </p:nvSpPr>
        <p:spPr>
          <a:xfrm>
            <a:off x="320040" y="3849480"/>
            <a:ext cx="320004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6"/>
          <p:cNvSpPr/>
          <p:nvPr/>
        </p:nvSpPr>
        <p:spPr>
          <a:xfrm>
            <a:off x="411480" y="384948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Unscalable in remote areas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7"/>
          <p:cNvSpPr/>
          <p:nvPr/>
        </p:nvSpPr>
        <p:spPr>
          <a:xfrm>
            <a:off x="4206240" y="401436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28"/>
          <p:cNvSpPr/>
          <p:nvPr/>
        </p:nvSpPr>
        <p:spPr>
          <a:xfrm>
            <a:off x="4206240" y="401436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9"/>
          <p:cNvSpPr/>
          <p:nvPr/>
        </p:nvSpPr>
        <p:spPr>
          <a:xfrm>
            <a:off x="5623560" y="3849480"/>
            <a:ext cx="3200040" cy="658080"/>
          </a:xfrm>
          <a:prstGeom prst="rect">
            <a:avLst/>
          </a:prstGeom>
          <a:solidFill>
            <a:srgbClr val="f1ff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5" name="Image 3" descr="preencoded.png"/>
          <p:cNvPicPr/>
          <p:nvPr/>
        </p:nvPicPr>
        <p:blipFill>
          <a:blip r:embed="rId4"/>
          <a:stretch/>
        </p:blipFill>
        <p:spPr>
          <a:xfrm>
            <a:off x="5715000" y="40323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76" name="Text 30"/>
          <p:cNvSpPr/>
          <p:nvPr/>
        </p:nvSpPr>
        <p:spPr>
          <a:xfrm>
            <a:off x="6080760" y="384948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Highly scalable software 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"/>
          <p:cNvSpPr/>
          <p:nvPr/>
        </p:nvSpPr>
        <p:spPr>
          <a:xfrm>
            <a:off x="320040" y="2743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SCALABILITY PLAN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Shape 2"/>
          <p:cNvSpPr/>
          <p:nvPr/>
        </p:nvSpPr>
        <p:spPr>
          <a:xfrm>
            <a:off x="274320" y="1371600"/>
            <a:ext cx="456840" cy="456840"/>
          </a:xfrm>
          <a:prstGeom prst="ellipse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3"/>
          <p:cNvSpPr/>
          <p:nvPr/>
        </p:nvSpPr>
        <p:spPr>
          <a:xfrm>
            <a:off x="457200" y="1828800"/>
            <a:ext cx="72720" cy="868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Shape 4"/>
          <p:cNvSpPr/>
          <p:nvPr/>
        </p:nvSpPr>
        <p:spPr>
          <a:xfrm>
            <a:off x="914400" y="1097280"/>
            <a:ext cx="7909200" cy="11426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5"/>
          <p:cNvSpPr/>
          <p:nvPr/>
        </p:nvSpPr>
        <p:spPr>
          <a:xfrm>
            <a:off x="914400" y="1097280"/>
            <a:ext cx="109440" cy="11426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6"/>
          <p:cNvSpPr/>
          <p:nvPr/>
        </p:nvSpPr>
        <p:spPr>
          <a:xfrm>
            <a:off x="1097280" y="1143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00897b"/>
                </a:solidFill>
                <a:latin typeface="Calibri"/>
              </a:rPr>
              <a:t>Phase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7"/>
          <p:cNvSpPr/>
          <p:nvPr/>
        </p:nvSpPr>
        <p:spPr>
          <a:xfrm>
            <a:off x="1097280" y="144468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Hospital Pilot – Algeria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8"/>
          <p:cNvSpPr/>
          <p:nvPr/>
        </p:nvSpPr>
        <p:spPr>
          <a:xfrm>
            <a:off x="1097280" y="180144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Pilot deployment in Algerian maternity &amp; hematology departments. Clinical integration and real-world validation.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9"/>
          <p:cNvSpPr/>
          <p:nvPr/>
        </p:nvSpPr>
        <p:spPr>
          <a:xfrm>
            <a:off x="274320" y="2670120"/>
            <a:ext cx="456840" cy="456840"/>
          </a:xfrm>
          <a:prstGeom prst="ellipse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0"/>
          <p:cNvSpPr/>
          <p:nvPr/>
        </p:nvSpPr>
        <p:spPr>
          <a:xfrm>
            <a:off x="457200" y="3127320"/>
            <a:ext cx="72720" cy="868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Shape 11"/>
          <p:cNvSpPr/>
          <p:nvPr/>
        </p:nvSpPr>
        <p:spPr>
          <a:xfrm>
            <a:off x="914400" y="2395800"/>
            <a:ext cx="7909200" cy="11426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12"/>
          <p:cNvSpPr/>
          <p:nvPr/>
        </p:nvSpPr>
        <p:spPr>
          <a:xfrm>
            <a:off x="914400" y="2395800"/>
            <a:ext cx="109440" cy="11426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13"/>
          <p:cNvSpPr/>
          <p:nvPr/>
        </p:nvSpPr>
        <p:spPr>
          <a:xfrm>
            <a:off x="1097280" y="244152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ffb300"/>
                </a:solidFill>
                <a:latin typeface="Calibri"/>
              </a:rPr>
              <a:t>Phase 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14"/>
          <p:cNvSpPr/>
          <p:nvPr/>
        </p:nvSpPr>
        <p:spPr>
          <a:xfrm>
            <a:off x="1097280" y="274320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Cross-Device Testing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15"/>
          <p:cNvSpPr/>
          <p:nvPr/>
        </p:nvSpPr>
        <p:spPr>
          <a:xfrm>
            <a:off x="1097280" y="309996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Flutter App tested on varying low-end smartphones. MobileNet ensures low-latency inference across all devices.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16"/>
          <p:cNvSpPr/>
          <p:nvPr/>
        </p:nvSpPr>
        <p:spPr>
          <a:xfrm>
            <a:off x="274320" y="3968640"/>
            <a:ext cx="456840" cy="456840"/>
          </a:xfrm>
          <a:prstGeom prst="ellipse">
            <a:avLst/>
          </a:prstGeom>
          <a:solidFill>
            <a:srgbClr val="ef5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17"/>
          <p:cNvSpPr/>
          <p:nvPr/>
        </p:nvSpPr>
        <p:spPr>
          <a:xfrm>
            <a:off x="914400" y="3694320"/>
            <a:ext cx="7909200" cy="11426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18"/>
          <p:cNvSpPr/>
          <p:nvPr/>
        </p:nvSpPr>
        <p:spPr>
          <a:xfrm>
            <a:off x="914400" y="3694320"/>
            <a:ext cx="109440" cy="1142640"/>
          </a:xfrm>
          <a:prstGeom prst="rect">
            <a:avLst/>
          </a:prstGeom>
          <a:solidFill>
            <a:srgbClr val="ef5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9"/>
          <p:cNvSpPr/>
          <p:nvPr/>
        </p:nvSpPr>
        <p:spPr>
          <a:xfrm>
            <a:off x="1097280" y="374004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f5350"/>
                </a:solidFill>
                <a:latin typeface="Calibri"/>
              </a:rPr>
              <a:t>Phase 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20"/>
          <p:cNvSpPr/>
          <p:nvPr/>
        </p:nvSpPr>
        <p:spPr>
          <a:xfrm>
            <a:off x="1097280" y="404172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Regional Expansion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21"/>
          <p:cNvSpPr/>
          <p:nvPr/>
        </p:nvSpPr>
        <p:spPr>
          <a:xfrm>
            <a:off x="1097280" y="439812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Expanding to underserved regions across MENA &amp; Sub-Saharan Africa using our demographic-bias-free model.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THE TEAM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3"/>
          <p:cNvSpPr/>
          <p:nvPr/>
        </p:nvSpPr>
        <p:spPr>
          <a:xfrm>
            <a:off x="320040" y="1097280"/>
            <a:ext cx="850356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4"/>
          <p:cNvSpPr/>
          <p:nvPr/>
        </p:nvSpPr>
        <p:spPr>
          <a:xfrm>
            <a:off x="320040" y="1097280"/>
            <a:ext cx="164160" cy="13712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4" name="Image 0" descr="preencoded.png"/>
          <p:cNvPicPr/>
          <p:nvPr/>
        </p:nvPicPr>
        <p:blipFill>
          <a:blip r:embed="rId1"/>
          <a:stretch/>
        </p:blipFill>
        <p:spPr>
          <a:xfrm>
            <a:off x="640080" y="1325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05" name="Text 5"/>
          <p:cNvSpPr/>
          <p:nvPr/>
        </p:nvSpPr>
        <p:spPr>
          <a:xfrm>
            <a:off x="1325880" y="11703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a2342"/>
                </a:solidFill>
                <a:latin typeface="Georgia"/>
                <a:ea typeface="Georgia"/>
              </a:rPr>
              <a:t>Dr. Abderrahmane Khiat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6"/>
          <p:cNvSpPr/>
          <p:nvPr/>
        </p:nvSpPr>
        <p:spPr>
          <a:xfrm>
            <a:off x="1325880" y="160020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897b"/>
                </a:solidFill>
                <a:latin typeface="Calibri"/>
              </a:rPr>
              <a:t>Founder &amp; R&amp;D Lead  ·  PhD in Computer Science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7"/>
          <p:cNvSpPr/>
          <p:nvPr/>
        </p:nvSpPr>
        <p:spPr>
          <a:xfrm>
            <a:off x="1325880" y="190188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Expert in AI systems &amp; digital health. Former Project Lead at Fraunhofer IAIS · IT Project Manager at Hyundai AutoEver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8"/>
          <p:cNvSpPr/>
          <p:nvPr/>
        </p:nvSpPr>
        <p:spPr>
          <a:xfrm>
            <a:off x="320040" y="2697480"/>
            <a:ext cx="850356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9"/>
          <p:cNvSpPr/>
          <p:nvPr/>
        </p:nvSpPr>
        <p:spPr>
          <a:xfrm>
            <a:off x="320040" y="2697480"/>
            <a:ext cx="164160" cy="2011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10"/>
          <p:cNvSpPr/>
          <p:nvPr/>
        </p:nvSpPr>
        <p:spPr>
          <a:xfrm>
            <a:off x="640080" y="27248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897b"/>
                </a:solidFill>
                <a:latin typeface="Georgia"/>
                <a:ea typeface="Georgia"/>
              </a:rPr>
              <a:t>Development Team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1"/>
          <p:cNvSpPr/>
          <p:nvPr/>
        </p:nvSpPr>
        <p:spPr>
          <a:xfrm>
            <a:off x="548640" y="324612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2"/>
          <p:cNvSpPr/>
          <p:nvPr/>
        </p:nvSpPr>
        <p:spPr>
          <a:xfrm>
            <a:off x="960120" y="32461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Guerroudji Djamel Eddin Ysser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3"/>
          <p:cNvSpPr/>
          <p:nvPr/>
        </p:nvSpPr>
        <p:spPr>
          <a:xfrm>
            <a:off x="960120" y="35388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AI Engineer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4"/>
          <p:cNvSpPr/>
          <p:nvPr/>
        </p:nvSpPr>
        <p:spPr>
          <a:xfrm>
            <a:off x="4846320" y="324612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5"/>
          <p:cNvSpPr/>
          <p:nvPr/>
        </p:nvSpPr>
        <p:spPr>
          <a:xfrm>
            <a:off x="5257800" y="32461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Gousas Mohamed Houcin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16"/>
          <p:cNvSpPr/>
          <p:nvPr/>
        </p:nvSpPr>
        <p:spPr>
          <a:xfrm>
            <a:off x="5257800" y="35388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Backend / FastAPI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7"/>
          <p:cNvSpPr/>
          <p:nvPr/>
        </p:nvSpPr>
        <p:spPr>
          <a:xfrm>
            <a:off x="548640" y="390456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18"/>
          <p:cNvSpPr/>
          <p:nvPr/>
        </p:nvSpPr>
        <p:spPr>
          <a:xfrm>
            <a:off x="960120" y="3904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Abadi Aymen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9"/>
          <p:cNvSpPr/>
          <p:nvPr/>
        </p:nvSpPr>
        <p:spPr>
          <a:xfrm>
            <a:off x="960120" y="4197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Mobile Dev / Flutter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20"/>
          <p:cNvSpPr/>
          <p:nvPr/>
        </p:nvSpPr>
        <p:spPr>
          <a:xfrm>
            <a:off x="4846320" y="390456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21"/>
          <p:cNvSpPr/>
          <p:nvPr/>
        </p:nvSpPr>
        <p:spPr>
          <a:xfrm>
            <a:off x="5257800" y="3904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Sahraoui Nabil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22"/>
          <p:cNvSpPr/>
          <p:nvPr/>
        </p:nvSpPr>
        <p:spPr>
          <a:xfrm>
            <a:off x="5257800" y="4197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Deep 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0"/>
          <p:cNvSpPr/>
          <p:nvPr/>
        </p:nvSpPr>
        <p:spPr>
          <a:xfrm>
            <a:off x="6858000" y="2286000"/>
            <a:ext cx="4114440" cy="4114440"/>
          </a:xfrm>
          <a:prstGeom prst="ellipse">
            <a:avLst/>
          </a:prstGeom>
          <a:solidFill>
            <a:srgbClr val="00897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"/>
          <p:cNvSpPr/>
          <p:nvPr/>
        </p:nvSpPr>
        <p:spPr>
          <a:xfrm>
            <a:off x="-1371600" y="-914400"/>
            <a:ext cx="3200040" cy="3200040"/>
          </a:xfrm>
          <a:prstGeom prst="ellipse">
            <a:avLst/>
          </a:prstGeom>
          <a:solidFill>
            <a:srgbClr val="ffb30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3"/>
          <p:cNvSpPr/>
          <p:nvPr/>
        </p:nvSpPr>
        <p:spPr>
          <a:xfrm>
            <a:off x="320040" y="7315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Georgia"/>
                <a:ea typeface="Georgia"/>
              </a:rPr>
              <a:t>Join Us in Transforming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320040" y="1371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4db6ac"/>
                </a:solidFill>
                <a:latin typeface="Georgia"/>
                <a:ea typeface="Georgia"/>
              </a:rPr>
              <a:t>Anemia Diagnosis Worldwide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5"/>
          <p:cNvSpPr/>
          <p:nvPr/>
        </p:nvSpPr>
        <p:spPr>
          <a:xfrm>
            <a:off x="320040" y="2148840"/>
            <a:ext cx="2011320" cy="5436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320040" y="23774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Dr. Abderrahmane Khiat  ·  Founder &amp; Project Lead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7"/>
          <p:cNvSpPr/>
          <p:nvPr/>
        </p:nvSpPr>
        <p:spPr>
          <a:xfrm>
            <a:off x="320040" y="2788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a4ae"/>
                </a:solidFill>
                <a:latin typeface="Calibri"/>
              </a:rPr>
              <a:t>Animiea Startup  ·  Algeria  ·  2025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1" name="Image 0" descr="preencoded.png"/>
          <p:cNvPicPr/>
          <p:nvPr/>
        </p:nvPicPr>
        <p:blipFill>
          <a:blip r:embed="rId1"/>
          <a:stretch/>
        </p:blipFill>
        <p:spPr>
          <a:xfrm>
            <a:off x="320040" y="333756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32" name="Text 8"/>
          <p:cNvSpPr/>
          <p:nvPr/>
        </p:nvSpPr>
        <p:spPr>
          <a:xfrm>
            <a:off x="914400" y="34016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db6ac"/>
                </a:solidFill>
                <a:latin typeface="Calibri"/>
              </a:rPr>
              <a:t>Ready for pilot deployment in Algerian hospitals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9"/>
          <p:cNvSpPr/>
          <p:nvPr/>
        </p:nvSpPr>
        <p:spPr>
          <a:xfrm>
            <a:off x="32004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animiea.startup@gmail.com  ·  linkedin.com/in/animiea  ·  +213 (Algeria)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0" y="0"/>
            <a:ext cx="5303160" cy="514332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1"/>
          <p:cNvSpPr/>
          <p:nvPr/>
        </p:nvSpPr>
        <p:spPr>
          <a:xfrm>
            <a:off x="0" y="0"/>
            <a:ext cx="5303160" cy="109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502920" y="731520"/>
            <a:ext cx="4297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AnemiaLens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"/>
          <p:cNvSpPr/>
          <p:nvPr/>
        </p:nvSpPr>
        <p:spPr>
          <a:xfrm>
            <a:off x="502920" y="16002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2c39a"/>
                </a:solidFill>
                <a:latin typeface="Calibri"/>
                <a:ea typeface="Calibri"/>
              </a:rPr>
              <a:t>Non-Invasive Anemia Detection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4"/>
          <p:cNvSpPr/>
          <p:nvPr/>
        </p:nvSpPr>
        <p:spPr>
          <a:xfrm>
            <a:off x="502920" y="201168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0c4d8"/>
                </a:solidFill>
                <a:latin typeface="Calibri"/>
                <a:ea typeface="Calibri"/>
              </a:rPr>
              <a:t>Powered by Artificial Intelligence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5"/>
          <p:cNvSpPr/>
          <p:nvPr/>
        </p:nvSpPr>
        <p:spPr>
          <a:xfrm>
            <a:off x="502920" y="2606040"/>
            <a:ext cx="1645560" cy="40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502920" y="27889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bbad0"/>
                </a:solidFill>
                <a:latin typeface="Calibri"/>
                <a:ea typeface="Calibri"/>
              </a:rPr>
              <a:t>Business Model &amp; Investment Deck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7"/>
          <p:cNvSpPr/>
          <p:nvPr/>
        </p:nvSpPr>
        <p:spPr>
          <a:xfrm>
            <a:off x="502920" y="31089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a90"/>
                </a:solidFill>
                <a:latin typeface="Calibri"/>
                <a:ea typeface="Calibri"/>
              </a:rPr>
              <a:t>Algeria ·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8"/>
          <p:cNvSpPr/>
          <p:nvPr/>
        </p:nvSpPr>
        <p:spPr>
          <a:xfrm>
            <a:off x="5577840" y="11887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9"/>
          <p:cNvSpPr/>
          <p:nvPr/>
        </p:nvSpPr>
        <p:spPr>
          <a:xfrm>
            <a:off x="5577840" y="11887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10"/>
          <p:cNvSpPr/>
          <p:nvPr/>
        </p:nvSpPr>
        <p:spPr>
          <a:xfrm>
            <a:off x="5577840" y="1298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1.6B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11"/>
          <p:cNvSpPr/>
          <p:nvPr/>
        </p:nvSpPr>
        <p:spPr>
          <a:xfrm>
            <a:off x="5669280" y="18471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People with anemia globally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12"/>
          <p:cNvSpPr/>
          <p:nvPr/>
        </p:nvSpPr>
        <p:spPr>
          <a:xfrm>
            <a:off x="7269480" y="11887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13"/>
          <p:cNvSpPr/>
          <p:nvPr/>
        </p:nvSpPr>
        <p:spPr>
          <a:xfrm>
            <a:off x="7269480" y="11887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14"/>
          <p:cNvSpPr/>
          <p:nvPr/>
        </p:nvSpPr>
        <p:spPr>
          <a:xfrm>
            <a:off x="7269480" y="1298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35%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5"/>
          <p:cNvSpPr/>
          <p:nvPr/>
        </p:nvSpPr>
        <p:spPr>
          <a:xfrm>
            <a:off x="7360920" y="18471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Children affected in Algeria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16"/>
          <p:cNvSpPr/>
          <p:nvPr/>
        </p:nvSpPr>
        <p:spPr>
          <a:xfrm>
            <a:off x="5577840" y="25603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17"/>
          <p:cNvSpPr/>
          <p:nvPr/>
        </p:nvSpPr>
        <p:spPr>
          <a:xfrm>
            <a:off x="5577840" y="25603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18"/>
          <p:cNvSpPr/>
          <p:nvPr/>
        </p:nvSpPr>
        <p:spPr>
          <a:xfrm>
            <a:off x="5577840" y="26701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&lt;30s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9"/>
          <p:cNvSpPr/>
          <p:nvPr/>
        </p:nvSpPr>
        <p:spPr>
          <a:xfrm>
            <a:off x="5669280" y="32187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Time to result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20"/>
          <p:cNvSpPr/>
          <p:nvPr/>
        </p:nvSpPr>
        <p:spPr>
          <a:xfrm>
            <a:off x="7269480" y="25603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21"/>
          <p:cNvSpPr/>
          <p:nvPr/>
        </p:nvSpPr>
        <p:spPr>
          <a:xfrm>
            <a:off x="7269480" y="25603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22"/>
          <p:cNvSpPr/>
          <p:nvPr/>
        </p:nvSpPr>
        <p:spPr>
          <a:xfrm>
            <a:off x="7269480" y="26701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85%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23"/>
          <p:cNvSpPr/>
          <p:nvPr/>
        </p:nvSpPr>
        <p:spPr>
          <a:xfrm>
            <a:off x="7360920" y="32187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Cost reduction vs CBC lab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THE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457200" y="822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2e4e"/>
                </a:solidFill>
                <a:latin typeface="Calibri"/>
                <a:ea typeface="Calibri"/>
              </a:rPr>
              <a:t>Anemia: Algeria's Silent Epidemic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"/>
          <p:cNvSpPr/>
          <p:nvPr/>
        </p:nvSpPr>
        <p:spPr>
          <a:xfrm>
            <a:off x="320040" y="1508760"/>
            <a:ext cx="2559960" cy="301716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4"/>
          <p:cNvSpPr/>
          <p:nvPr/>
        </p:nvSpPr>
        <p:spPr>
          <a:xfrm>
            <a:off x="320040" y="1508760"/>
            <a:ext cx="2559960" cy="5436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5"/>
          <p:cNvSpPr/>
          <p:nvPr/>
        </p:nvSpPr>
        <p:spPr>
          <a:xfrm>
            <a:off x="1188720" y="1737360"/>
            <a:ext cx="822600" cy="82260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4" name="Image 0" descr="preencoded.png"/>
          <p:cNvPicPr/>
          <p:nvPr/>
        </p:nvPicPr>
        <p:blipFill>
          <a:blip r:embed="rId1"/>
          <a:stretch/>
        </p:blipFill>
        <p:spPr>
          <a:xfrm>
            <a:off x="1280160" y="17830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465" name="Text 6"/>
          <p:cNvSpPr/>
          <p:nvPr/>
        </p:nvSpPr>
        <p:spPr>
          <a:xfrm>
            <a:off x="457200" y="2743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2e4e"/>
                </a:solidFill>
                <a:latin typeface="Calibri"/>
                <a:ea typeface="Calibri"/>
              </a:rPr>
              <a:t>25–30% of women affected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457200" y="3182040"/>
            <a:ext cx="2285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7080"/>
                </a:solidFill>
                <a:latin typeface="Calibri"/>
                <a:ea typeface="Calibri"/>
              </a:rPr>
              <a:t>Women of reproductive age and children under 5 bear the highest burden. Most cases are never detected due to access barriers.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8"/>
          <p:cNvSpPr/>
          <p:nvPr/>
        </p:nvSpPr>
        <p:spPr>
          <a:xfrm>
            <a:off x="3154680" y="1508760"/>
            <a:ext cx="2559960" cy="301716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9"/>
          <p:cNvSpPr/>
          <p:nvPr/>
        </p:nvSpPr>
        <p:spPr>
          <a:xfrm>
            <a:off x="3154680" y="1508760"/>
            <a:ext cx="2559960" cy="543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0"/>
          <p:cNvSpPr/>
          <p:nvPr/>
        </p:nvSpPr>
        <p:spPr>
          <a:xfrm>
            <a:off x="4023360" y="1737360"/>
            <a:ext cx="822600" cy="8226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0" name="Image 1" descr="preencoded.png"/>
          <p:cNvPicPr/>
          <p:nvPr/>
        </p:nvPicPr>
        <p:blipFill>
          <a:blip r:embed="rId2"/>
          <a:stretch/>
        </p:blipFill>
        <p:spPr>
          <a:xfrm>
            <a:off x="4114800" y="17830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471" name="Text 11"/>
          <p:cNvSpPr/>
          <p:nvPr/>
        </p:nvSpPr>
        <p:spPr>
          <a:xfrm>
            <a:off x="3291840" y="2743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2e4e"/>
                </a:solidFill>
                <a:latin typeface="Calibri"/>
                <a:ea typeface="Calibri"/>
              </a:rPr>
              <a:t>Lab infrastructure gap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12"/>
          <p:cNvSpPr/>
          <p:nvPr/>
        </p:nvSpPr>
        <p:spPr>
          <a:xfrm>
            <a:off x="3291840" y="3182040"/>
            <a:ext cx="2285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7080"/>
                </a:solidFill>
                <a:latin typeface="Calibri"/>
                <a:ea typeface="Calibri"/>
              </a:rPr>
              <a:t>Traditional CBC tests require labs, technicians, and needles. In the Sud and Hautes Plaines, labs are scarce or non-existent.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13"/>
          <p:cNvSpPr/>
          <p:nvPr/>
        </p:nvSpPr>
        <p:spPr>
          <a:xfrm>
            <a:off x="5989320" y="1508760"/>
            <a:ext cx="2559960" cy="301716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14"/>
          <p:cNvSpPr/>
          <p:nvPr/>
        </p:nvSpPr>
        <p:spPr>
          <a:xfrm>
            <a:off x="5989320" y="1508760"/>
            <a:ext cx="25599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15"/>
          <p:cNvSpPr/>
          <p:nvPr/>
        </p:nvSpPr>
        <p:spPr>
          <a:xfrm>
            <a:off x="6858000" y="1737360"/>
            <a:ext cx="822600" cy="82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6" name="Image 2" descr="preencoded.png"/>
          <p:cNvPicPr/>
          <p:nvPr/>
        </p:nvPicPr>
        <p:blipFill>
          <a:blip r:embed="rId3"/>
          <a:stretch/>
        </p:blipFill>
        <p:spPr>
          <a:xfrm>
            <a:off x="6949440" y="17830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477" name="Text 16"/>
          <p:cNvSpPr/>
          <p:nvPr/>
        </p:nvSpPr>
        <p:spPr>
          <a:xfrm>
            <a:off x="6126480" y="2743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2e4e"/>
                </a:solidFill>
                <a:latin typeface="Calibri"/>
                <a:ea typeface="Calibri"/>
              </a:rPr>
              <a:t>4–24 hours wait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17"/>
          <p:cNvSpPr/>
          <p:nvPr/>
        </p:nvSpPr>
        <p:spPr>
          <a:xfrm>
            <a:off x="6126480" y="3182040"/>
            <a:ext cx="2285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7080"/>
                </a:solidFill>
                <a:latin typeface="Calibri"/>
                <a:ea typeface="Calibri"/>
              </a:rPr>
              <a:t>Results take hours to days. Patients in rural areas make a second trip — many never return for follow-up treatment.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71e2e"/>
          </a:solidFill>
          <a:ln w="12700">
            <a:solidFill>
              <a:srgbClr val="07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OUR SOLUTION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2"/>
          <p:cNvSpPr/>
          <p:nvPr/>
        </p:nvSpPr>
        <p:spPr>
          <a:xfrm>
            <a:off x="457200" y="804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Instant Anemia Screening — No Lab Required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3"/>
          <p:cNvSpPr/>
          <p:nvPr/>
        </p:nvSpPr>
        <p:spPr>
          <a:xfrm>
            <a:off x="320040" y="1554480"/>
            <a:ext cx="1508400" cy="1554120"/>
          </a:xfrm>
          <a:prstGeom prst="rect">
            <a:avLst/>
          </a:prstGeom>
          <a:solidFill>
            <a:srgbClr val="0d4a6e"/>
          </a:solidFill>
          <a:ln w="12700">
            <a:solidFill>
              <a:srgbClr val="0d4a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3" name="Image 0" descr="preencoded.png"/>
          <p:cNvPicPr/>
          <p:nvPr/>
        </p:nvPicPr>
        <p:blipFill>
          <a:blip r:embed="rId1"/>
          <a:stretch/>
        </p:blipFill>
        <p:spPr>
          <a:xfrm>
            <a:off x="841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484" name="Text 4"/>
          <p:cNvSpPr/>
          <p:nvPr/>
        </p:nvSpPr>
        <p:spPr>
          <a:xfrm>
            <a:off x="36576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Patient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5"/>
          <p:cNvSpPr/>
          <p:nvPr/>
        </p:nvSpPr>
        <p:spPr>
          <a:xfrm>
            <a:off x="36576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No needle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182880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7"/>
          <p:cNvSpPr/>
          <p:nvPr/>
        </p:nvSpPr>
        <p:spPr>
          <a:xfrm>
            <a:off x="2039040" y="1554480"/>
            <a:ext cx="1508400" cy="1554120"/>
          </a:xfrm>
          <a:prstGeom prst="rect">
            <a:avLst/>
          </a:prstGeom>
          <a:solidFill>
            <a:srgbClr val="0a5f80"/>
          </a:solidFill>
          <a:ln w="12700">
            <a:solidFill>
              <a:srgbClr val="0a5f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8" name="Image 1" descr="preencoded.png"/>
          <p:cNvPicPr/>
          <p:nvPr/>
        </p:nvPicPr>
        <p:blipFill>
          <a:blip r:embed="rId2"/>
          <a:stretch/>
        </p:blipFill>
        <p:spPr>
          <a:xfrm>
            <a:off x="2560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489" name="Text 8"/>
          <p:cNvSpPr/>
          <p:nvPr/>
        </p:nvSpPr>
        <p:spPr>
          <a:xfrm>
            <a:off x="208476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Capture Image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9"/>
          <p:cNvSpPr/>
          <p:nvPr/>
        </p:nvSpPr>
        <p:spPr>
          <a:xfrm>
            <a:off x="208476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Conjunctiva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10"/>
          <p:cNvSpPr/>
          <p:nvPr/>
        </p:nvSpPr>
        <p:spPr>
          <a:xfrm>
            <a:off x="354780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11"/>
          <p:cNvSpPr/>
          <p:nvPr/>
        </p:nvSpPr>
        <p:spPr>
          <a:xfrm>
            <a:off x="3758040" y="1554480"/>
            <a:ext cx="1508400" cy="1554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3" name="Image 2" descr="preencoded.png"/>
          <p:cNvPicPr/>
          <p:nvPr/>
        </p:nvPicPr>
        <p:blipFill>
          <a:blip r:embed="rId3"/>
          <a:stretch/>
        </p:blipFill>
        <p:spPr>
          <a:xfrm>
            <a:off x="4279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494" name="Text 12"/>
          <p:cNvSpPr/>
          <p:nvPr/>
        </p:nvSpPr>
        <p:spPr>
          <a:xfrm>
            <a:off x="380376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AI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13"/>
          <p:cNvSpPr/>
          <p:nvPr/>
        </p:nvSpPr>
        <p:spPr>
          <a:xfrm>
            <a:off x="380376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&lt; 30 seconds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14"/>
          <p:cNvSpPr/>
          <p:nvPr/>
        </p:nvSpPr>
        <p:spPr>
          <a:xfrm>
            <a:off x="526680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15"/>
          <p:cNvSpPr/>
          <p:nvPr/>
        </p:nvSpPr>
        <p:spPr>
          <a:xfrm>
            <a:off x="5477400" y="1554480"/>
            <a:ext cx="1508400" cy="1554120"/>
          </a:xfrm>
          <a:prstGeom prst="rect">
            <a:avLst/>
          </a:prstGeom>
          <a:solidFill>
            <a:srgbClr val="02a880"/>
          </a:solidFill>
          <a:ln w="12700">
            <a:solidFill>
              <a:srgbClr val="02a8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8" name="Image 3" descr="preencoded.png"/>
          <p:cNvPicPr/>
          <p:nvPr/>
        </p:nvPicPr>
        <p:blipFill>
          <a:blip r:embed="rId4"/>
          <a:stretch/>
        </p:blipFill>
        <p:spPr>
          <a:xfrm>
            <a:off x="5998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499" name="Text 16"/>
          <p:cNvSpPr/>
          <p:nvPr/>
        </p:nvSpPr>
        <p:spPr>
          <a:xfrm>
            <a:off x="552312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Result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17"/>
          <p:cNvSpPr/>
          <p:nvPr/>
        </p:nvSpPr>
        <p:spPr>
          <a:xfrm>
            <a:off x="552312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Positive / Negative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18"/>
          <p:cNvSpPr/>
          <p:nvPr/>
        </p:nvSpPr>
        <p:spPr>
          <a:xfrm>
            <a:off x="698616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19"/>
          <p:cNvSpPr/>
          <p:nvPr/>
        </p:nvSpPr>
        <p:spPr>
          <a:xfrm>
            <a:off x="7196400" y="1554480"/>
            <a:ext cx="1508400" cy="1554120"/>
          </a:xfrm>
          <a:prstGeom prst="rect">
            <a:avLst/>
          </a:prstGeom>
          <a:solidFill>
            <a:srgbClr val="019a6a"/>
          </a:solidFill>
          <a:ln w="12700">
            <a:solidFill>
              <a:srgbClr val="019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3" name="Image 4" descr="preencoded.png"/>
          <p:cNvPicPr/>
          <p:nvPr/>
        </p:nvPicPr>
        <p:blipFill>
          <a:blip r:embed="rId5"/>
          <a:stretch/>
        </p:blipFill>
        <p:spPr>
          <a:xfrm>
            <a:off x="771768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504" name="Text 20"/>
          <p:cNvSpPr/>
          <p:nvPr/>
        </p:nvSpPr>
        <p:spPr>
          <a:xfrm>
            <a:off x="724212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Doctor Acts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21"/>
          <p:cNvSpPr/>
          <p:nvPr/>
        </p:nvSpPr>
        <p:spPr>
          <a:xfrm>
            <a:off x="724212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Confirm or treat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6" name="Image 5" descr="preencoded.png"/>
          <p:cNvPicPr/>
          <p:nvPr/>
        </p:nvPicPr>
        <p:blipFill>
          <a:blip r:embed="rId6"/>
          <a:stretch/>
        </p:blipFill>
        <p:spPr>
          <a:xfrm>
            <a:off x="32004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507" name="Text 22"/>
          <p:cNvSpPr/>
          <p:nvPr/>
        </p:nvSpPr>
        <p:spPr>
          <a:xfrm>
            <a:off x="61272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Non-invasive — no blood draw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8" name="Image 6" descr="preencoded.png"/>
          <p:cNvPicPr/>
          <p:nvPr/>
        </p:nvPicPr>
        <p:blipFill>
          <a:blip r:embed="rId7"/>
          <a:stretch/>
        </p:blipFill>
        <p:spPr>
          <a:xfrm>
            <a:off x="246888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509" name="Text 23"/>
          <p:cNvSpPr/>
          <p:nvPr/>
        </p:nvSpPr>
        <p:spPr>
          <a:xfrm>
            <a:off x="276156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Results in under 30 seconds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0" name="Image 7" descr="preencoded.png"/>
          <p:cNvPicPr/>
          <p:nvPr/>
        </p:nvPicPr>
        <p:blipFill>
          <a:blip r:embed="rId8"/>
          <a:stretch/>
        </p:blipFill>
        <p:spPr>
          <a:xfrm>
            <a:off x="461772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511" name="Text 24"/>
          <p:cNvSpPr/>
          <p:nvPr/>
        </p:nvSpPr>
        <p:spPr>
          <a:xfrm>
            <a:off x="491040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Works on any smartphone or tablet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2" name="Image 8" descr="preencoded.png"/>
          <p:cNvPicPr/>
          <p:nvPr/>
        </p:nvPicPr>
        <p:blipFill>
          <a:blip r:embed="rId9"/>
          <a:stretch/>
        </p:blipFill>
        <p:spPr>
          <a:xfrm>
            <a:off x="676656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513" name="Text 25"/>
          <p:cNvSpPr/>
          <p:nvPr/>
        </p:nvSpPr>
        <p:spPr>
          <a:xfrm>
            <a:off x="705924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Deployable in zero-lab environments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VALUE PROPOSITION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Who benefits — and how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3"/>
          <p:cNvSpPr/>
          <p:nvPr/>
        </p:nvSpPr>
        <p:spPr>
          <a:xfrm>
            <a:off x="274320" y="1371600"/>
            <a:ext cx="2697120" cy="35200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4"/>
          <p:cNvSpPr/>
          <p:nvPr/>
        </p:nvSpPr>
        <p:spPr>
          <a:xfrm>
            <a:off x="274320" y="1371600"/>
            <a:ext cx="2697120" cy="658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9" name="Image 0" descr="preencoded.png"/>
          <p:cNvPicPr/>
          <p:nvPr/>
        </p:nvPicPr>
        <p:blipFill>
          <a:blip r:embed="rId1"/>
          <a:stretch/>
        </p:blipFill>
        <p:spPr>
          <a:xfrm>
            <a:off x="402480" y="1490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20" name="Text 5"/>
          <p:cNvSpPr/>
          <p:nvPr/>
        </p:nvSpPr>
        <p:spPr>
          <a:xfrm>
            <a:off x="822960" y="1481400"/>
            <a:ext cx="2057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Hospitals &amp; Clinics (B2B Core)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1" name="Image 1" descr="preencoded.png"/>
          <p:cNvPicPr/>
          <p:nvPr/>
        </p:nvPicPr>
        <p:blipFill>
          <a:blip r:embed="rId2"/>
          <a:stretch/>
        </p:blipFill>
        <p:spPr>
          <a:xfrm>
            <a:off x="420480" y="21762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22" name="Text 6"/>
          <p:cNvSpPr/>
          <p:nvPr/>
        </p:nvSpPr>
        <p:spPr>
          <a:xfrm>
            <a:off x="658440" y="213984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Increase patient throughput — scan more in less time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3" name="Image 2" descr="preencoded.png"/>
          <p:cNvPicPr/>
          <p:nvPr/>
        </p:nvPicPr>
        <p:blipFill>
          <a:blip r:embed="rId3"/>
          <a:stretch/>
        </p:blipFill>
        <p:spPr>
          <a:xfrm>
            <a:off x="420480" y="26791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24" name="Text 7"/>
          <p:cNvSpPr/>
          <p:nvPr/>
        </p:nvSpPr>
        <p:spPr>
          <a:xfrm>
            <a:off x="658440" y="264276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Instant triage layer before expensive CBC lab work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5" name="Image 3" descr="preencoded.png"/>
          <p:cNvPicPr/>
          <p:nvPr/>
        </p:nvPicPr>
        <p:blipFill>
          <a:blip r:embed="rId4"/>
          <a:stretch/>
        </p:blipFill>
        <p:spPr>
          <a:xfrm>
            <a:off x="420480" y="31820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26" name="Text 8"/>
          <p:cNvSpPr/>
          <p:nvPr/>
        </p:nvSpPr>
        <p:spPr>
          <a:xfrm>
            <a:off x="658440" y="314568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Reduce reagents, technician time &amp; equipment wear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7" name="Image 4" descr="preencoded.png"/>
          <p:cNvPicPr/>
          <p:nvPr/>
        </p:nvPicPr>
        <p:blipFill>
          <a:blip r:embed="rId5"/>
          <a:stretch/>
        </p:blipFill>
        <p:spPr>
          <a:xfrm>
            <a:off x="420480" y="368496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28" name="Text 9"/>
          <p:cNvSpPr/>
          <p:nvPr/>
        </p:nvSpPr>
        <p:spPr>
          <a:xfrm>
            <a:off x="658440" y="364860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Competitive edge: 'AI-powered' branding attracts patients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9" name="Image 5" descr="preencoded.png"/>
          <p:cNvPicPr/>
          <p:nvPr/>
        </p:nvPicPr>
        <p:blipFill>
          <a:blip r:embed="rId6"/>
          <a:stretch/>
        </p:blipFill>
        <p:spPr>
          <a:xfrm>
            <a:off x="420480" y="41878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30" name="Text 10"/>
          <p:cNvSpPr/>
          <p:nvPr/>
        </p:nvSpPr>
        <p:spPr>
          <a:xfrm>
            <a:off x="658440" y="415152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CHU/EHS: comply with MoH digitalization mandates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1"/>
          <p:cNvSpPr/>
          <p:nvPr/>
        </p:nvSpPr>
        <p:spPr>
          <a:xfrm>
            <a:off x="3200400" y="1371600"/>
            <a:ext cx="2697120" cy="35200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2"/>
          <p:cNvSpPr/>
          <p:nvPr/>
        </p:nvSpPr>
        <p:spPr>
          <a:xfrm>
            <a:off x="3200400" y="1371600"/>
            <a:ext cx="2697120" cy="6580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33" name="Image 6" descr="preencoded.png"/>
          <p:cNvPicPr/>
          <p:nvPr/>
        </p:nvPicPr>
        <p:blipFill>
          <a:blip r:embed="rId7"/>
          <a:stretch/>
        </p:blipFill>
        <p:spPr>
          <a:xfrm>
            <a:off x="3328560" y="1490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34" name="Text 13"/>
          <p:cNvSpPr/>
          <p:nvPr/>
        </p:nvSpPr>
        <p:spPr>
          <a:xfrm>
            <a:off x="3749040" y="1481400"/>
            <a:ext cx="2057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Patients (End-User Value)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5" name="Image 7" descr="preencoded.png"/>
          <p:cNvPicPr/>
          <p:nvPr/>
        </p:nvPicPr>
        <p:blipFill>
          <a:blip r:embed="rId8"/>
          <a:stretch/>
        </p:blipFill>
        <p:spPr>
          <a:xfrm>
            <a:off x="3346560" y="21762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36" name="Text 14"/>
          <p:cNvSpPr/>
          <p:nvPr/>
        </p:nvSpPr>
        <p:spPr>
          <a:xfrm>
            <a:off x="3584520" y="213984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Zero pain — no needles, no blood draw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7" name="Image 8" descr="preencoded.png"/>
          <p:cNvPicPr/>
          <p:nvPr/>
        </p:nvPicPr>
        <p:blipFill>
          <a:blip r:embed="rId9"/>
          <a:stretch/>
        </p:blipFill>
        <p:spPr>
          <a:xfrm>
            <a:off x="3346560" y="26791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38" name="Text 15"/>
          <p:cNvSpPr/>
          <p:nvPr/>
        </p:nvSpPr>
        <p:spPr>
          <a:xfrm>
            <a:off x="3584520" y="264276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Result in under 30 seconds, not hours or days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9" name="Image 9" descr="preencoded.png"/>
          <p:cNvPicPr/>
          <p:nvPr/>
        </p:nvPicPr>
        <p:blipFill>
          <a:blip r:embed="rId10"/>
          <a:stretch/>
        </p:blipFill>
        <p:spPr>
          <a:xfrm>
            <a:off x="3346560" y="31820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40" name="Text 16"/>
          <p:cNvSpPr/>
          <p:nvPr/>
        </p:nvSpPr>
        <p:spPr>
          <a:xfrm>
            <a:off x="3584520" y="314568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Cost 100–200 DZD vs 800–1 500 DZD for lab CBC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1" name="Image 10" descr="preencoded.png"/>
          <p:cNvPicPr/>
          <p:nvPr/>
        </p:nvPicPr>
        <p:blipFill>
          <a:blip r:embed="rId11"/>
          <a:stretch/>
        </p:blipFill>
        <p:spPr>
          <a:xfrm>
            <a:off x="3346560" y="368496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42" name="Text 17"/>
          <p:cNvSpPr/>
          <p:nvPr/>
        </p:nvSpPr>
        <p:spPr>
          <a:xfrm>
            <a:off x="3584520" y="364860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Accessible in rural areas with no lab infrastructure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3" name="Image 11" descr="preencoded.png"/>
          <p:cNvPicPr/>
          <p:nvPr/>
        </p:nvPicPr>
        <p:blipFill>
          <a:blip r:embed="rId12"/>
          <a:stretch/>
        </p:blipFill>
        <p:spPr>
          <a:xfrm>
            <a:off x="3346560" y="41878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44" name="Text 18"/>
          <p:cNvSpPr/>
          <p:nvPr/>
        </p:nvSpPr>
        <p:spPr>
          <a:xfrm>
            <a:off x="3584520" y="415152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No appointment or lab visit required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19"/>
          <p:cNvSpPr/>
          <p:nvPr/>
        </p:nvSpPr>
        <p:spPr>
          <a:xfrm>
            <a:off x="6126480" y="1371600"/>
            <a:ext cx="2697120" cy="35200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0"/>
          <p:cNvSpPr/>
          <p:nvPr/>
        </p:nvSpPr>
        <p:spPr>
          <a:xfrm>
            <a:off x="6126480" y="1371600"/>
            <a:ext cx="2697120" cy="658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7" name="Image 12" descr="preencoded.png"/>
          <p:cNvPicPr/>
          <p:nvPr/>
        </p:nvPicPr>
        <p:blipFill>
          <a:blip r:embed="rId13"/>
          <a:stretch/>
        </p:blipFill>
        <p:spPr>
          <a:xfrm>
            <a:off x="6254640" y="1490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48" name="Text 21"/>
          <p:cNvSpPr/>
          <p:nvPr/>
        </p:nvSpPr>
        <p:spPr>
          <a:xfrm>
            <a:off x="6675120" y="1481400"/>
            <a:ext cx="2057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State &amp; Ministry of Health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9" name="Image 13" descr="preencoded.png"/>
          <p:cNvPicPr/>
          <p:nvPr/>
        </p:nvPicPr>
        <p:blipFill>
          <a:blip r:embed="rId14"/>
          <a:stretch/>
        </p:blipFill>
        <p:spPr>
          <a:xfrm>
            <a:off x="6272640" y="21762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0" name="Text 22"/>
          <p:cNvSpPr/>
          <p:nvPr/>
        </p:nvSpPr>
        <p:spPr>
          <a:xfrm>
            <a:off x="6510600" y="213984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Scalable mass screening for Sud &amp; Hautes Plaines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1" name="Image 14" descr="preencoded.png"/>
          <p:cNvPicPr/>
          <p:nvPr/>
        </p:nvPicPr>
        <p:blipFill>
          <a:blip r:embed="rId15"/>
          <a:stretch/>
        </p:blipFill>
        <p:spPr>
          <a:xfrm>
            <a:off x="6272640" y="26791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2" name="Text 23"/>
          <p:cNvSpPr/>
          <p:nvPr/>
        </p:nvSpPr>
        <p:spPr>
          <a:xfrm>
            <a:off x="6510600" y="264276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Aligns with Plan Santé Numérique 2023–2027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3" name="Image 15" descr="preencoded.png"/>
          <p:cNvPicPr/>
          <p:nvPr/>
        </p:nvPicPr>
        <p:blipFill>
          <a:blip r:embed="rId16"/>
          <a:stretch/>
        </p:blipFill>
        <p:spPr>
          <a:xfrm>
            <a:off x="6272640" y="31820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4" name="Text 24"/>
          <p:cNvSpPr/>
          <p:nvPr/>
        </p:nvSpPr>
        <p:spPr>
          <a:xfrm>
            <a:off x="6510600" y="314568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Reduces pressure on public lab capacity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5" name="Image 16" descr="preencoded.png"/>
          <p:cNvPicPr/>
          <p:nvPr/>
        </p:nvPicPr>
        <p:blipFill>
          <a:blip r:embed="rId17"/>
          <a:stretch/>
        </p:blipFill>
        <p:spPr>
          <a:xfrm>
            <a:off x="6272640" y="368496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6" name="Text 25"/>
          <p:cNvSpPr/>
          <p:nvPr/>
        </p:nvSpPr>
        <p:spPr>
          <a:xfrm>
            <a:off x="6510600" y="364860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Population anemia data for national health policy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7" name="Image 17" descr="preencoded.png"/>
          <p:cNvPicPr/>
          <p:nvPr/>
        </p:nvPicPr>
        <p:blipFill>
          <a:blip r:embed="rId18"/>
          <a:stretch/>
        </p:blipFill>
        <p:spPr>
          <a:xfrm>
            <a:off x="6272640" y="41878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8" name="Text 26"/>
          <p:cNvSpPr/>
          <p:nvPr/>
        </p:nvSpPr>
        <p:spPr>
          <a:xfrm>
            <a:off x="6510600" y="415152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CNAS cost reduction on untreated anemia cases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MARKET ANALYSIS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b2e4e"/>
                </a:solidFill>
                <a:latin typeface="Calibri"/>
                <a:ea typeface="Calibri"/>
              </a:rPr>
              <a:t>Algeria's Anemia Market — A Massive Untapped Opportunity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3"/>
          <p:cNvSpPr/>
          <p:nvPr/>
        </p:nvSpPr>
        <p:spPr>
          <a:xfrm>
            <a:off x="27432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4"/>
          <p:cNvSpPr/>
          <p:nvPr/>
        </p:nvSpPr>
        <p:spPr>
          <a:xfrm>
            <a:off x="27432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~27%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5"/>
          <p:cNvSpPr/>
          <p:nvPr/>
        </p:nvSpPr>
        <p:spPr>
          <a:xfrm>
            <a:off x="32904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Women of reproductive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age with anemia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6"/>
          <p:cNvSpPr/>
          <p:nvPr/>
        </p:nvSpPr>
        <p:spPr>
          <a:xfrm>
            <a:off x="242316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7"/>
          <p:cNvSpPr/>
          <p:nvPr/>
        </p:nvSpPr>
        <p:spPr>
          <a:xfrm>
            <a:off x="242316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35%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8"/>
          <p:cNvSpPr/>
          <p:nvPr/>
        </p:nvSpPr>
        <p:spPr>
          <a:xfrm>
            <a:off x="247788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Children under 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affected (UNICEF)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9"/>
          <p:cNvSpPr/>
          <p:nvPr/>
        </p:nvSpPr>
        <p:spPr>
          <a:xfrm>
            <a:off x="457200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10"/>
          <p:cNvSpPr/>
          <p:nvPr/>
        </p:nvSpPr>
        <p:spPr>
          <a:xfrm>
            <a:off x="457200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2 800+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11"/>
          <p:cNvSpPr/>
          <p:nvPr/>
        </p:nvSpPr>
        <p:spPr>
          <a:xfrm>
            <a:off x="462672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Public health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facilities in Algeria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2"/>
          <p:cNvSpPr/>
          <p:nvPr/>
        </p:nvSpPr>
        <p:spPr>
          <a:xfrm>
            <a:off x="672084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3"/>
          <p:cNvSpPr/>
          <p:nvPr/>
        </p:nvSpPr>
        <p:spPr>
          <a:xfrm>
            <a:off x="672084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1 200+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14"/>
          <p:cNvSpPr/>
          <p:nvPr/>
        </p:nvSpPr>
        <p:spPr>
          <a:xfrm>
            <a:off x="677556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Private clinics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(+12%/year)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5"/>
          <p:cNvSpPr/>
          <p:nvPr/>
        </p:nvSpPr>
        <p:spPr>
          <a:xfrm>
            <a:off x="320040" y="25146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e4e"/>
                </a:solidFill>
                <a:latin typeface="Calibri"/>
                <a:ea typeface="Calibri"/>
              </a:rPr>
              <a:t>Market Sizing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6"/>
          <p:cNvSpPr/>
          <p:nvPr/>
        </p:nvSpPr>
        <p:spPr>
          <a:xfrm>
            <a:off x="320040" y="2926080"/>
            <a:ext cx="639720" cy="4568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17"/>
          <p:cNvSpPr/>
          <p:nvPr/>
        </p:nvSpPr>
        <p:spPr>
          <a:xfrm>
            <a:off x="320040" y="292608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18"/>
          <p:cNvSpPr/>
          <p:nvPr/>
        </p:nvSpPr>
        <p:spPr>
          <a:xfrm>
            <a:off x="1051560" y="29718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60M screenings/year — All health facilities in Algeria needing CBC/anemia work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9"/>
          <p:cNvSpPr/>
          <p:nvPr/>
        </p:nvSpPr>
        <p:spPr>
          <a:xfrm>
            <a:off x="320040" y="3520440"/>
            <a:ext cx="639720" cy="456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20"/>
          <p:cNvSpPr/>
          <p:nvPr/>
        </p:nvSpPr>
        <p:spPr>
          <a:xfrm>
            <a:off x="320040" y="352044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21"/>
          <p:cNvSpPr/>
          <p:nvPr/>
        </p:nvSpPr>
        <p:spPr>
          <a:xfrm>
            <a:off x="1051560" y="35661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18M screenings/year — Facilities with smartphone/digital access (~4 000 sites)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2"/>
          <p:cNvSpPr/>
          <p:nvPr/>
        </p:nvSpPr>
        <p:spPr>
          <a:xfrm>
            <a:off x="320040" y="4114800"/>
            <a:ext cx="63972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23"/>
          <p:cNvSpPr/>
          <p:nvPr/>
        </p:nvSpPr>
        <p:spPr>
          <a:xfrm>
            <a:off x="320040" y="41148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SOM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24"/>
          <p:cNvSpPr/>
          <p:nvPr/>
        </p:nvSpPr>
        <p:spPr>
          <a:xfrm>
            <a:off x="1051560" y="416052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100M DZD Year 1 — 50 pilot sites × 500 000 scans @ 200 DZD/scan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25"/>
          <p:cNvSpPr/>
          <p:nvPr/>
        </p:nvSpPr>
        <p:spPr>
          <a:xfrm>
            <a:off x="4846320" y="2514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e4e"/>
                </a:solidFill>
                <a:latin typeface="Calibri"/>
                <a:ea typeface="Calibri"/>
              </a:rPr>
              <a:t>B2B Target Segments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6"/>
          <p:cNvSpPr/>
          <p:nvPr/>
        </p:nvSpPr>
        <p:spPr>
          <a:xfrm>
            <a:off x="4846320" y="2926080"/>
            <a:ext cx="4023000" cy="5940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7"/>
          <p:cNvSpPr/>
          <p:nvPr/>
        </p:nvSpPr>
        <p:spPr>
          <a:xfrm>
            <a:off x="4846320" y="2926080"/>
            <a:ext cx="63720" cy="59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28"/>
          <p:cNvSpPr/>
          <p:nvPr/>
        </p:nvSpPr>
        <p:spPr>
          <a:xfrm>
            <a:off x="4992480" y="296280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Private Clinics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 29"/>
          <p:cNvSpPr/>
          <p:nvPr/>
        </p:nvSpPr>
        <p:spPr>
          <a:xfrm>
            <a:off x="4992480" y="32004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Gynaecology &amp; Paediatrics — highest anemia risk groups. Premium pricing justified.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30"/>
          <p:cNvSpPr/>
          <p:nvPr/>
        </p:nvSpPr>
        <p:spPr>
          <a:xfrm>
            <a:off x="4846320" y="3611880"/>
            <a:ext cx="4023000" cy="5940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1"/>
          <p:cNvSpPr/>
          <p:nvPr/>
        </p:nvSpPr>
        <p:spPr>
          <a:xfrm>
            <a:off x="4846320" y="3611880"/>
            <a:ext cx="63720" cy="5940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32"/>
          <p:cNvSpPr/>
          <p:nvPr/>
        </p:nvSpPr>
        <p:spPr>
          <a:xfrm>
            <a:off x="4992480" y="364860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Public Hospitals CHU/EPH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33"/>
          <p:cNvSpPr/>
          <p:nvPr/>
        </p:nvSpPr>
        <p:spPr>
          <a:xfrm>
            <a:off x="4992480" y="38862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Triage efficiency. Ministry of Health priority. High volume.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4"/>
          <p:cNvSpPr/>
          <p:nvPr/>
        </p:nvSpPr>
        <p:spPr>
          <a:xfrm>
            <a:off x="4846320" y="4297680"/>
            <a:ext cx="4023000" cy="5940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5"/>
          <p:cNvSpPr/>
          <p:nvPr/>
        </p:nvSpPr>
        <p:spPr>
          <a:xfrm>
            <a:off x="4846320" y="4297680"/>
            <a:ext cx="63720" cy="5940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36"/>
          <p:cNvSpPr/>
          <p:nvPr/>
        </p:nvSpPr>
        <p:spPr>
          <a:xfrm>
            <a:off x="4992480" y="433440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Pharmacies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37"/>
          <p:cNvSpPr/>
          <p:nvPr/>
        </p:nvSpPr>
        <p:spPr>
          <a:xfrm>
            <a:off x="4992480" y="45720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Transform into 'mini-diagnostic hubs'. Huge reach — 12 000+ pharmacies in Algeria.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COST COMPARISON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The Economic Disruptor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3"/>
          <p:cNvSpPr/>
          <p:nvPr/>
        </p:nvSpPr>
        <p:spPr>
          <a:xfrm>
            <a:off x="457200" y="1325880"/>
            <a:ext cx="2194200" cy="3837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4"/>
          <p:cNvSpPr/>
          <p:nvPr/>
        </p:nvSpPr>
        <p:spPr>
          <a:xfrm>
            <a:off x="457200" y="13258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5"/>
          <p:cNvSpPr/>
          <p:nvPr/>
        </p:nvSpPr>
        <p:spPr>
          <a:xfrm>
            <a:off x="2834640" y="1325880"/>
            <a:ext cx="2194200" cy="38376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6"/>
          <p:cNvSpPr/>
          <p:nvPr/>
        </p:nvSpPr>
        <p:spPr>
          <a:xfrm>
            <a:off x="2834640" y="13258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Traditional Lab CBC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7"/>
          <p:cNvSpPr/>
          <p:nvPr/>
        </p:nvSpPr>
        <p:spPr>
          <a:xfrm>
            <a:off x="5257800" y="1325880"/>
            <a:ext cx="2194200" cy="383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8"/>
          <p:cNvSpPr/>
          <p:nvPr/>
        </p:nvSpPr>
        <p:spPr>
          <a:xfrm>
            <a:off x="5257800" y="13258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AnemiaAI Solution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9"/>
          <p:cNvSpPr/>
          <p:nvPr/>
        </p:nvSpPr>
        <p:spPr>
          <a:xfrm>
            <a:off x="457200" y="171900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10"/>
          <p:cNvSpPr/>
          <p:nvPr/>
        </p:nvSpPr>
        <p:spPr>
          <a:xfrm>
            <a:off x="548640" y="17373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Cost to patient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11"/>
          <p:cNvSpPr/>
          <p:nvPr/>
        </p:nvSpPr>
        <p:spPr>
          <a:xfrm>
            <a:off x="2834640" y="171900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12"/>
          <p:cNvSpPr/>
          <p:nvPr/>
        </p:nvSpPr>
        <p:spPr>
          <a:xfrm>
            <a:off x="2926080" y="17373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800 – 1 500 DZD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13"/>
          <p:cNvSpPr/>
          <p:nvPr/>
        </p:nvSpPr>
        <p:spPr>
          <a:xfrm>
            <a:off x="5257800" y="171900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14"/>
          <p:cNvSpPr/>
          <p:nvPr/>
        </p:nvSpPr>
        <p:spPr>
          <a:xfrm>
            <a:off x="5349240" y="17373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100 – 200 DZD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5"/>
          <p:cNvSpPr/>
          <p:nvPr/>
        </p:nvSpPr>
        <p:spPr>
          <a:xfrm>
            <a:off x="457200" y="221292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16"/>
          <p:cNvSpPr/>
          <p:nvPr/>
        </p:nvSpPr>
        <p:spPr>
          <a:xfrm>
            <a:off x="548640" y="2231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Time to result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7"/>
          <p:cNvSpPr/>
          <p:nvPr/>
        </p:nvSpPr>
        <p:spPr>
          <a:xfrm>
            <a:off x="2834640" y="221292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8"/>
          <p:cNvSpPr/>
          <p:nvPr/>
        </p:nvSpPr>
        <p:spPr>
          <a:xfrm>
            <a:off x="2926080" y="2231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4 – 24 hours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9"/>
          <p:cNvSpPr/>
          <p:nvPr/>
        </p:nvSpPr>
        <p:spPr>
          <a:xfrm>
            <a:off x="5257800" y="221292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20"/>
          <p:cNvSpPr/>
          <p:nvPr/>
        </p:nvSpPr>
        <p:spPr>
          <a:xfrm>
            <a:off x="5349240" y="2231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&lt; 30 seconds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21"/>
          <p:cNvSpPr/>
          <p:nvPr/>
        </p:nvSpPr>
        <p:spPr>
          <a:xfrm>
            <a:off x="457200" y="270648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22"/>
          <p:cNvSpPr/>
          <p:nvPr/>
        </p:nvSpPr>
        <p:spPr>
          <a:xfrm>
            <a:off x="548640" y="2724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Equipment needed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3"/>
          <p:cNvSpPr/>
          <p:nvPr/>
        </p:nvSpPr>
        <p:spPr>
          <a:xfrm>
            <a:off x="2834640" y="270648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24"/>
          <p:cNvSpPr/>
          <p:nvPr/>
        </p:nvSpPr>
        <p:spPr>
          <a:xfrm>
            <a:off x="2926080" y="2724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Hematology analyzer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($10 000+)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25"/>
          <p:cNvSpPr/>
          <p:nvPr/>
        </p:nvSpPr>
        <p:spPr>
          <a:xfrm>
            <a:off x="5257800" y="270648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26"/>
          <p:cNvSpPr/>
          <p:nvPr/>
        </p:nvSpPr>
        <p:spPr>
          <a:xfrm>
            <a:off x="5349240" y="2724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Smartphone / tablet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7"/>
          <p:cNvSpPr/>
          <p:nvPr/>
        </p:nvSpPr>
        <p:spPr>
          <a:xfrm>
            <a:off x="457200" y="320040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28"/>
          <p:cNvSpPr/>
          <p:nvPr/>
        </p:nvSpPr>
        <p:spPr>
          <a:xfrm>
            <a:off x="548640" y="32187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Consumables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9"/>
          <p:cNvSpPr/>
          <p:nvPr/>
        </p:nvSpPr>
        <p:spPr>
          <a:xfrm>
            <a:off x="2834640" y="320040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30"/>
          <p:cNvSpPr/>
          <p:nvPr/>
        </p:nvSpPr>
        <p:spPr>
          <a:xfrm>
            <a:off x="2926080" y="32187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Reagents, needles,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tubes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31"/>
          <p:cNvSpPr/>
          <p:nvPr/>
        </p:nvSpPr>
        <p:spPr>
          <a:xfrm>
            <a:off x="5257800" y="320040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32"/>
          <p:cNvSpPr/>
          <p:nvPr/>
        </p:nvSpPr>
        <p:spPr>
          <a:xfrm>
            <a:off x="5349240" y="32187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None (software only)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33"/>
          <p:cNvSpPr/>
          <p:nvPr/>
        </p:nvSpPr>
        <p:spPr>
          <a:xfrm>
            <a:off x="457200" y="369432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34"/>
          <p:cNvSpPr/>
          <p:nvPr/>
        </p:nvSpPr>
        <p:spPr>
          <a:xfrm>
            <a:off x="548640" y="3712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Trained technician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35"/>
          <p:cNvSpPr/>
          <p:nvPr/>
        </p:nvSpPr>
        <p:spPr>
          <a:xfrm>
            <a:off x="2834640" y="369432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36"/>
          <p:cNvSpPr/>
          <p:nvPr/>
        </p:nvSpPr>
        <p:spPr>
          <a:xfrm>
            <a:off x="2926080" y="3712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Required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7"/>
          <p:cNvSpPr/>
          <p:nvPr/>
        </p:nvSpPr>
        <p:spPr>
          <a:xfrm>
            <a:off x="5257800" y="369432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38"/>
          <p:cNvSpPr/>
          <p:nvPr/>
        </p:nvSpPr>
        <p:spPr>
          <a:xfrm>
            <a:off x="5349240" y="3712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Not required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9"/>
          <p:cNvSpPr/>
          <p:nvPr/>
        </p:nvSpPr>
        <p:spPr>
          <a:xfrm>
            <a:off x="457200" y="418788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40"/>
          <p:cNvSpPr/>
          <p:nvPr/>
        </p:nvSpPr>
        <p:spPr>
          <a:xfrm>
            <a:off x="548640" y="4206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Rural deployment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41"/>
          <p:cNvSpPr/>
          <p:nvPr/>
        </p:nvSpPr>
        <p:spPr>
          <a:xfrm>
            <a:off x="2834640" y="418788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42"/>
          <p:cNvSpPr/>
          <p:nvPr/>
        </p:nvSpPr>
        <p:spPr>
          <a:xfrm>
            <a:off x="2926080" y="4206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Not feasible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43"/>
          <p:cNvSpPr/>
          <p:nvPr/>
        </p:nvSpPr>
        <p:spPr>
          <a:xfrm>
            <a:off x="5257800" y="418788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44"/>
          <p:cNvSpPr/>
          <p:nvPr/>
        </p:nvSpPr>
        <p:spPr>
          <a:xfrm>
            <a:off x="5349240" y="4206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Fully feasible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45"/>
          <p:cNvSpPr/>
          <p:nvPr/>
        </p:nvSpPr>
        <p:spPr>
          <a:xfrm>
            <a:off x="457200" y="4645080"/>
            <a:ext cx="82292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46"/>
          <p:cNvSpPr/>
          <p:nvPr/>
        </p:nvSpPr>
        <p:spPr>
          <a:xfrm>
            <a:off x="502920" y="4645080"/>
            <a:ext cx="8137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71e2e"/>
                </a:solidFill>
                <a:latin typeface="Calibri"/>
                <a:ea typeface="Calibri"/>
              </a:rPr>
              <a:t>AnemiaAI reduces screening cost by up to 85% and delivers results 480× faster than traditional lab methods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BUSINESS MODEL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Revenue Streams — B2B Recurring Model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3"/>
          <p:cNvSpPr/>
          <p:nvPr/>
        </p:nvSpPr>
        <p:spPr>
          <a:xfrm>
            <a:off x="274320" y="137160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4"/>
          <p:cNvSpPr/>
          <p:nvPr/>
        </p:nvSpPr>
        <p:spPr>
          <a:xfrm>
            <a:off x="274320" y="1371600"/>
            <a:ext cx="4160160" cy="502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9" name="Image 0" descr="preencoded.png"/>
          <p:cNvPicPr/>
          <p:nvPr/>
        </p:nvPicPr>
        <p:blipFill>
          <a:blip r:embed="rId1"/>
          <a:stretch/>
        </p:blipFill>
        <p:spPr>
          <a:xfrm>
            <a:off x="365760" y="14446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50" name="Text 5"/>
          <p:cNvSpPr/>
          <p:nvPr/>
        </p:nvSpPr>
        <p:spPr>
          <a:xfrm>
            <a:off x="768240" y="14263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 · SaaS Subscription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6"/>
          <p:cNvSpPr/>
          <p:nvPr/>
        </p:nvSpPr>
        <p:spPr>
          <a:xfrm>
            <a:off x="3584520" y="146304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7"/>
          <p:cNvSpPr/>
          <p:nvPr/>
        </p:nvSpPr>
        <p:spPr>
          <a:xfrm>
            <a:off x="3584520" y="14630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PRIMARY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8"/>
          <p:cNvSpPr/>
          <p:nvPr/>
        </p:nvSpPr>
        <p:spPr>
          <a:xfrm>
            <a:off x="411480" y="196596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Monthly/annual license per facility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Starter: 80 000 DZD/mo (500 scans)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Professional: 200 000 DZD/mo (2 000 scans)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Enterprise: Custom / unlimited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9"/>
          <p:cNvSpPr/>
          <p:nvPr/>
        </p:nvSpPr>
        <p:spPr>
          <a:xfrm>
            <a:off x="4663440" y="137160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0"/>
          <p:cNvSpPr/>
          <p:nvPr/>
        </p:nvSpPr>
        <p:spPr>
          <a:xfrm>
            <a:off x="4663440" y="1371600"/>
            <a:ext cx="4160160" cy="5025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6" name="Image 1" descr="preencoded.png"/>
          <p:cNvPicPr/>
          <p:nvPr/>
        </p:nvPicPr>
        <p:blipFill>
          <a:blip r:embed="rId2"/>
          <a:stretch/>
        </p:blipFill>
        <p:spPr>
          <a:xfrm>
            <a:off x="4754880" y="14446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57" name="Text 11"/>
          <p:cNvSpPr/>
          <p:nvPr/>
        </p:nvSpPr>
        <p:spPr>
          <a:xfrm>
            <a:off x="5157360" y="14263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B · Pay-per-Scan API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2"/>
          <p:cNvSpPr/>
          <p:nvPr/>
        </p:nvSpPr>
        <p:spPr>
          <a:xfrm>
            <a:off x="7973640" y="146304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13"/>
          <p:cNvSpPr/>
          <p:nvPr/>
        </p:nvSpPr>
        <p:spPr>
          <a:xfrm>
            <a:off x="7973640" y="14630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SCALABLE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 14"/>
          <p:cNvSpPr/>
          <p:nvPr/>
        </p:nvSpPr>
        <p:spPr>
          <a:xfrm>
            <a:off x="4800600" y="196596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Large diagnostic centres pay per use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50–150 DZD per scan via API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Ideal for high-volume CHU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Integrates into existing HIS/EHR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15"/>
          <p:cNvSpPr/>
          <p:nvPr/>
        </p:nvSpPr>
        <p:spPr>
          <a:xfrm>
            <a:off x="274320" y="312732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16"/>
          <p:cNvSpPr/>
          <p:nvPr/>
        </p:nvSpPr>
        <p:spPr>
          <a:xfrm>
            <a:off x="274320" y="3127320"/>
            <a:ext cx="4160160" cy="5025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3" name="Image 2" descr="preencoded.png"/>
          <p:cNvPicPr/>
          <p:nvPr/>
        </p:nvPicPr>
        <p:blipFill>
          <a:blip r:embed="rId3"/>
          <a:stretch/>
        </p:blipFill>
        <p:spPr>
          <a:xfrm>
            <a:off x="365760" y="32004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64" name="Text 17"/>
          <p:cNvSpPr/>
          <p:nvPr/>
        </p:nvSpPr>
        <p:spPr>
          <a:xfrm>
            <a:off x="768240" y="31820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 · Data &amp; Analytics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8"/>
          <p:cNvSpPr/>
          <p:nvPr/>
        </p:nvSpPr>
        <p:spPr>
          <a:xfrm>
            <a:off x="3584520" y="321876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19"/>
          <p:cNvSpPr/>
          <p:nvPr/>
        </p:nvSpPr>
        <p:spPr>
          <a:xfrm>
            <a:off x="3584520" y="32187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PASSIVE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20"/>
          <p:cNvSpPr/>
          <p:nvPr/>
        </p:nvSpPr>
        <p:spPr>
          <a:xfrm>
            <a:off x="411480" y="372168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Anonymised population health data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Sold to pharma (Saidal, iron supplement cos.)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Insurance actuarial modelling (AXA, GAM)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MoH national screening reports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21"/>
          <p:cNvSpPr/>
          <p:nvPr/>
        </p:nvSpPr>
        <p:spPr>
          <a:xfrm>
            <a:off x="4663440" y="312732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2"/>
          <p:cNvSpPr/>
          <p:nvPr/>
        </p:nvSpPr>
        <p:spPr>
          <a:xfrm>
            <a:off x="4663440" y="3127320"/>
            <a:ext cx="4160160" cy="50256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0" name="Image 3" descr="preencoded.png"/>
          <p:cNvPicPr/>
          <p:nvPr/>
        </p:nvPicPr>
        <p:blipFill>
          <a:blip r:embed="rId4"/>
          <a:stretch/>
        </p:blipFill>
        <p:spPr>
          <a:xfrm>
            <a:off x="4754880" y="32004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71" name="Text 23"/>
          <p:cNvSpPr/>
          <p:nvPr/>
        </p:nvSpPr>
        <p:spPr>
          <a:xfrm>
            <a:off x="5157360" y="31820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 · Hardware Leasing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24"/>
          <p:cNvSpPr/>
          <p:nvPr/>
        </p:nvSpPr>
        <p:spPr>
          <a:xfrm>
            <a:off x="7973640" y="321876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25"/>
          <p:cNvSpPr/>
          <p:nvPr/>
        </p:nvSpPr>
        <p:spPr>
          <a:xfrm>
            <a:off x="7973640" y="32187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LOCK-IN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26"/>
          <p:cNvSpPr/>
          <p:nvPr/>
        </p:nvSpPr>
        <p:spPr>
          <a:xfrm>
            <a:off x="4800600" y="372168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Dedicated locked medical tablet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Pre-installed app, branded device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Monthly hardware + software bundle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Prevents churn, ensures compliance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27"/>
          <p:cNvSpPr/>
          <p:nvPr/>
        </p:nvSpPr>
        <p:spPr>
          <a:xfrm>
            <a:off x="27432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28"/>
          <p:cNvSpPr/>
          <p:nvPr/>
        </p:nvSpPr>
        <p:spPr>
          <a:xfrm>
            <a:off x="27432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~70%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29"/>
          <p:cNvSpPr/>
          <p:nvPr/>
        </p:nvSpPr>
        <p:spPr>
          <a:xfrm>
            <a:off x="128016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Gross margin (SaaS)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30"/>
          <p:cNvSpPr/>
          <p:nvPr/>
        </p:nvSpPr>
        <p:spPr>
          <a:xfrm>
            <a:off x="242316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 31"/>
          <p:cNvSpPr/>
          <p:nvPr/>
        </p:nvSpPr>
        <p:spPr>
          <a:xfrm>
            <a:off x="242316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6 mo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32"/>
          <p:cNvSpPr/>
          <p:nvPr/>
        </p:nvSpPr>
        <p:spPr>
          <a:xfrm>
            <a:off x="342900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Payback period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33"/>
          <p:cNvSpPr/>
          <p:nvPr/>
        </p:nvSpPr>
        <p:spPr>
          <a:xfrm>
            <a:off x="457200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 34"/>
          <p:cNvSpPr/>
          <p:nvPr/>
        </p:nvSpPr>
        <p:spPr>
          <a:xfrm>
            <a:off x="457200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24–36 mo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35"/>
          <p:cNvSpPr/>
          <p:nvPr/>
        </p:nvSpPr>
        <p:spPr>
          <a:xfrm>
            <a:off x="557784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Avg contract length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36"/>
          <p:cNvSpPr/>
          <p:nvPr/>
        </p:nvSpPr>
        <p:spPr>
          <a:xfrm>
            <a:off x="672084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37"/>
          <p:cNvSpPr/>
          <p:nvPr/>
        </p:nvSpPr>
        <p:spPr>
          <a:xfrm>
            <a:off x="672084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&lt;5%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38"/>
          <p:cNvSpPr/>
          <p:nvPr/>
        </p:nvSpPr>
        <p:spPr>
          <a:xfrm>
            <a:off x="772668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Annual churn target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ROI FOR HOSPITALS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How do hospitals make money from AnemiaAI?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3"/>
          <p:cNvSpPr/>
          <p:nvPr/>
        </p:nvSpPr>
        <p:spPr>
          <a:xfrm>
            <a:off x="320040" y="1371600"/>
            <a:ext cx="475200" cy="475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4"/>
          <p:cNvSpPr/>
          <p:nvPr/>
        </p:nvSpPr>
        <p:spPr>
          <a:xfrm>
            <a:off x="320040" y="13716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5"/>
          <p:cNvSpPr/>
          <p:nvPr/>
        </p:nvSpPr>
        <p:spPr>
          <a:xfrm>
            <a:off x="914400" y="137160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Charge patients for AI screening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6"/>
          <p:cNvSpPr/>
          <p:nvPr/>
        </p:nvSpPr>
        <p:spPr>
          <a:xfrm>
            <a:off x="914400" y="160920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Bill 500–800 DZD/scan while paying us 150–250 DZD → direct profit per scan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7"/>
          <p:cNvSpPr/>
          <p:nvPr/>
        </p:nvSpPr>
        <p:spPr>
          <a:xfrm>
            <a:off x="320040" y="2075760"/>
            <a:ext cx="475200" cy="4752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8"/>
          <p:cNvSpPr/>
          <p:nvPr/>
        </p:nvSpPr>
        <p:spPr>
          <a:xfrm>
            <a:off x="320040" y="20757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9"/>
          <p:cNvSpPr/>
          <p:nvPr/>
        </p:nvSpPr>
        <p:spPr>
          <a:xfrm>
            <a:off x="914400" y="207576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Eliminate lab overhead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10"/>
          <p:cNvSpPr/>
          <p:nvPr/>
        </p:nvSpPr>
        <p:spPr>
          <a:xfrm>
            <a:off x="914400" y="23133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Save 1 200–2 500 DZD per test avoided in reagents, technician overtime &amp; equipment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1"/>
          <p:cNvSpPr/>
          <p:nvPr/>
        </p:nvSpPr>
        <p:spPr>
          <a:xfrm>
            <a:off x="320040" y="2779920"/>
            <a:ext cx="475200" cy="4752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12"/>
          <p:cNvSpPr/>
          <p:nvPr/>
        </p:nvSpPr>
        <p:spPr>
          <a:xfrm>
            <a:off x="320040" y="27799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 13"/>
          <p:cNvSpPr/>
          <p:nvPr/>
        </p:nvSpPr>
        <p:spPr>
          <a:xfrm>
            <a:off x="914400" y="27799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Increase patient throughput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Text 14"/>
          <p:cNvSpPr/>
          <p:nvPr/>
        </p:nvSpPr>
        <p:spPr>
          <a:xfrm>
            <a:off x="914400" y="30175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Faster diagnosis = more consultations per day = more revenue per bed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15"/>
          <p:cNvSpPr/>
          <p:nvPr/>
        </p:nvSpPr>
        <p:spPr>
          <a:xfrm>
            <a:off x="320040" y="3483720"/>
            <a:ext cx="475200" cy="475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16"/>
          <p:cNvSpPr/>
          <p:nvPr/>
        </p:nvSpPr>
        <p:spPr>
          <a:xfrm>
            <a:off x="320040" y="3483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 17"/>
          <p:cNvSpPr/>
          <p:nvPr/>
        </p:nvSpPr>
        <p:spPr>
          <a:xfrm>
            <a:off x="914400" y="34837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CNAS/insurance billing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 18"/>
          <p:cNvSpPr/>
          <p:nvPr/>
        </p:nvSpPr>
        <p:spPr>
          <a:xfrm>
            <a:off x="914400" y="37216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AI screenings are being integrated into CNAS reimbursement billing codes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19"/>
          <p:cNvSpPr/>
          <p:nvPr/>
        </p:nvSpPr>
        <p:spPr>
          <a:xfrm>
            <a:off x="320040" y="4187880"/>
            <a:ext cx="475200" cy="47520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20"/>
          <p:cNvSpPr/>
          <p:nvPr/>
        </p:nvSpPr>
        <p:spPr>
          <a:xfrm>
            <a:off x="320040" y="4187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21"/>
          <p:cNvSpPr/>
          <p:nvPr/>
        </p:nvSpPr>
        <p:spPr>
          <a:xfrm>
            <a:off x="914400" y="41878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Premium 'AI hospital' positioning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Text 22"/>
          <p:cNvSpPr/>
          <p:nvPr/>
        </p:nvSpPr>
        <p:spPr>
          <a:xfrm>
            <a:off x="914400" y="442584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Attract more patients, justify higher consultation fees vs non-AI competitors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23"/>
          <p:cNvSpPr/>
          <p:nvPr/>
        </p:nvSpPr>
        <p:spPr>
          <a:xfrm>
            <a:off x="5486400" y="1325880"/>
            <a:ext cx="3337200" cy="35658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24"/>
          <p:cNvSpPr/>
          <p:nvPr/>
        </p:nvSpPr>
        <p:spPr>
          <a:xfrm>
            <a:off x="5577840" y="141732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ROI Calculator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 25"/>
          <p:cNvSpPr/>
          <p:nvPr/>
        </p:nvSpPr>
        <p:spPr>
          <a:xfrm>
            <a:off x="5577840" y="173736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Hospital doing 100 scans/day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26"/>
          <p:cNvSpPr/>
          <p:nvPr/>
        </p:nvSpPr>
        <p:spPr>
          <a:xfrm>
            <a:off x="5577840" y="210312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27"/>
          <p:cNvSpPr/>
          <p:nvPr/>
        </p:nvSpPr>
        <p:spPr>
          <a:xfrm>
            <a:off x="5669280" y="21214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Monthly subscription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28"/>
          <p:cNvSpPr/>
          <p:nvPr/>
        </p:nvSpPr>
        <p:spPr>
          <a:xfrm>
            <a:off x="7315200" y="212148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200 000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29"/>
          <p:cNvSpPr/>
          <p:nvPr/>
        </p:nvSpPr>
        <p:spPr>
          <a:xfrm>
            <a:off x="5577840" y="254196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30"/>
          <p:cNvSpPr/>
          <p:nvPr/>
        </p:nvSpPr>
        <p:spPr>
          <a:xfrm>
            <a:off x="5669280" y="256032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Scans/month (100×30)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31"/>
          <p:cNvSpPr/>
          <p:nvPr/>
        </p:nvSpPr>
        <p:spPr>
          <a:xfrm>
            <a:off x="7315200" y="256032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3 000 scans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32"/>
          <p:cNvSpPr/>
          <p:nvPr/>
        </p:nvSpPr>
        <p:spPr>
          <a:xfrm>
            <a:off x="5577840" y="298080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33"/>
          <p:cNvSpPr/>
          <p:nvPr/>
        </p:nvSpPr>
        <p:spPr>
          <a:xfrm>
            <a:off x="5669280" y="299916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Saved per scan (avg)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 34"/>
          <p:cNvSpPr/>
          <p:nvPr/>
        </p:nvSpPr>
        <p:spPr>
          <a:xfrm>
            <a:off x="7315200" y="299916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1 200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35"/>
          <p:cNvSpPr/>
          <p:nvPr/>
        </p:nvSpPr>
        <p:spPr>
          <a:xfrm>
            <a:off x="5577840" y="342000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Text 36"/>
          <p:cNvSpPr/>
          <p:nvPr/>
        </p:nvSpPr>
        <p:spPr>
          <a:xfrm>
            <a:off x="5669280" y="34380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Total lab saving/month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37"/>
          <p:cNvSpPr/>
          <p:nvPr/>
        </p:nvSpPr>
        <p:spPr>
          <a:xfrm>
            <a:off x="7315200" y="343800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3 600 000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38"/>
          <p:cNvSpPr/>
          <p:nvPr/>
        </p:nvSpPr>
        <p:spPr>
          <a:xfrm>
            <a:off x="5577840" y="385884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39"/>
          <p:cNvSpPr/>
          <p:nvPr/>
        </p:nvSpPr>
        <p:spPr>
          <a:xfrm>
            <a:off x="5669280" y="38772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Net benefit/month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40"/>
          <p:cNvSpPr/>
          <p:nvPr/>
        </p:nvSpPr>
        <p:spPr>
          <a:xfrm>
            <a:off x="7315200" y="387720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3 400 000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41"/>
          <p:cNvSpPr/>
          <p:nvPr/>
        </p:nvSpPr>
        <p:spPr>
          <a:xfrm>
            <a:off x="5577840" y="4297680"/>
            <a:ext cx="3154320" cy="383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Text 42"/>
          <p:cNvSpPr/>
          <p:nvPr/>
        </p:nvSpPr>
        <p:spPr>
          <a:xfrm>
            <a:off x="5669280" y="43160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71e2e"/>
                </a:solidFill>
                <a:latin typeface="Calibri"/>
                <a:ea typeface="Calibri"/>
              </a:rPr>
              <a:t>ROI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 43"/>
          <p:cNvSpPr/>
          <p:nvPr/>
        </p:nvSpPr>
        <p:spPr>
          <a:xfrm>
            <a:off x="7315200" y="431604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71e2e"/>
                </a:solidFill>
                <a:latin typeface="Calibri"/>
                <a:ea typeface="Calibri"/>
              </a:rPr>
              <a:t>1 700%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COMPETITIVE LANDSCAPE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b2e4e"/>
                </a:solidFill>
                <a:latin typeface="Calibri"/>
                <a:ea typeface="Calibri"/>
              </a:rPr>
              <a:t>Where we stand in Algeria's health-tech market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3"/>
          <p:cNvSpPr/>
          <p:nvPr/>
        </p:nvSpPr>
        <p:spPr>
          <a:xfrm>
            <a:off x="274320" y="132588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4"/>
          <p:cNvSpPr/>
          <p:nvPr/>
        </p:nvSpPr>
        <p:spPr>
          <a:xfrm>
            <a:off x="274320" y="13258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Competitor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5"/>
          <p:cNvSpPr/>
          <p:nvPr/>
        </p:nvSpPr>
        <p:spPr>
          <a:xfrm>
            <a:off x="2423160" y="1325880"/>
            <a:ext cx="1737000" cy="347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6"/>
          <p:cNvSpPr/>
          <p:nvPr/>
        </p:nvSpPr>
        <p:spPr>
          <a:xfrm>
            <a:off x="2423160" y="13258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Type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7"/>
          <p:cNvSpPr/>
          <p:nvPr/>
        </p:nvSpPr>
        <p:spPr>
          <a:xfrm>
            <a:off x="4297680" y="1325880"/>
            <a:ext cx="1782720" cy="347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8"/>
          <p:cNvSpPr/>
          <p:nvPr/>
        </p:nvSpPr>
        <p:spPr>
          <a:xfrm>
            <a:off x="4297680" y="132588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Algeria presence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9"/>
          <p:cNvSpPr/>
          <p:nvPr/>
        </p:nvSpPr>
        <p:spPr>
          <a:xfrm>
            <a:off x="6217920" y="1325880"/>
            <a:ext cx="2651400" cy="34704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10"/>
          <p:cNvSpPr/>
          <p:nvPr/>
        </p:nvSpPr>
        <p:spPr>
          <a:xfrm>
            <a:off x="6217920" y="132588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Gap we fill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11"/>
          <p:cNvSpPr/>
          <p:nvPr/>
        </p:nvSpPr>
        <p:spPr>
          <a:xfrm>
            <a:off x="274320" y="1682640"/>
            <a:ext cx="20113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12"/>
          <p:cNvSpPr/>
          <p:nvPr/>
        </p:nvSpPr>
        <p:spPr>
          <a:xfrm>
            <a:off x="347400" y="171000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Sysmex / Mindray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13"/>
          <p:cNvSpPr/>
          <p:nvPr/>
        </p:nvSpPr>
        <p:spPr>
          <a:xfrm>
            <a:off x="2423160" y="1682640"/>
            <a:ext cx="17370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14"/>
          <p:cNvSpPr/>
          <p:nvPr/>
        </p:nvSpPr>
        <p:spPr>
          <a:xfrm>
            <a:off x="2496240" y="171000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Hardware analyzer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15"/>
          <p:cNvSpPr/>
          <p:nvPr/>
        </p:nvSpPr>
        <p:spPr>
          <a:xfrm>
            <a:off x="4297680" y="1682640"/>
            <a:ext cx="17827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16"/>
          <p:cNvSpPr/>
          <p:nvPr/>
        </p:nvSpPr>
        <p:spPr>
          <a:xfrm>
            <a:off x="4370760" y="171000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Strong — high cost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17"/>
          <p:cNvSpPr/>
          <p:nvPr/>
        </p:nvSpPr>
        <p:spPr>
          <a:xfrm>
            <a:off x="6217920" y="1682640"/>
            <a:ext cx="26514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18"/>
          <p:cNvSpPr/>
          <p:nvPr/>
        </p:nvSpPr>
        <p:spPr>
          <a:xfrm>
            <a:off x="6291000" y="171000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No upfront investment needed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19"/>
          <p:cNvSpPr/>
          <p:nvPr/>
        </p:nvSpPr>
        <p:spPr>
          <a:xfrm>
            <a:off x="274320" y="2194560"/>
            <a:ext cx="20113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20"/>
          <p:cNvSpPr/>
          <p:nvPr/>
        </p:nvSpPr>
        <p:spPr>
          <a:xfrm>
            <a:off x="347400" y="222192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Private labs (Pasteur etc.)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21"/>
          <p:cNvSpPr/>
          <p:nvPr/>
        </p:nvSpPr>
        <p:spPr>
          <a:xfrm>
            <a:off x="2423160" y="2194560"/>
            <a:ext cx="17370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 22"/>
          <p:cNvSpPr/>
          <p:nvPr/>
        </p:nvSpPr>
        <p:spPr>
          <a:xfrm>
            <a:off x="2496240" y="222192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Manual CBC lab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23"/>
          <p:cNvSpPr/>
          <p:nvPr/>
        </p:nvSpPr>
        <p:spPr>
          <a:xfrm>
            <a:off x="4297680" y="2194560"/>
            <a:ext cx="17827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 24"/>
          <p:cNvSpPr/>
          <p:nvPr/>
        </p:nvSpPr>
        <p:spPr>
          <a:xfrm>
            <a:off x="4370760" y="222192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Nationwide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25"/>
          <p:cNvSpPr/>
          <p:nvPr/>
        </p:nvSpPr>
        <p:spPr>
          <a:xfrm>
            <a:off x="6217920" y="2194560"/>
            <a:ext cx="26514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26"/>
          <p:cNvSpPr/>
          <p:nvPr/>
        </p:nvSpPr>
        <p:spPr>
          <a:xfrm>
            <a:off x="6291000" y="222192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Mobile, instant, 10× cheaper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27"/>
          <p:cNvSpPr/>
          <p:nvPr/>
        </p:nvSpPr>
        <p:spPr>
          <a:xfrm>
            <a:off x="274320" y="2706480"/>
            <a:ext cx="20113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28"/>
          <p:cNvSpPr/>
          <p:nvPr/>
        </p:nvSpPr>
        <p:spPr>
          <a:xfrm>
            <a:off x="347400" y="273420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Doctocare / Tabiblib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9"/>
          <p:cNvSpPr/>
          <p:nvPr/>
        </p:nvSpPr>
        <p:spPr>
          <a:xfrm>
            <a:off x="2423160" y="2706480"/>
            <a:ext cx="17370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30"/>
          <p:cNvSpPr/>
          <p:nvPr/>
        </p:nvSpPr>
        <p:spPr>
          <a:xfrm>
            <a:off x="2496240" y="273420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Appointment apps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31"/>
          <p:cNvSpPr/>
          <p:nvPr/>
        </p:nvSpPr>
        <p:spPr>
          <a:xfrm>
            <a:off x="4297680" y="2706480"/>
            <a:ext cx="17827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 32"/>
          <p:cNvSpPr/>
          <p:nvPr/>
        </p:nvSpPr>
        <p:spPr>
          <a:xfrm>
            <a:off x="4370760" y="273420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Growing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33"/>
          <p:cNvSpPr/>
          <p:nvPr/>
        </p:nvSpPr>
        <p:spPr>
          <a:xfrm>
            <a:off x="6217920" y="2706480"/>
            <a:ext cx="26514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34"/>
          <p:cNvSpPr/>
          <p:nvPr/>
        </p:nvSpPr>
        <p:spPr>
          <a:xfrm>
            <a:off x="6291000" y="273420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Diagnostics, not scheduling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5"/>
          <p:cNvSpPr/>
          <p:nvPr/>
        </p:nvSpPr>
        <p:spPr>
          <a:xfrm>
            <a:off x="274320" y="3218760"/>
            <a:ext cx="20113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 36"/>
          <p:cNvSpPr/>
          <p:nvPr/>
        </p:nvSpPr>
        <p:spPr>
          <a:xfrm>
            <a:off x="347400" y="324612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Scanwell / Sight OAL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37"/>
          <p:cNvSpPr/>
          <p:nvPr/>
        </p:nvSpPr>
        <p:spPr>
          <a:xfrm>
            <a:off x="2423160" y="3218760"/>
            <a:ext cx="17370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 38"/>
          <p:cNvSpPr/>
          <p:nvPr/>
        </p:nvSpPr>
        <p:spPr>
          <a:xfrm>
            <a:off x="2496240" y="324612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AI diagnostics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39"/>
          <p:cNvSpPr/>
          <p:nvPr/>
        </p:nvSpPr>
        <p:spPr>
          <a:xfrm>
            <a:off x="4297680" y="3218760"/>
            <a:ext cx="17827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 40"/>
          <p:cNvSpPr/>
          <p:nvPr/>
        </p:nvSpPr>
        <p:spPr>
          <a:xfrm>
            <a:off x="4370760" y="324612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Not present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41"/>
          <p:cNvSpPr/>
          <p:nvPr/>
        </p:nvSpPr>
        <p:spPr>
          <a:xfrm>
            <a:off x="6217920" y="3218760"/>
            <a:ext cx="26514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42"/>
          <p:cNvSpPr/>
          <p:nvPr/>
        </p:nvSpPr>
        <p:spPr>
          <a:xfrm>
            <a:off x="6291000" y="324612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Local pricing + Arabic support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43"/>
          <p:cNvSpPr/>
          <p:nvPr/>
        </p:nvSpPr>
        <p:spPr>
          <a:xfrm>
            <a:off x="274320" y="3730680"/>
            <a:ext cx="201132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44"/>
          <p:cNvSpPr/>
          <p:nvPr/>
        </p:nvSpPr>
        <p:spPr>
          <a:xfrm>
            <a:off x="347400" y="375804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AnemiaAI (us)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45"/>
          <p:cNvSpPr/>
          <p:nvPr/>
        </p:nvSpPr>
        <p:spPr>
          <a:xfrm>
            <a:off x="2423160" y="3730680"/>
            <a:ext cx="173700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 46"/>
          <p:cNvSpPr/>
          <p:nvPr/>
        </p:nvSpPr>
        <p:spPr>
          <a:xfrm>
            <a:off x="2496240" y="375804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AI screening SaaS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47"/>
          <p:cNvSpPr/>
          <p:nvPr/>
        </p:nvSpPr>
        <p:spPr>
          <a:xfrm>
            <a:off x="4297680" y="3730680"/>
            <a:ext cx="178272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 48"/>
          <p:cNvSpPr/>
          <p:nvPr/>
        </p:nvSpPr>
        <p:spPr>
          <a:xfrm>
            <a:off x="4370760" y="375804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First mover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49"/>
          <p:cNvSpPr/>
          <p:nvPr/>
        </p:nvSpPr>
        <p:spPr>
          <a:xfrm>
            <a:off x="6217920" y="3730680"/>
            <a:ext cx="265140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50"/>
          <p:cNvSpPr/>
          <p:nvPr/>
        </p:nvSpPr>
        <p:spPr>
          <a:xfrm>
            <a:off x="6291000" y="375804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Full package: local + affordable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51"/>
          <p:cNvSpPr/>
          <p:nvPr/>
        </p:nvSpPr>
        <p:spPr>
          <a:xfrm>
            <a:off x="274320" y="4343400"/>
            <a:ext cx="2697120" cy="63972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52"/>
          <p:cNvSpPr/>
          <p:nvPr/>
        </p:nvSpPr>
        <p:spPr>
          <a:xfrm>
            <a:off x="274320" y="4343400"/>
            <a:ext cx="63720" cy="639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53"/>
          <p:cNvSpPr/>
          <p:nvPr/>
        </p:nvSpPr>
        <p:spPr>
          <a:xfrm>
            <a:off x="438840" y="43707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Data moat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Text 54"/>
          <p:cNvSpPr/>
          <p:nvPr/>
        </p:nvSpPr>
        <p:spPr>
          <a:xfrm>
            <a:off x="438840" y="45903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080"/>
                </a:solidFill>
                <a:latin typeface="Calibri"/>
                <a:ea typeface="Calibri"/>
              </a:rPr>
              <a:t>Every scan improves our model. Local Algerian data competitors cannot access.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55"/>
          <p:cNvSpPr/>
          <p:nvPr/>
        </p:nvSpPr>
        <p:spPr>
          <a:xfrm>
            <a:off x="3200400" y="4343400"/>
            <a:ext cx="2697120" cy="63972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56"/>
          <p:cNvSpPr/>
          <p:nvPr/>
        </p:nvSpPr>
        <p:spPr>
          <a:xfrm>
            <a:off x="3200400" y="4343400"/>
            <a:ext cx="63720" cy="63972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57"/>
          <p:cNvSpPr/>
          <p:nvPr/>
        </p:nvSpPr>
        <p:spPr>
          <a:xfrm>
            <a:off x="3364920" y="43707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Switching cost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58"/>
          <p:cNvSpPr/>
          <p:nvPr/>
        </p:nvSpPr>
        <p:spPr>
          <a:xfrm>
            <a:off x="3364920" y="45903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080"/>
                </a:solidFill>
                <a:latin typeface="Calibri"/>
                <a:ea typeface="Calibri"/>
              </a:rPr>
              <a:t>Once integrated into HIS/EHR, switching requires retraining and re-approval.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59"/>
          <p:cNvSpPr/>
          <p:nvPr/>
        </p:nvSpPr>
        <p:spPr>
          <a:xfrm>
            <a:off x="6126480" y="4343400"/>
            <a:ext cx="2697120" cy="63972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60"/>
          <p:cNvSpPr/>
          <p:nvPr/>
        </p:nvSpPr>
        <p:spPr>
          <a:xfrm>
            <a:off x="6126480" y="4343400"/>
            <a:ext cx="63720" cy="63972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 61"/>
          <p:cNvSpPr/>
          <p:nvPr/>
        </p:nvSpPr>
        <p:spPr>
          <a:xfrm>
            <a:off x="6291000" y="43707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Local compliance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 62"/>
          <p:cNvSpPr/>
          <p:nvPr/>
        </p:nvSpPr>
        <p:spPr>
          <a:xfrm>
            <a:off x="6291000" y="45903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080"/>
                </a:solidFill>
                <a:latin typeface="Calibri"/>
                <a:ea typeface="Calibri"/>
              </a:rPr>
              <a:t>MSPRH / CNAS / ONSSA knowledge that foreign players take 3+ years to replicate.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GO-TO-MARKET STRATEGY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3-Phase B2B Rollout Across Algeria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"/>
          <p:cNvSpPr/>
          <p:nvPr/>
        </p:nvSpPr>
        <p:spPr>
          <a:xfrm>
            <a:off x="274320" y="1371600"/>
            <a:ext cx="2697120" cy="35658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4"/>
          <p:cNvSpPr/>
          <p:nvPr/>
        </p:nvSpPr>
        <p:spPr>
          <a:xfrm>
            <a:off x="274320" y="1371600"/>
            <a:ext cx="2697120" cy="59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5"/>
          <p:cNvSpPr/>
          <p:nvPr/>
        </p:nvSpPr>
        <p:spPr>
          <a:xfrm>
            <a:off x="384120" y="142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6"/>
          <p:cNvSpPr/>
          <p:nvPr/>
        </p:nvSpPr>
        <p:spPr>
          <a:xfrm>
            <a:off x="877680" y="1426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Clinical Pilot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7"/>
          <p:cNvSpPr/>
          <p:nvPr/>
        </p:nvSpPr>
        <p:spPr>
          <a:xfrm>
            <a:off x="877680" y="166428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0d8ec"/>
                </a:solidFill>
                <a:latin typeface="Calibri"/>
                <a:ea typeface="Calibri"/>
              </a:rPr>
              <a:t>Months 1–6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2" name="Image 0" descr="preencoded.png"/>
          <p:cNvPicPr/>
          <p:nvPr/>
        </p:nvPicPr>
        <p:blipFill>
          <a:blip r:embed="rId1"/>
          <a:stretch/>
        </p:blipFill>
        <p:spPr>
          <a:xfrm>
            <a:off x="438840" y="21214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03" name="Text 8"/>
          <p:cNvSpPr/>
          <p:nvPr/>
        </p:nvSpPr>
        <p:spPr>
          <a:xfrm>
            <a:off x="676800" y="208476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Partner with 3–5 hospitals (Algiers, Oran, Constantine)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4" name="Image 1" descr="preencoded.png"/>
          <p:cNvPicPr/>
          <p:nvPr/>
        </p:nvPicPr>
        <p:blipFill>
          <a:blip r:embed="rId2"/>
          <a:stretch/>
        </p:blipFill>
        <p:spPr>
          <a:xfrm>
            <a:off x="438840" y="27799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05" name="Text 9"/>
          <p:cNvSpPr/>
          <p:nvPr/>
        </p:nvSpPr>
        <p:spPr>
          <a:xfrm>
            <a:off x="676800" y="274320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Offer free 3-month pilot with full data access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6" name="Image 2" descr="preencoded.png"/>
          <p:cNvPicPr/>
          <p:nvPr/>
        </p:nvPicPr>
        <p:blipFill>
          <a:blip r:embed="rId3"/>
          <a:stretch/>
        </p:blipFill>
        <p:spPr>
          <a:xfrm>
            <a:off x="438840" y="34380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07" name="Text 10"/>
          <p:cNvSpPr/>
          <p:nvPr/>
        </p:nvSpPr>
        <p:spPr>
          <a:xfrm>
            <a:off x="676800" y="340164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Co-author clinical validation study with CHU champion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8" name="Image 3" descr="preencoded.png"/>
          <p:cNvPicPr/>
          <p:nvPr/>
        </p:nvPicPr>
        <p:blipFill>
          <a:blip r:embed="rId4"/>
          <a:stretch/>
        </p:blipFill>
        <p:spPr>
          <a:xfrm>
            <a:off x="438840" y="40964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09" name="Text 11"/>
          <p:cNvSpPr/>
          <p:nvPr/>
        </p:nvSpPr>
        <p:spPr>
          <a:xfrm>
            <a:off x="676800" y="406008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Target accuracy ≥ 92%, collect Algerian case studies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2"/>
          <p:cNvSpPr/>
          <p:nvPr/>
        </p:nvSpPr>
        <p:spPr>
          <a:xfrm>
            <a:off x="3182040" y="1371600"/>
            <a:ext cx="2697120" cy="35658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3"/>
          <p:cNvSpPr/>
          <p:nvPr/>
        </p:nvSpPr>
        <p:spPr>
          <a:xfrm>
            <a:off x="3182040" y="1371600"/>
            <a:ext cx="2697120" cy="5940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ext 14"/>
          <p:cNvSpPr/>
          <p:nvPr/>
        </p:nvSpPr>
        <p:spPr>
          <a:xfrm>
            <a:off x="3291840" y="142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Text 15"/>
          <p:cNvSpPr/>
          <p:nvPr/>
        </p:nvSpPr>
        <p:spPr>
          <a:xfrm>
            <a:off x="3785760" y="1426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B2B Expansion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 16"/>
          <p:cNvSpPr/>
          <p:nvPr/>
        </p:nvSpPr>
        <p:spPr>
          <a:xfrm>
            <a:off x="3785760" y="166428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0d8ec"/>
                </a:solidFill>
                <a:latin typeface="Calibri"/>
                <a:ea typeface="Calibri"/>
              </a:rPr>
              <a:t>Months 7–18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5" name="Image 4" descr="preencoded.png"/>
          <p:cNvPicPr/>
          <p:nvPr/>
        </p:nvPicPr>
        <p:blipFill>
          <a:blip r:embed="rId5"/>
          <a:stretch/>
        </p:blipFill>
        <p:spPr>
          <a:xfrm>
            <a:off x="3346560" y="21214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16" name="Text 17"/>
          <p:cNvSpPr/>
          <p:nvPr/>
        </p:nvSpPr>
        <p:spPr>
          <a:xfrm>
            <a:off x="3584520" y="208476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Convert pilots to paid Starter/Professional contracts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7" name="Image 5" descr="preencoded.png"/>
          <p:cNvPicPr/>
          <p:nvPr/>
        </p:nvPicPr>
        <p:blipFill>
          <a:blip r:embed="rId6"/>
          <a:stretch/>
        </p:blipFill>
        <p:spPr>
          <a:xfrm>
            <a:off x="3346560" y="27799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18" name="Text 18"/>
          <p:cNvSpPr/>
          <p:nvPr/>
        </p:nvSpPr>
        <p:spPr>
          <a:xfrm>
            <a:off x="3584520" y="274320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Target 50 facilities across 10 wilayas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9" name="Image 6" descr="preencoded.png"/>
          <p:cNvPicPr/>
          <p:nvPr/>
        </p:nvPicPr>
        <p:blipFill>
          <a:blip r:embed="rId7"/>
          <a:stretch/>
        </p:blipFill>
        <p:spPr>
          <a:xfrm>
            <a:off x="3346560" y="34380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20" name="Text 19"/>
          <p:cNvSpPr/>
          <p:nvPr/>
        </p:nvSpPr>
        <p:spPr>
          <a:xfrm>
            <a:off x="3584520" y="340164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Present at SIPHAL pharmacy convention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1" name="Image 7" descr="preencoded.png"/>
          <p:cNvPicPr/>
          <p:nvPr/>
        </p:nvPicPr>
        <p:blipFill>
          <a:blip r:embed="rId8"/>
          <a:stretch/>
        </p:blipFill>
        <p:spPr>
          <a:xfrm>
            <a:off x="3346560" y="40964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22" name="Text 20"/>
          <p:cNvSpPr/>
          <p:nvPr/>
        </p:nvSpPr>
        <p:spPr>
          <a:xfrm>
            <a:off x="3584520" y="406008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Apply for MSPRH approval &amp; CNAS billing code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21"/>
          <p:cNvSpPr/>
          <p:nvPr/>
        </p:nvSpPr>
        <p:spPr>
          <a:xfrm>
            <a:off x="6089760" y="1371600"/>
            <a:ext cx="2697120" cy="35658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2"/>
          <p:cNvSpPr/>
          <p:nvPr/>
        </p:nvSpPr>
        <p:spPr>
          <a:xfrm>
            <a:off x="6089760" y="1371600"/>
            <a:ext cx="2697120" cy="5940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Text 23"/>
          <p:cNvSpPr/>
          <p:nvPr/>
        </p:nvSpPr>
        <p:spPr>
          <a:xfrm>
            <a:off x="6199560" y="142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 24"/>
          <p:cNvSpPr/>
          <p:nvPr/>
        </p:nvSpPr>
        <p:spPr>
          <a:xfrm>
            <a:off x="6693480" y="1426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National Scale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 25"/>
          <p:cNvSpPr/>
          <p:nvPr/>
        </p:nvSpPr>
        <p:spPr>
          <a:xfrm>
            <a:off x="6693480" y="166428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0d8ec"/>
                </a:solidFill>
                <a:latin typeface="Calibri"/>
                <a:ea typeface="Calibri"/>
              </a:rPr>
              <a:t>Month 18+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8" name="Image 8" descr="preencoded.png"/>
          <p:cNvPicPr/>
          <p:nvPr/>
        </p:nvPicPr>
        <p:blipFill>
          <a:blip r:embed="rId9"/>
          <a:stretch/>
        </p:blipFill>
        <p:spPr>
          <a:xfrm>
            <a:off x="6254640" y="21214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29" name="Text 26"/>
          <p:cNvSpPr/>
          <p:nvPr/>
        </p:nvSpPr>
        <p:spPr>
          <a:xfrm>
            <a:off x="6492240" y="208476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MoH framework tender — win 100+ hospitals at once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0" name="Image 9" descr="preencoded.png"/>
          <p:cNvPicPr/>
          <p:nvPr/>
        </p:nvPicPr>
        <p:blipFill>
          <a:blip r:embed="rId10"/>
          <a:stretch/>
        </p:blipFill>
        <p:spPr>
          <a:xfrm>
            <a:off x="6254640" y="27799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31" name="Text 27"/>
          <p:cNvSpPr/>
          <p:nvPr/>
        </p:nvSpPr>
        <p:spPr>
          <a:xfrm>
            <a:off x="6492240" y="274320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Freemium tier: 10 free scans/month for rural EPHs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2" name="Image 10" descr="preencoded.png"/>
          <p:cNvPicPr/>
          <p:nvPr/>
        </p:nvPicPr>
        <p:blipFill>
          <a:blip r:embed="rId11"/>
          <a:stretch/>
        </p:blipFill>
        <p:spPr>
          <a:xfrm>
            <a:off x="6254640" y="34380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33" name="Text 28"/>
          <p:cNvSpPr/>
          <p:nvPr/>
        </p:nvSpPr>
        <p:spPr>
          <a:xfrm>
            <a:off x="6492240" y="340164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API licensing to EHR/HIS vendors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4" name="Image 11" descr="preencoded.png"/>
          <p:cNvPicPr/>
          <p:nvPr/>
        </p:nvPicPr>
        <p:blipFill>
          <a:blip r:embed="rId12"/>
          <a:stretch/>
        </p:blipFill>
        <p:spPr>
          <a:xfrm>
            <a:off x="6254640" y="40964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835" name="Text 29"/>
          <p:cNvSpPr/>
          <p:nvPr/>
        </p:nvSpPr>
        <p:spPr>
          <a:xfrm>
            <a:off x="6492240" y="406008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Regional expansion: Morocco, Tunisia, Mauritania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 30"/>
          <p:cNvSpPr/>
          <p:nvPr/>
        </p:nvSpPr>
        <p:spPr>
          <a:xfrm>
            <a:off x="274320" y="49561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b2e4e"/>
                </a:solidFill>
                <a:latin typeface="Calibri"/>
                <a:ea typeface="Calibri"/>
              </a:rPr>
              <a:t>Sales channels: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1"/>
          <p:cNvSpPr/>
          <p:nvPr/>
        </p:nvSpPr>
        <p:spPr>
          <a:xfrm>
            <a:off x="160020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Text 32"/>
          <p:cNvSpPr/>
          <p:nvPr/>
        </p:nvSpPr>
        <p:spPr>
          <a:xfrm>
            <a:off x="160020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Direct B2B sales team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33"/>
          <p:cNvSpPr/>
          <p:nvPr/>
        </p:nvSpPr>
        <p:spPr>
          <a:xfrm>
            <a:off x="347472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34"/>
          <p:cNvSpPr/>
          <p:nvPr/>
        </p:nvSpPr>
        <p:spPr>
          <a:xfrm>
            <a:off x="347472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MoH public tender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35"/>
          <p:cNvSpPr/>
          <p:nvPr/>
        </p:nvSpPr>
        <p:spPr>
          <a:xfrm>
            <a:off x="534924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36"/>
          <p:cNvSpPr/>
          <p:nvPr/>
        </p:nvSpPr>
        <p:spPr>
          <a:xfrm>
            <a:off x="534924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Medical distributors (15-20% commission)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37"/>
          <p:cNvSpPr/>
          <p:nvPr/>
        </p:nvSpPr>
        <p:spPr>
          <a:xfrm>
            <a:off x="722376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38"/>
          <p:cNvSpPr/>
          <p:nvPr/>
        </p:nvSpPr>
        <p:spPr>
          <a:xfrm>
            <a:off x="722376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SIPHAL / medical conferences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PARTNERSHIPS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Strategic alliances that accelerate growth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3"/>
          <p:cNvSpPr/>
          <p:nvPr/>
        </p:nvSpPr>
        <p:spPr>
          <a:xfrm>
            <a:off x="274320" y="132588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4"/>
          <p:cNvSpPr/>
          <p:nvPr/>
        </p:nvSpPr>
        <p:spPr>
          <a:xfrm>
            <a:off x="274320" y="1325880"/>
            <a:ext cx="265140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5"/>
          <p:cNvSpPr/>
          <p:nvPr/>
        </p:nvSpPr>
        <p:spPr>
          <a:xfrm>
            <a:off x="384120" y="1508760"/>
            <a:ext cx="475200" cy="475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1" name="Image 0" descr="preencoded.png"/>
          <p:cNvPicPr/>
          <p:nvPr/>
        </p:nvPicPr>
        <p:blipFill>
          <a:blip r:embed="rId1"/>
          <a:stretch/>
        </p:blipFill>
        <p:spPr>
          <a:xfrm>
            <a:off x="429840" y="1545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52" name="Text 6"/>
          <p:cNvSpPr/>
          <p:nvPr/>
        </p:nvSpPr>
        <p:spPr>
          <a:xfrm>
            <a:off x="932760" y="15454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CHU / EHS Hospitals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Text 7"/>
          <p:cNvSpPr/>
          <p:nvPr/>
        </p:nvSpPr>
        <p:spPr>
          <a:xfrm>
            <a:off x="411480" y="207576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Clinical validation &amp; co-authorship. Free perpetual license + data revenue share in exchange for study access.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8"/>
          <p:cNvSpPr/>
          <p:nvPr/>
        </p:nvSpPr>
        <p:spPr>
          <a:xfrm>
            <a:off x="3108960" y="132588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9"/>
          <p:cNvSpPr/>
          <p:nvPr/>
        </p:nvSpPr>
        <p:spPr>
          <a:xfrm>
            <a:off x="3108960" y="1325880"/>
            <a:ext cx="2651400" cy="543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Shape 10"/>
          <p:cNvSpPr/>
          <p:nvPr/>
        </p:nvSpPr>
        <p:spPr>
          <a:xfrm>
            <a:off x="3218760" y="1508760"/>
            <a:ext cx="475200" cy="4752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7" name="Image 1" descr="preencoded.png"/>
          <p:cNvPicPr/>
          <p:nvPr/>
        </p:nvPicPr>
        <p:blipFill>
          <a:blip r:embed="rId2"/>
          <a:stretch/>
        </p:blipFill>
        <p:spPr>
          <a:xfrm>
            <a:off x="3264480" y="1545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58" name="Text 11"/>
          <p:cNvSpPr/>
          <p:nvPr/>
        </p:nvSpPr>
        <p:spPr>
          <a:xfrm>
            <a:off x="3767400" y="15454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MSPRH (Ministry of Health)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 12"/>
          <p:cNvSpPr/>
          <p:nvPr/>
        </p:nvSpPr>
        <p:spPr>
          <a:xfrm>
            <a:off x="3246120" y="207576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Certification &amp; public-hospital entry. Essential for national rollout via framework tender contracts.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3"/>
          <p:cNvSpPr/>
          <p:nvPr/>
        </p:nvSpPr>
        <p:spPr>
          <a:xfrm>
            <a:off x="5943600" y="132588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4"/>
          <p:cNvSpPr/>
          <p:nvPr/>
        </p:nvSpPr>
        <p:spPr>
          <a:xfrm>
            <a:off x="5943600" y="1325880"/>
            <a:ext cx="2651400" cy="543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5"/>
          <p:cNvSpPr/>
          <p:nvPr/>
        </p:nvSpPr>
        <p:spPr>
          <a:xfrm>
            <a:off x="6053400" y="1508760"/>
            <a:ext cx="475200" cy="4752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3" name="Image 2" descr="preencoded.png"/>
          <p:cNvPicPr/>
          <p:nvPr/>
        </p:nvPicPr>
        <p:blipFill>
          <a:blip r:embed="rId3"/>
          <a:stretch/>
        </p:blipFill>
        <p:spPr>
          <a:xfrm>
            <a:off x="6099120" y="1545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64" name="Text 16"/>
          <p:cNvSpPr/>
          <p:nvPr/>
        </p:nvSpPr>
        <p:spPr>
          <a:xfrm>
            <a:off x="6602040" y="15454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Saidal &amp; Pharma (Iron supplements)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 17"/>
          <p:cNvSpPr/>
          <p:nvPr/>
        </p:nvSpPr>
        <p:spPr>
          <a:xfrm>
            <a:off x="6080760" y="207576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They sponsor our app because we identify their target market. Data licensing &amp; co-marketing deals.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18"/>
          <p:cNvSpPr/>
          <p:nvPr/>
        </p:nvSpPr>
        <p:spPr>
          <a:xfrm>
            <a:off x="274320" y="310896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19"/>
          <p:cNvSpPr/>
          <p:nvPr/>
        </p:nvSpPr>
        <p:spPr>
          <a:xfrm>
            <a:off x="274320" y="3108960"/>
            <a:ext cx="2651400" cy="5436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Shape 20"/>
          <p:cNvSpPr/>
          <p:nvPr/>
        </p:nvSpPr>
        <p:spPr>
          <a:xfrm>
            <a:off x="384120" y="3291840"/>
            <a:ext cx="475200" cy="47520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9" name="Image 3" descr="preencoded.png"/>
          <p:cNvPicPr/>
          <p:nvPr/>
        </p:nvPicPr>
        <p:blipFill>
          <a:blip r:embed="rId4"/>
          <a:stretch/>
        </p:blipFill>
        <p:spPr>
          <a:xfrm>
            <a:off x="429840" y="33285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70" name="Text 21"/>
          <p:cNvSpPr/>
          <p:nvPr/>
        </p:nvSpPr>
        <p:spPr>
          <a:xfrm>
            <a:off x="932760" y="33285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Djezzy / Ooredoo / Mobilis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 22"/>
          <p:cNvSpPr/>
          <p:nvPr/>
        </p:nvSpPr>
        <p:spPr>
          <a:xfrm>
            <a:off x="411480" y="385884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'Health Data Plan' — app traffic is free/subsidized. Reach rural users with zero connectivity cost.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23"/>
          <p:cNvSpPr/>
          <p:nvPr/>
        </p:nvSpPr>
        <p:spPr>
          <a:xfrm>
            <a:off x="3108960" y="310896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24"/>
          <p:cNvSpPr/>
          <p:nvPr/>
        </p:nvSpPr>
        <p:spPr>
          <a:xfrm>
            <a:off x="3108960" y="3108960"/>
            <a:ext cx="2651400" cy="54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Shape 25"/>
          <p:cNvSpPr/>
          <p:nvPr/>
        </p:nvSpPr>
        <p:spPr>
          <a:xfrm>
            <a:off x="3218760" y="3291840"/>
            <a:ext cx="475200" cy="475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5" name="Image 4" descr="preencoded.png"/>
          <p:cNvPicPr/>
          <p:nvPr/>
        </p:nvPicPr>
        <p:blipFill>
          <a:blip r:embed="rId5"/>
          <a:stretch/>
        </p:blipFill>
        <p:spPr>
          <a:xfrm>
            <a:off x="3264480" y="33285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76" name="Text 26"/>
          <p:cNvSpPr/>
          <p:nvPr/>
        </p:nvSpPr>
        <p:spPr>
          <a:xfrm>
            <a:off x="3767400" y="33285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Medical Distributors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 27"/>
          <p:cNvSpPr/>
          <p:nvPr/>
        </p:nvSpPr>
        <p:spPr>
          <a:xfrm>
            <a:off x="3246120" y="385884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Companies like Sterimex &amp; Aleph Medical carry us into hospital procurement at 15–20% commission.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28"/>
          <p:cNvSpPr/>
          <p:nvPr/>
        </p:nvSpPr>
        <p:spPr>
          <a:xfrm>
            <a:off x="5943600" y="310896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29"/>
          <p:cNvSpPr/>
          <p:nvPr/>
        </p:nvSpPr>
        <p:spPr>
          <a:xfrm>
            <a:off x="5943600" y="3108960"/>
            <a:ext cx="2651400" cy="5436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Shape 30"/>
          <p:cNvSpPr/>
          <p:nvPr/>
        </p:nvSpPr>
        <p:spPr>
          <a:xfrm>
            <a:off x="6053400" y="3291840"/>
            <a:ext cx="475200" cy="47520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1" name="Image 5" descr="preencoded.png"/>
          <p:cNvPicPr/>
          <p:nvPr/>
        </p:nvPicPr>
        <p:blipFill>
          <a:blip r:embed="rId6"/>
          <a:stretch/>
        </p:blipFill>
        <p:spPr>
          <a:xfrm>
            <a:off x="6099120" y="33285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82" name="Text 31"/>
          <p:cNvSpPr/>
          <p:nvPr/>
        </p:nvSpPr>
        <p:spPr>
          <a:xfrm>
            <a:off x="6602040" y="33285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USTHB / Univ. Tlemcen (Academic)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 32"/>
          <p:cNvSpPr/>
          <p:nvPr/>
        </p:nvSpPr>
        <p:spPr>
          <a:xfrm>
            <a:off x="6080760" y="385884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Joint grants, annotated datasets, peer-reviewed accuracy publications, and talent pipeline.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ANTICIPATED Q&amp;A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Key questions — and our answers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3"/>
          <p:cNvSpPr/>
          <p:nvPr/>
        </p:nvSpPr>
        <p:spPr>
          <a:xfrm>
            <a:off x="274320" y="137160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4"/>
          <p:cNvSpPr/>
          <p:nvPr/>
        </p:nvSpPr>
        <p:spPr>
          <a:xfrm>
            <a:off x="274320" y="137160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5"/>
          <p:cNvSpPr/>
          <p:nvPr/>
        </p:nvSpPr>
        <p:spPr>
          <a:xfrm>
            <a:off x="411480" y="146304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How do you make money?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Text 6"/>
          <p:cNvSpPr/>
          <p:nvPr/>
        </p:nvSpPr>
        <p:spPr>
          <a:xfrm>
            <a:off x="411480" y="181044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B2B SaaS subscription (80k–500k+ DZD/mo per facility) + per-scan API pricing + data licensing to pharma + API to EHR vendors.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7"/>
          <p:cNvSpPr/>
          <p:nvPr/>
        </p:nvSpPr>
        <p:spPr>
          <a:xfrm>
            <a:off x="4663440" y="137160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8"/>
          <p:cNvSpPr/>
          <p:nvPr/>
        </p:nvSpPr>
        <p:spPr>
          <a:xfrm>
            <a:off x="4663440" y="137160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Text 9"/>
          <p:cNvSpPr/>
          <p:nvPr/>
        </p:nvSpPr>
        <p:spPr>
          <a:xfrm>
            <a:off x="4800600" y="146304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Why would a hospital already owning a CBC machine pay for this?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Text 10"/>
          <p:cNvSpPr/>
          <p:nvPr/>
        </p:nvSpPr>
        <p:spPr>
          <a:xfrm>
            <a:off x="4800600" y="181044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We are a pre-filter. 60–70% of CBC orders come back negative. We handle those non-invasively, saving reagents, staff time &amp; machine wear.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1"/>
          <p:cNvSpPr/>
          <p:nvPr/>
        </p:nvSpPr>
        <p:spPr>
          <a:xfrm>
            <a:off x="274320" y="260604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12"/>
          <p:cNvSpPr/>
          <p:nvPr/>
        </p:nvSpPr>
        <p:spPr>
          <a:xfrm>
            <a:off x="274320" y="260604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Text 13"/>
          <p:cNvSpPr/>
          <p:nvPr/>
        </p:nvSpPr>
        <p:spPr>
          <a:xfrm>
            <a:off x="411480" y="269748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What if the AI is wrong? Who is liable?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Text 14"/>
          <p:cNvSpPr/>
          <p:nvPr/>
        </p:nvSpPr>
        <p:spPr>
          <a:xfrm>
            <a:off x="411480" y="304488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We are a screening tool — doctors confirm all results. Our ToS classifies us as a 'decision support system'. Liability stays with the physician.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5"/>
          <p:cNvSpPr/>
          <p:nvPr/>
        </p:nvSpPr>
        <p:spPr>
          <a:xfrm>
            <a:off x="4663440" y="260604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16"/>
          <p:cNvSpPr/>
          <p:nvPr/>
        </p:nvSpPr>
        <p:spPr>
          <a:xfrm>
            <a:off x="4663440" y="260604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ext 17"/>
          <p:cNvSpPr/>
          <p:nvPr/>
        </p:nvSpPr>
        <p:spPr>
          <a:xfrm>
            <a:off x="4800600" y="269748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Is this approved by Algerian authorities?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Text 18"/>
          <p:cNvSpPr/>
          <p:nvPr/>
        </p:nvSpPr>
        <p:spPr>
          <a:xfrm>
            <a:off x="4800600" y="304488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We follow the MSPRH medical device pathway (Decree 92-276). Classified as 'decision support' = lighter pathway. Target: approval in 6–12 months.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19"/>
          <p:cNvSpPr/>
          <p:nvPr/>
        </p:nvSpPr>
        <p:spPr>
          <a:xfrm>
            <a:off x="274320" y="384048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0"/>
          <p:cNvSpPr/>
          <p:nvPr/>
        </p:nvSpPr>
        <p:spPr>
          <a:xfrm>
            <a:off x="274320" y="384048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21"/>
          <p:cNvSpPr/>
          <p:nvPr/>
        </p:nvSpPr>
        <p:spPr>
          <a:xfrm>
            <a:off x="411480" y="393192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What stops big companies from copying you?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Text 22"/>
          <p:cNvSpPr/>
          <p:nvPr/>
        </p:nvSpPr>
        <p:spPr>
          <a:xfrm>
            <a:off x="411480" y="427932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Data moat (local Algerian dataset), MSPRH regulatory knowledge (3+ years to replicate), and HIS switching cost once deployed.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3"/>
          <p:cNvSpPr/>
          <p:nvPr/>
        </p:nvSpPr>
        <p:spPr>
          <a:xfrm>
            <a:off x="4663440" y="384048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4"/>
          <p:cNvSpPr/>
          <p:nvPr/>
        </p:nvSpPr>
        <p:spPr>
          <a:xfrm>
            <a:off x="4663440" y="384048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Text 25"/>
          <p:cNvSpPr/>
          <p:nvPr/>
        </p:nvSpPr>
        <p:spPr>
          <a:xfrm>
            <a:off x="4800600" y="393192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How does your AI actually work?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 26"/>
          <p:cNvSpPr/>
          <p:nvPr/>
        </p:nvSpPr>
        <p:spPr>
          <a:xfrm>
            <a:off x="4800600" y="427932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Analyzes conjunctival pallor, nail bed colour, and palmar pallor via smartphone camera — WHO IMCI-validated proxies for anemia used in resource-limited settings.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Shape 1"/>
          <p:cNvSpPr/>
          <p:nvPr/>
        </p:nvSpPr>
        <p:spPr>
          <a:xfrm>
            <a:off x="0" y="5052240"/>
            <a:ext cx="9143640" cy="91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ext 2"/>
          <p:cNvSpPr/>
          <p:nvPr/>
        </p:nvSpPr>
        <p:spPr>
          <a:xfrm>
            <a:off x="914400" y="91440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One in three Algerian children has anemia.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Text 3"/>
          <p:cNvSpPr/>
          <p:nvPr/>
        </p:nvSpPr>
        <p:spPr>
          <a:xfrm>
            <a:off x="914400" y="150876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7bbad0"/>
                </a:solidFill>
                <a:latin typeface="Calibri"/>
                <a:ea typeface="Calibri"/>
              </a:rPr>
              <a:t>Most will never be diagnosed — because the test costs too much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7bbad0"/>
                </a:solidFill>
                <a:latin typeface="Calibri"/>
                <a:ea typeface="Calibri"/>
              </a:rPr>
              <a:t>and the nearest lab is 100 km away.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Shape 4"/>
          <p:cNvSpPr/>
          <p:nvPr/>
        </p:nvSpPr>
        <p:spPr>
          <a:xfrm>
            <a:off x="3200400" y="2359080"/>
            <a:ext cx="2742840" cy="45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5"/>
          <p:cNvSpPr/>
          <p:nvPr/>
        </p:nvSpPr>
        <p:spPr>
          <a:xfrm>
            <a:off x="914400" y="25419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Calibri"/>
              </a:rPr>
              <a:t>AnemiaAI changes that.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Text 6"/>
          <p:cNvSpPr/>
          <p:nvPr/>
        </p:nvSpPr>
        <p:spPr>
          <a:xfrm>
            <a:off x="914400" y="309060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0c8d8"/>
                </a:solidFill>
                <a:latin typeface="Calibri"/>
                <a:ea typeface="Calibri"/>
              </a:rPr>
              <a:t>A smartphone. 30 seconds. A life detected.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Shape 7"/>
          <p:cNvSpPr/>
          <p:nvPr/>
        </p:nvSpPr>
        <p:spPr>
          <a:xfrm>
            <a:off x="914400" y="3822120"/>
            <a:ext cx="233136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Text 8"/>
          <p:cNvSpPr/>
          <p:nvPr/>
        </p:nvSpPr>
        <p:spPr>
          <a:xfrm>
            <a:off x="91440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Clinical pilot partner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Shape 9"/>
          <p:cNvSpPr/>
          <p:nvPr/>
        </p:nvSpPr>
        <p:spPr>
          <a:xfrm>
            <a:off x="3520440" y="3822120"/>
            <a:ext cx="233136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 10"/>
          <p:cNvSpPr/>
          <p:nvPr/>
        </p:nvSpPr>
        <p:spPr>
          <a:xfrm>
            <a:off x="352044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Investment discussion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Shape 11"/>
          <p:cNvSpPr/>
          <p:nvPr/>
        </p:nvSpPr>
        <p:spPr>
          <a:xfrm>
            <a:off x="6126480" y="3822120"/>
            <a:ext cx="233136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12"/>
          <p:cNvSpPr/>
          <p:nvPr/>
        </p:nvSpPr>
        <p:spPr>
          <a:xfrm>
            <a:off x="612648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MoH / MSPRH introduction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13"/>
          <p:cNvSpPr/>
          <p:nvPr/>
        </p:nvSpPr>
        <p:spPr>
          <a:xfrm>
            <a:off x="914400" y="4462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a90"/>
                </a:solidFill>
                <a:latin typeface="Calibri"/>
                <a:ea typeface="Calibri"/>
              </a:rPr>
              <a:t>Interested in any of the above?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2026-05-04T22:30:03Z</dcterms:created>
  <dc:creator>PptxGenJS</dc:creator>
  <dc:description/>
  <dc:language>en-US</dc:language>
  <cp:lastModifiedBy/>
  <dcterms:modified xsi:type="dcterms:W3CDTF">2026-05-05T00:56:37Z</dcterms:modified>
  <cp:revision>2</cp:revision>
  <dc:subject>PptxGenJS Presentation</dc:subject>
  <dc:title>Animiea – Anemia Detection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